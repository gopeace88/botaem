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1" r:id="rId2"/>
    <p:sldId id="309" r:id="rId3"/>
    <p:sldId id="299" r:id="rId4"/>
    <p:sldId id="310" r:id="rId5"/>
    <p:sldId id="311" r:id="rId6"/>
    <p:sldId id="312" r:id="rId7"/>
    <p:sldId id="31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C3F37-9A56-49E4-9335-D88AD65C63EE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1F4D-D6BA-4114-AD89-56C48743A3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09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0E805-45B6-4C5F-9678-2050CEC633B9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42C9C-4669-4C86-A195-448ADE8E9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6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18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383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18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598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900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72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0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23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966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139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24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805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87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888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592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60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45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C161AD7-C609-4DCC-80C3-0D51F827EA92}"/>
              </a:ext>
            </a:extLst>
          </p:cNvPr>
          <p:cNvGrpSpPr/>
          <p:nvPr userDrawn="1"/>
        </p:nvGrpSpPr>
        <p:grpSpPr>
          <a:xfrm>
            <a:off x="335360" y="6407443"/>
            <a:ext cx="2481507" cy="331365"/>
            <a:chOff x="408700" y="643228"/>
            <a:chExt cx="3637191" cy="3606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C8C857F-307E-4B6A-ABC2-771156385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7394" y="643702"/>
              <a:ext cx="2128497" cy="29798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7AB6731-FBDC-4858-86F6-F4B4E0AB8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700" y="643228"/>
              <a:ext cx="1489864" cy="360605"/>
            </a:xfrm>
            <a:prstGeom prst="rect">
              <a:avLst/>
            </a:prstGeom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FB910C0-D315-4A96-B19A-3445A2A0806B}"/>
                </a:ext>
              </a:extLst>
            </p:cNvPr>
            <p:cNvCxnSpPr>
              <a:cxnSpLocks/>
            </p:cNvCxnSpPr>
            <p:nvPr/>
          </p:nvCxnSpPr>
          <p:spPr>
            <a:xfrm>
              <a:off x="1847927" y="735395"/>
              <a:ext cx="0" cy="1576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 userDrawn="1"/>
        </p:nvGrpSpPr>
        <p:grpSpPr>
          <a:xfrm>
            <a:off x="535066" y="653528"/>
            <a:ext cx="11115159" cy="111179"/>
            <a:chOff x="561814" y="758710"/>
            <a:chExt cx="8853119" cy="111179"/>
          </a:xfrm>
        </p:grpSpPr>
        <p:sp>
          <p:nvSpPr>
            <p:cNvPr id="9" name="직각 삼각형 8"/>
            <p:cNvSpPr/>
            <p:nvPr userDrawn="1"/>
          </p:nvSpPr>
          <p:spPr>
            <a:xfrm flipH="1" flipV="1">
              <a:off x="7085286" y="761505"/>
              <a:ext cx="2266135" cy="108384"/>
            </a:xfrm>
            <a:prstGeom prst="rtTriangle">
              <a:avLst/>
            </a:prstGeom>
            <a:gradFill>
              <a:gsLst>
                <a:gs pos="0">
                  <a:schemeClr val="bg1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9720"/>
              <a:endParaRPr lang="ko-KR" altLang="en-US" sz="1240" dirty="0">
                <a:solidFill>
                  <a:prstClr val="white"/>
                </a:solidFill>
                <a:ea typeface="KoPub돋움체 Medium" panose="02020603020101020101" pitchFamily="18" charset="-127"/>
              </a:endParaRPr>
            </a:p>
          </p:txBody>
        </p:sp>
        <p:cxnSp>
          <p:nvCxnSpPr>
            <p:cNvPr id="12" name="직선 연결선 11"/>
            <p:cNvCxnSpPr/>
            <p:nvPr userDrawn="1"/>
          </p:nvCxnSpPr>
          <p:spPr>
            <a:xfrm>
              <a:off x="885243" y="758710"/>
              <a:ext cx="8529690" cy="0"/>
            </a:xfrm>
            <a:prstGeom prst="line">
              <a:avLst/>
            </a:prstGeom>
            <a:ln w="2222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561814" y="758710"/>
              <a:ext cx="340758" cy="0"/>
            </a:xfrm>
            <a:prstGeom prst="line">
              <a:avLst/>
            </a:prstGeom>
            <a:ln w="25400" cap="rnd">
              <a:solidFill>
                <a:srgbClr val="053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슬라이드 번호 개체 틀 18">
            <a:extLst>
              <a:ext uri="{FF2B5EF4-FFF2-40B4-BE49-F238E27FC236}">
                <a16:creationId xmlns:a16="http://schemas.microsoft.com/office/drawing/2014/main" id="{E040A672-9DFF-4728-9EA0-3B5C83ECE0B2}"/>
              </a:ext>
            </a:extLst>
          </p:cNvPr>
          <p:cNvSpPr txBox="1">
            <a:spLocks/>
          </p:cNvSpPr>
          <p:nvPr userDrawn="1"/>
        </p:nvSpPr>
        <p:spPr>
          <a:xfrm>
            <a:off x="4924079" y="6407443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Rix모던고딕 EB"/>
                <a:ea typeface="굴림"/>
                <a:cs typeface="+mn-cs"/>
              </a:defRPr>
            </a:lvl1pPr>
            <a:lvl2pPr marL="4540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2pPr>
            <a:lvl3pPr marL="909638" indent="4763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3pPr>
            <a:lvl4pPr marL="1365250" indent="635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4pPr>
            <a:lvl5pPr marL="1819275" indent="952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9pPr>
          </a:lstStyle>
          <a:p>
            <a:pPr algn="ctr"/>
            <a:fld id="{B10A8F86-DD25-4E05-9C40-D4C7321258A7}" type="slidenum">
              <a:rPr lang="ko-KR" altLang="en-US" sz="900" smtClean="0"/>
              <a:pPr algn="ctr"/>
              <a:t>‹#›</a:t>
            </a:fld>
            <a:endParaRPr lang="ko-KR" altLang="en-US" sz="9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AB47C6-66F1-436B-A804-161650B940BF}"/>
              </a:ext>
            </a:extLst>
          </p:cNvPr>
          <p:cNvSpPr/>
          <p:nvPr userDrawn="1"/>
        </p:nvSpPr>
        <p:spPr>
          <a:xfrm>
            <a:off x="608037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7480DD-4B1E-4C67-8DFF-33CB582CC7BD}"/>
              </a:ext>
            </a:extLst>
          </p:cNvPr>
          <p:cNvSpPr/>
          <p:nvPr userDrawn="1"/>
        </p:nvSpPr>
        <p:spPr>
          <a:xfrm>
            <a:off x="645441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1992460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89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220C-7EDB-4925-88F5-72D283FB560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5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1243099" y="2101850"/>
            <a:ext cx="9713596" cy="21864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[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보탬</a:t>
            </a:r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e] </a:t>
            </a:r>
            <a:r>
              <a:rPr lang="ko-KR" altLang="en-US" sz="3600" b="1" dirty="0" err="1" smtClean="0">
                <a:solidFill>
                  <a:srgbClr val="002060"/>
                </a:solidFill>
                <a:latin typeface="+mj-lt"/>
              </a:rPr>
              <a:t>절사금액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ko-KR" altLang="en-US" sz="3600" b="1" dirty="0" err="1" smtClean="0">
                <a:solidFill>
                  <a:srgbClr val="002060"/>
                </a:solidFill>
                <a:latin typeface="+mj-lt"/>
              </a:rPr>
              <a:t>징수처리</a:t>
            </a:r>
            <a:endParaRPr lang="en-US" altLang="ko-KR" sz="3600" b="1" dirty="0" smtClean="0">
              <a:solidFill>
                <a:srgbClr val="002060"/>
              </a:solidFill>
              <a:latin typeface="+mj-lt"/>
            </a:endParaRPr>
          </a:p>
          <a:p>
            <a:pPr algn="ctr"/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안내 매뉴얼</a:t>
            </a:r>
            <a:endParaRPr lang="ko-KR" altLang="en-US" sz="36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38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1019175"/>
            <a:ext cx="111823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400" dirty="0" smtClean="0"/>
          </a:p>
          <a:p>
            <a:r>
              <a:rPr lang="en-US" altLang="ko-KR" sz="1400" dirty="0" smtClean="0"/>
              <a:t>1. </a:t>
            </a:r>
            <a:r>
              <a:rPr lang="ko-KR" altLang="en-US" sz="1400" dirty="0" smtClean="0"/>
              <a:t>민간보조사업자가 보탬</a:t>
            </a:r>
            <a:r>
              <a:rPr lang="en-US" altLang="ko-KR" sz="1400" dirty="0" smtClean="0"/>
              <a:t>e </a:t>
            </a:r>
            <a:r>
              <a:rPr lang="ko-KR" altLang="en-US" sz="1400" dirty="0" smtClean="0"/>
              <a:t>로 </a:t>
            </a:r>
            <a:r>
              <a:rPr lang="ko-KR" altLang="en-US" sz="1400" dirty="0" err="1" smtClean="0"/>
              <a:t>반환처리한</a:t>
            </a:r>
            <a:r>
              <a:rPr lang="ko-KR" altLang="en-US" sz="1400" dirty="0" smtClean="0"/>
              <a:t> 잔액 및 </a:t>
            </a:r>
            <a:r>
              <a:rPr lang="ko-KR" altLang="en-US" sz="1400" dirty="0" err="1" smtClean="0"/>
              <a:t>이자등의</a:t>
            </a:r>
            <a:r>
              <a:rPr lang="ko-KR" altLang="en-US" sz="1400" dirty="0" smtClean="0"/>
              <a:t> 금액에 대해 세외수입 시스템으로 </a:t>
            </a:r>
            <a:r>
              <a:rPr lang="ko-KR" altLang="en-US" sz="1400" dirty="0" err="1" smtClean="0"/>
              <a:t>징수처리</a:t>
            </a:r>
            <a:r>
              <a:rPr lang="ko-KR" altLang="en-US" sz="1400" dirty="0" smtClean="0"/>
              <a:t> 시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10</a:t>
            </a:r>
            <a:r>
              <a:rPr lang="ko-KR" altLang="en-US" sz="1400" dirty="0" smtClean="0"/>
              <a:t>원 미만의 금액에 대한 처리가 불가능한 경우</a:t>
            </a:r>
            <a:r>
              <a:rPr lang="en-US" altLang="ko-KR" sz="1400" dirty="0" smtClean="0"/>
              <a:t> 10</a:t>
            </a:r>
            <a:r>
              <a:rPr lang="ko-KR" altLang="en-US" sz="1400" dirty="0" smtClean="0"/>
              <a:t>원 미만의 금액을 </a:t>
            </a:r>
            <a:r>
              <a:rPr lang="ko-KR" altLang="en-US" sz="1400" dirty="0" err="1" smtClean="0"/>
              <a:t>절사처리</a:t>
            </a:r>
            <a:r>
              <a:rPr lang="ko-KR" altLang="en-US" sz="1400" dirty="0" smtClean="0"/>
              <a:t> 후 징수하고 있음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2. </a:t>
            </a:r>
            <a:r>
              <a:rPr lang="ko-KR" altLang="en-US" sz="1400" dirty="0" err="1" smtClean="0"/>
              <a:t>절사처리된</a:t>
            </a:r>
            <a:r>
              <a:rPr lang="ko-KR" altLang="en-US" sz="1400" dirty="0" smtClean="0"/>
              <a:t> 금액은 보탬</a:t>
            </a:r>
            <a:r>
              <a:rPr lang="en-US" altLang="ko-KR" sz="1400" dirty="0" smtClean="0"/>
              <a:t>e </a:t>
            </a:r>
            <a:r>
              <a:rPr lang="ko-KR" altLang="en-US" sz="1400" dirty="0" smtClean="0"/>
              <a:t>계좌에 남아 있게 되므로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해당 </a:t>
            </a:r>
            <a:r>
              <a:rPr lang="ko-KR" altLang="en-US" sz="1400" dirty="0" err="1" smtClean="0"/>
              <a:t>절사금액에</a:t>
            </a:r>
            <a:r>
              <a:rPr lang="ko-KR" altLang="en-US" sz="1400" dirty="0" smtClean="0"/>
              <a:t> 대하여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 자치단체에서 별도의 계좌로 </a:t>
            </a:r>
            <a:r>
              <a:rPr lang="ko-KR" altLang="en-US" sz="1400" dirty="0" err="1" smtClean="0"/>
              <a:t>징수처리</a:t>
            </a:r>
            <a:r>
              <a:rPr lang="ko-KR" altLang="en-US" sz="1400" dirty="0" smtClean="0"/>
              <a:t> 할 수 있도록 하는 기능</a:t>
            </a:r>
            <a:endParaRPr lang="en-US" altLang="ko-KR" sz="1400" dirty="0" smtClean="0"/>
          </a:p>
          <a:p>
            <a:endParaRPr lang="en-US" altLang="ko-KR" sz="14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06466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절사금액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징수처리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란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76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48442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정산반환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금액에 대한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징수요청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등록시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절사처리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smtClean="0"/>
              <a:t>민간보조사업자가 보탬</a:t>
            </a:r>
            <a:r>
              <a:rPr lang="en-US" altLang="ko-KR" sz="1000" dirty="0" smtClean="0"/>
              <a:t>e </a:t>
            </a:r>
            <a:r>
              <a:rPr lang="ko-KR" altLang="en-US" sz="1000" dirty="0" smtClean="0"/>
              <a:t>로 </a:t>
            </a:r>
            <a:r>
              <a:rPr lang="ko-KR" altLang="en-US" sz="1000" dirty="0" err="1" smtClean="0"/>
              <a:t>반환처리한</a:t>
            </a:r>
            <a:r>
              <a:rPr lang="ko-KR" altLang="en-US" sz="1000" dirty="0" smtClean="0"/>
              <a:t> 금액을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자치단체에서 </a:t>
            </a:r>
            <a:r>
              <a:rPr lang="ko-KR" altLang="en-US" sz="1000" dirty="0" err="1" smtClean="0"/>
              <a:t>징수처리</a:t>
            </a:r>
            <a:r>
              <a:rPr lang="ko-KR" altLang="en-US" sz="1000" dirty="0" smtClean="0"/>
              <a:t> 하고자 </a:t>
            </a:r>
            <a:r>
              <a:rPr lang="ko-KR" altLang="en-US" sz="1000" dirty="0" err="1" smtClean="0"/>
              <a:t>할때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10</a:t>
            </a:r>
            <a:r>
              <a:rPr lang="ko-KR" altLang="en-US" sz="1000" dirty="0" smtClean="0"/>
              <a:t>원 미만의 금액에 대해 </a:t>
            </a:r>
            <a:r>
              <a:rPr lang="ko-KR" altLang="en-US" sz="1000" dirty="0" err="1" smtClean="0"/>
              <a:t>징수처리가</a:t>
            </a:r>
            <a:r>
              <a:rPr lang="ko-KR" altLang="en-US" sz="1000" dirty="0" smtClean="0"/>
              <a:t> 불가능한 경우 </a:t>
            </a:r>
            <a:r>
              <a:rPr lang="ko-KR" altLang="en-US" sz="1000" dirty="0" err="1" smtClean="0"/>
              <a:t>절사처리①를</a:t>
            </a:r>
            <a:r>
              <a:rPr lang="ko-KR" altLang="en-US" sz="1000" dirty="0" smtClean="0"/>
              <a:t> 선택하여 </a:t>
            </a:r>
            <a:r>
              <a:rPr lang="ko-KR" altLang="en-US" sz="1000" dirty="0" err="1" smtClean="0"/>
              <a:t>징수처리</a:t>
            </a:r>
            <a:r>
              <a:rPr lang="ko-KR" altLang="en-US" sz="1000" dirty="0" smtClean="0"/>
              <a:t> 가능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2. </a:t>
            </a:r>
            <a:r>
              <a:rPr lang="ko-KR" altLang="en-US" sz="1000" dirty="0" err="1" smtClean="0"/>
              <a:t>징수대상</a:t>
            </a:r>
            <a:r>
              <a:rPr lang="ko-KR" altLang="en-US" sz="1000" dirty="0" smtClean="0"/>
              <a:t> 사업을 </a:t>
            </a:r>
            <a:r>
              <a:rPr lang="ko-KR" altLang="en-US" sz="1000" dirty="0" err="1" smtClean="0"/>
              <a:t>선택시</a:t>
            </a:r>
            <a:r>
              <a:rPr lang="ko-KR" altLang="en-US" sz="1000" dirty="0" smtClean="0"/>
              <a:t>② </a:t>
            </a:r>
            <a:r>
              <a:rPr lang="ko-KR" altLang="en-US" sz="1000" dirty="0" err="1" smtClean="0"/>
              <a:t>절사처리로</a:t>
            </a:r>
            <a:r>
              <a:rPr lang="ko-KR" altLang="en-US" sz="1000" dirty="0" smtClean="0"/>
              <a:t> 선택</a:t>
            </a:r>
            <a:r>
              <a:rPr lang="en-US" altLang="ko-KR" sz="1000" dirty="0" smtClean="0"/>
              <a:t>(</a:t>
            </a:r>
            <a:r>
              <a:rPr lang="ko-KR" altLang="en-US" sz="1000" dirty="0" err="1" smtClean="0"/>
              <a:t>개별절사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총액절사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하는 경우 반환금액에서 </a:t>
            </a:r>
            <a:r>
              <a:rPr lang="en-US" altLang="ko-KR" sz="1000" dirty="0" smtClean="0"/>
              <a:t>10</a:t>
            </a:r>
            <a:r>
              <a:rPr lang="ko-KR" altLang="en-US" sz="1000" dirty="0" smtClean="0"/>
              <a:t>원 미만의 금액이 </a:t>
            </a:r>
            <a:r>
              <a:rPr lang="ko-KR" altLang="en-US" sz="1000" dirty="0" err="1" smtClean="0"/>
              <a:t>절사금액</a:t>
            </a:r>
            <a:r>
              <a:rPr lang="ko-KR" altLang="en-US" sz="1000" dirty="0" smtClean="0"/>
              <a:t>③</a:t>
            </a:r>
            <a:r>
              <a:rPr lang="en-US" altLang="ko-KR" sz="1000" dirty="0" smtClean="0"/>
              <a:t>,  </a:t>
            </a:r>
            <a:r>
              <a:rPr lang="ko-KR" altLang="en-US" sz="1000" dirty="0" err="1" smtClean="0"/>
              <a:t>징수금액</a:t>
            </a:r>
            <a:r>
              <a:rPr lang="ko-KR" altLang="en-US" sz="1000" dirty="0" smtClean="0"/>
              <a:t>④ 으로 나뉘어 처리됨</a:t>
            </a:r>
            <a:r>
              <a:rPr lang="en-US" altLang="ko-KR" sz="1000" dirty="0" smtClean="0"/>
              <a:t>. 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3. </a:t>
            </a:r>
            <a:r>
              <a:rPr lang="ko-KR" altLang="en-US" sz="1000" dirty="0" err="1" smtClean="0"/>
              <a:t>징수금액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이체처리시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절사처리된</a:t>
            </a:r>
            <a:r>
              <a:rPr lang="ko-KR" altLang="en-US" sz="1000" dirty="0" smtClean="0"/>
              <a:t> 금액은 </a:t>
            </a:r>
            <a:r>
              <a:rPr lang="ko-KR" altLang="en-US" sz="1000" dirty="0" err="1" smtClean="0"/>
              <a:t>이체처리</a:t>
            </a:r>
            <a:r>
              <a:rPr lang="ko-KR" altLang="en-US" sz="1000" dirty="0" smtClean="0"/>
              <a:t> 되지 못하고 보탬</a:t>
            </a:r>
            <a:r>
              <a:rPr lang="en-US" altLang="ko-KR" sz="1000" dirty="0" smtClean="0"/>
              <a:t>e </a:t>
            </a:r>
            <a:r>
              <a:rPr lang="ko-KR" altLang="en-US" sz="1000" dirty="0" smtClean="0"/>
              <a:t>에 남아 있게 됨</a:t>
            </a:r>
            <a:r>
              <a:rPr lang="en-US" altLang="ko-KR" sz="1000" dirty="0" smtClean="0"/>
              <a:t>.</a:t>
            </a:r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77" y="710955"/>
            <a:ext cx="8184776" cy="541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30264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절사금액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입금계좌번호 등록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err="1" smtClean="0"/>
              <a:t>절사처리된</a:t>
            </a:r>
            <a:r>
              <a:rPr lang="ko-KR" altLang="en-US" sz="1000" dirty="0" smtClean="0"/>
              <a:t> 금액을 </a:t>
            </a:r>
            <a:r>
              <a:rPr lang="ko-KR" altLang="en-US" sz="1000" dirty="0" err="1" smtClean="0"/>
              <a:t>입금받을</a:t>
            </a:r>
            <a:r>
              <a:rPr lang="ko-KR" altLang="en-US" sz="1000" dirty="0" smtClean="0"/>
              <a:t> 입금계좌번호 등록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smtClean="0"/>
              <a:t>사용자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보조금 </a:t>
            </a:r>
            <a:r>
              <a:rPr lang="ko-KR" altLang="en-US" sz="1000" dirty="0" err="1" smtClean="0"/>
              <a:t>총괄담당자</a:t>
            </a:r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err="1" smtClean="0"/>
              <a:t>행추가</a:t>
            </a:r>
            <a:r>
              <a:rPr lang="ko-KR" altLang="en-US" sz="1000" dirty="0" smtClean="0"/>
              <a:t> 버튼 클릭 후  ①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신규 계좌번호를 등록 ②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2. </a:t>
            </a:r>
            <a:r>
              <a:rPr lang="ko-KR" altLang="en-US" sz="1000" dirty="0" smtClean="0"/>
              <a:t>예금주 조회 ③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smtClean="0"/>
              <a:t>입력한 계좌번호의 예금주 </a:t>
            </a:r>
            <a:r>
              <a:rPr lang="ko-KR" altLang="en-US" sz="1000" dirty="0" err="1" smtClean="0"/>
              <a:t>조회시</a:t>
            </a:r>
            <a:r>
              <a:rPr lang="ko-KR" altLang="en-US" sz="1000" dirty="0" smtClean="0"/>
              <a:t> 예금주 </a:t>
            </a:r>
            <a:r>
              <a:rPr lang="ko-KR" altLang="en-US" sz="1000" dirty="0" err="1" smtClean="0"/>
              <a:t>실명조회</a:t>
            </a:r>
            <a:r>
              <a:rPr lang="ko-KR" altLang="en-US" sz="1000" dirty="0" smtClean="0"/>
              <a:t> 처리 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해당 계좌번호와 사업자번호의 </a:t>
            </a:r>
            <a:r>
              <a:rPr lang="ko-KR" altLang="en-US" sz="1000" dirty="0" err="1" smtClean="0"/>
              <a:t>일치여부</a:t>
            </a:r>
            <a:r>
              <a:rPr lang="ko-KR" altLang="en-US" sz="1000" dirty="0" smtClean="0"/>
              <a:t> 체크</a:t>
            </a:r>
            <a:r>
              <a:rPr lang="en-US" altLang="ko-KR" sz="1000" dirty="0" smtClean="0"/>
              <a:t>)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smtClean="0"/>
              <a:t>자치단체 정보에 사업자 등록번호가 등록되어 있지 않은 경우 예금주 </a:t>
            </a:r>
            <a:r>
              <a:rPr lang="ko-KR" altLang="en-US" sz="1000" dirty="0" err="1" smtClean="0"/>
              <a:t>실명조회가</a:t>
            </a:r>
            <a:r>
              <a:rPr lang="ko-KR" altLang="en-US" sz="1000" dirty="0" smtClean="0"/>
              <a:t> 되지 않으므로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e</a:t>
            </a:r>
            <a:r>
              <a:rPr lang="ko-KR" altLang="en-US" sz="1000" dirty="0" smtClean="0"/>
              <a:t>호조</a:t>
            </a:r>
            <a:r>
              <a:rPr lang="en-US" altLang="ko-KR" sz="1000" dirty="0" smtClean="0"/>
              <a:t>+ </a:t>
            </a:r>
            <a:r>
              <a:rPr lang="ko-KR" altLang="en-US" sz="1000" dirty="0" smtClean="0"/>
              <a:t>의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자치단체관리</a:t>
            </a:r>
            <a:r>
              <a:rPr lang="en-US" altLang="ko-KR" sz="1000" dirty="0" smtClean="0"/>
              <a:t>(81102)’ </a:t>
            </a:r>
            <a:r>
              <a:rPr lang="ko-KR" altLang="en-US" sz="1000" dirty="0" smtClean="0"/>
              <a:t>화면을 통해 사업자 등록번호를 등록한 후 작업하시기 바랍니다</a:t>
            </a:r>
            <a:r>
              <a:rPr lang="en-US" altLang="ko-KR" sz="1000" dirty="0" smtClean="0"/>
              <a:t>. </a:t>
            </a:r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33" y="710955"/>
            <a:ext cx="8294524" cy="549262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8057541" y="1374066"/>
            <a:ext cx="357572" cy="3833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E6BC3605-491F-D698-2772-893B731B1A20}"/>
              </a:ext>
            </a:extLst>
          </p:cNvPr>
          <p:cNvSpPr/>
          <p:nvPr/>
        </p:nvSpPr>
        <p:spPr>
          <a:xfrm>
            <a:off x="7745992" y="1757395"/>
            <a:ext cx="311549" cy="276999"/>
          </a:xfrm>
          <a:prstGeom prst="flowChartConnector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F5AAA37F-93DB-5449-F800-AF023808712A}"/>
              </a:ext>
            </a:extLst>
          </p:cNvPr>
          <p:cNvSpPr/>
          <p:nvPr/>
        </p:nvSpPr>
        <p:spPr>
          <a:xfrm>
            <a:off x="378716" y="3649001"/>
            <a:ext cx="311549" cy="276999"/>
          </a:xfrm>
          <a:prstGeom prst="flowChartConnector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345240-3A5A-04C6-2610-01580CE41F25}"/>
              </a:ext>
            </a:extLst>
          </p:cNvPr>
          <p:cNvSpPr/>
          <p:nvPr/>
        </p:nvSpPr>
        <p:spPr>
          <a:xfrm>
            <a:off x="543456" y="3926000"/>
            <a:ext cx="2372155" cy="3767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2954662" y="4224944"/>
            <a:ext cx="780108" cy="2574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E0B3F51-E17C-4BF7-AB07-AD5304D6072A}"/>
              </a:ext>
            </a:extLst>
          </p:cNvPr>
          <p:cNvSpPr/>
          <p:nvPr/>
        </p:nvSpPr>
        <p:spPr>
          <a:xfrm>
            <a:off x="3772418" y="4142264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3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15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35746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절사금액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징수요청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등록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목록조회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err="1" smtClean="0"/>
              <a:t>절사처리된</a:t>
            </a:r>
            <a:r>
              <a:rPr lang="ko-KR" altLang="en-US" sz="1000" dirty="0" smtClean="0"/>
              <a:t> 금액을 </a:t>
            </a:r>
            <a:r>
              <a:rPr lang="ko-KR" altLang="en-US" sz="1000" dirty="0" err="1" smtClean="0"/>
              <a:t>징수처리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하기위한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등록화면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smtClean="0"/>
              <a:t>사용자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자치단체 사업담당자 또는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       </a:t>
            </a:r>
            <a:r>
              <a:rPr lang="ko-KR" altLang="en-US" sz="1000" dirty="0" smtClean="0"/>
              <a:t>보조금 </a:t>
            </a:r>
            <a:r>
              <a:rPr lang="ko-KR" altLang="en-US" sz="1000" dirty="0" err="1" smtClean="0"/>
              <a:t>총괄담당자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2. </a:t>
            </a:r>
            <a:r>
              <a:rPr lang="ko-KR" altLang="en-US" sz="1000" dirty="0" smtClean="0"/>
              <a:t>신규징수요청 등록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[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신규등록</a:t>
            </a:r>
            <a:r>
              <a:rPr lang="en-US" altLang="ko-KR" sz="1000" dirty="0" smtClean="0"/>
              <a:t>] </a:t>
            </a:r>
            <a:r>
              <a:rPr lang="ko-KR" altLang="en-US" sz="1000" dirty="0" smtClean="0"/>
              <a:t>버튼 </a:t>
            </a:r>
            <a:r>
              <a:rPr lang="ko-KR" altLang="en-US" sz="1000" dirty="0" err="1" smtClean="0"/>
              <a:t>클릭시</a:t>
            </a:r>
            <a:r>
              <a:rPr lang="ko-KR" altLang="en-US" sz="1000" dirty="0" smtClean="0"/>
              <a:t> 새로운 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등록 할 수 있는 </a:t>
            </a:r>
            <a:r>
              <a:rPr lang="ko-KR" altLang="en-US" sz="1000" dirty="0" err="1" smtClean="0"/>
              <a:t>팝업화면</a:t>
            </a:r>
            <a:r>
              <a:rPr lang="ko-KR" altLang="en-US" sz="1000" dirty="0" smtClean="0"/>
              <a:t> 호출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3. 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등록한 자료를 목록으로 조회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smtClean="0"/>
              <a:t>상단의 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목록조회의</a:t>
            </a:r>
            <a:r>
              <a:rPr lang="ko-KR" altLang="en-US" sz="1000" dirty="0" smtClean="0"/>
              <a:t> 목록</a:t>
            </a:r>
            <a:r>
              <a:rPr lang="en-US" altLang="ko-KR" sz="1000" dirty="0" smtClean="0"/>
              <a:t> </a:t>
            </a:r>
            <a:r>
              <a:rPr lang="ko-KR" altLang="en-US" sz="1000" dirty="0" err="1" smtClean="0"/>
              <a:t>클릭시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하단의 </a:t>
            </a:r>
            <a:r>
              <a:rPr lang="ko-KR" altLang="en-US" sz="1000" dirty="0" err="1" smtClean="0"/>
              <a:t>상세내역에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대상 </a:t>
            </a:r>
            <a:r>
              <a:rPr lang="ko-KR" altLang="en-US" sz="1000" dirty="0" err="1" smtClean="0"/>
              <a:t>사업명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반환대상별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금액정보가</a:t>
            </a:r>
            <a:r>
              <a:rPr lang="ko-KR" altLang="en-US" sz="1000" dirty="0" smtClean="0"/>
              <a:t> 조회됨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</a:p>
          <a:p>
            <a:r>
              <a:rPr lang="en-US" altLang="ko-KR" sz="1000" dirty="0" smtClean="0"/>
              <a:t>4. 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삭제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smtClean="0"/>
              <a:t>기 등록했던 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목록자료를</a:t>
            </a:r>
            <a:r>
              <a:rPr lang="ko-KR" altLang="en-US" sz="1000" dirty="0" smtClean="0"/>
              <a:t> 선택한 후 삭제처리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=&gt; </a:t>
            </a:r>
            <a:r>
              <a:rPr lang="ko-KR" altLang="en-US" sz="1000" dirty="0" smtClean="0"/>
              <a:t>삭제한 이후 신규등록을 통해 새로 등록 가능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err="1" smtClean="0"/>
              <a:t>징수이체완료된</a:t>
            </a:r>
            <a:r>
              <a:rPr lang="ko-KR" altLang="en-US" sz="1000" dirty="0" smtClean="0"/>
              <a:t> 자료는 삭제 불가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 smtClean="0"/>
              <a:t>  - </a:t>
            </a:r>
            <a:r>
              <a:rPr lang="ko-KR" altLang="en-US" sz="1000" dirty="0" err="1" smtClean="0"/>
              <a:t>등록상태</a:t>
            </a:r>
            <a:r>
              <a:rPr lang="ko-KR" altLang="en-US" sz="1000" dirty="0" smtClean="0"/>
              <a:t> 이거나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이체오류난</a:t>
            </a:r>
            <a:r>
              <a:rPr lang="ko-KR" altLang="en-US" sz="1000" dirty="0" smtClean="0"/>
              <a:t> 자료는 삭제 가능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5. </a:t>
            </a:r>
            <a:r>
              <a:rPr lang="ko-KR" altLang="en-US" sz="1000" dirty="0" smtClean="0"/>
              <a:t>전자결재요청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smtClean="0"/>
              <a:t>징수요청자료를 선택하여 전자결재 요청②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smtClean="0"/>
              <a:t>전자결재 </a:t>
            </a:r>
            <a:r>
              <a:rPr lang="ko-KR" altLang="en-US" sz="1000" dirty="0" err="1" smtClean="0"/>
              <a:t>요청자료가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결재완료</a:t>
            </a:r>
            <a:r>
              <a:rPr lang="en-US" altLang="ko-KR" sz="1000" dirty="0" smtClean="0"/>
              <a:t>’ </a:t>
            </a:r>
            <a:r>
              <a:rPr lang="ko-KR" altLang="en-US" sz="1000" dirty="0" smtClean="0"/>
              <a:t>되어야만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해당 징수요청건에 대해 </a:t>
            </a:r>
            <a:r>
              <a:rPr lang="ko-KR" altLang="en-US" sz="1000" dirty="0" err="1" smtClean="0"/>
              <a:t>이체실행이</a:t>
            </a:r>
            <a:r>
              <a:rPr lang="ko-KR" altLang="en-US" sz="1000" dirty="0" smtClean="0"/>
              <a:t> 가능하게 됨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err="1" smtClean="0"/>
              <a:t>전자결재가</a:t>
            </a:r>
            <a:r>
              <a:rPr lang="ko-KR" altLang="en-US" sz="1000" dirty="0" smtClean="0"/>
              <a:t> 완료되었는데 데이터 상의 오류로 인해 </a:t>
            </a:r>
            <a:r>
              <a:rPr lang="ko-KR" altLang="en-US" sz="1000" dirty="0" err="1" smtClean="0"/>
              <a:t>결재완료가</a:t>
            </a:r>
            <a:r>
              <a:rPr lang="ko-KR" altLang="en-US" sz="1000" dirty="0" smtClean="0"/>
              <a:t> 안되는 경우 </a:t>
            </a:r>
            <a:r>
              <a:rPr lang="en-US" altLang="ko-KR" sz="1000" dirty="0" smtClean="0"/>
              <a:t>[</a:t>
            </a:r>
            <a:r>
              <a:rPr lang="ko-KR" altLang="en-US" sz="1000" dirty="0" smtClean="0"/>
              <a:t>전자결재 </a:t>
            </a:r>
            <a:r>
              <a:rPr lang="ko-KR" altLang="en-US" sz="1000" dirty="0" err="1" smtClean="0"/>
              <a:t>수기등록</a:t>
            </a:r>
            <a:r>
              <a:rPr lang="en-US" altLang="ko-KR" sz="1000" dirty="0" smtClean="0"/>
              <a:t>] </a:t>
            </a:r>
            <a:r>
              <a:rPr lang="ko-KR" altLang="en-US" sz="1000" dirty="0" smtClean="0"/>
              <a:t>버튼을 이용하여 </a:t>
            </a:r>
            <a:r>
              <a:rPr lang="ko-KR" altLang="en-US" sz="1000" dirty="0" err="1" smtClean="0"/>
              <a:t>상태값을</a:t>
            </a:r>
            <a:r>
              <a:rPr lang="ko-KR" altLang="en-US" sz="1000" dirty="0" smtClean="0"/>
              <a:t> 변경할 수 있음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</a:t>
            </a:r>
            <a:endParaRPr lang="en-US" altLang="ko-KR" sz="1000" dirty="0"/>
          </a:p>
          <a:p>
            <a:r>
              <a:rPr lang="en-US" altLang="ko-KR" sz="1000" dirty="0" smtClean="0"/>
              <a:t>   </a:t>
            </a:r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51" y="710955"/>
            <a:ext cx="8376821" cy="562709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7573447" y="6041617"/>
            <a:ext cx="977825" cy="2602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E6BC3605-491F-D698-2772-893B731B1A20}"/>
              </a:ext>
            </a:extLst>
          </p:cNvPr>
          <p:cNvSpPr/>
          <p:nvPr/>
        </p:nvSpPr>
        <p:spPr>
          <a:xfrm>
            <a:off x="7261898" y="5764618"/>
            <a:ext cx="311549" cy="276999"/>
          </a:xfrm>
          <a:prstGeom prst="flowChartConnector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174451" y="6041617"/>
            <a:ext cx="1466090" cy="2602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240290" y="5794091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49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30264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절사금액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징수요청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신규등록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err="1" smtClean="0"/>
              <a:t>징수처리시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절사처리했던</a:t>
            </a:r>
            <a:r>
              <a:rPr lang="ko-KR" altLang="en-US" sz="1000" dirty="0" smtClean="0"/>
              <a:t> 금액이 있는 자료만 조회됨</a:t>
            </a:r>
            <a:endParaRPr lang="en-US" altLang="ko-KR" sz="1000" dirty="0" smtClean="0"/>
          </a:p>
          <a:p>
            <a:r>
              <a:rPr lang="en-US" altLang="ko-KR" sz="1000" dirty="0" smtClean="0"/>
              <a:t>   - </a:t>
            </a:r>
            <a:r>
              <a:rPr lang="ko-KR" altLang="en-US" sz="1000" dirty="0" smtClean="0"/>
              <a:t>조회된 </a:t>
            </a:r>
            <a:r>
              <a:rPr lang="ko-KR" altLang="en-US" sz="1000" dirty="0" err="1" smtClean="0"/>
              <a:t>절사금액①을</a:t>
            </a:r>
            <a:r>
              <a:rPr lang="ko-KR" altLang="en-US" sz="1000" dirty="0" smtClean="0"/>
              <a:t> 선택 ②하여 </a:t>
            </a:r>
            <a:r>
              <a:rPr lang="ko-KR" altLang="en-US" sz="1000" dirty="0" err="1" smtClean="0"/>
              <a:t>징수요청</a:t>
            </a:r>
            <a:r>
              <a:rPr lang="ko-KR" altLang="en-US" sz="1000" dirty="0" smtClean="0"/>
              <a:t> 자료로 등록</a:t>
            </a:r>
            <a:r>
              <a:rPr lang="en-US" altLang="ko-KR" sz="1000" dirty="0" smtClean="0"/>
              <a:t>  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2. </a:t>
            </a:r>
            <a:r>
              <a:rPr lang="ko-KR" altLang="en-US" sz="1000" dirty="0" smtClean="0"/>
              <a:t>입금계좌번호 </a:t>
            </a:r>
            <a:r>
              <a:rPr lang="ko-KR" altLang="en-US" sz="1000" dirty="0" smtClean="0"/>
              <a:t>선택 ③</a:t>
            </a:r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err="1" smtClean="0"/>
              <a:t>절사금액을</a:t>
            </a:r>
            <a:r>
              <a:rPr lang="ko-KR" altLang="en-US" sz="1000" dirty="0" smtClean="0"/>
              <a:t> 입금할 계좌번호는 미리 등록되어 있는 </a:t>
            </a:r>
            <a:r>
              <a:rPr lang="ko-KR" altLang="en-US" sz="1000" dirty="0" err="1" smtClean="0"/>
              <a:t>계좌번호중</a:t>
            </a:r>
            <a:r>
              <a:rPr lang="ko-KR" altLang="en-US" sz="1000" dirty="0" smtClean="0"/>
              <a:t> 선택하여 등록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</a:t>
            </a:r>
            <a:r>
              <a:rPr lang="ko-KR" altLang="en-US" sz="1000" dirty="0" smtClean="0"/>
              <a:t>계좌번호 </a:t>
            </a:r>
            <a:r>
              <a:rPr lang="ko-KR" altLang="en-US" sz="1000" dirty="0" err="1" smtClean="0"/>
              <a:t>등록시</a:t>
            </a:r>
            <a:r>
              <a:rPr lang="ko-KR" altLang="en-US" sz="1000" dirty="0" smtClean="0"/>
              <a:t> 예금주 조회 및 </a:t>
            </a:r>
            <a:r>
              <a:rPr lang="ko-KR" altLang="en-US" sz="1000" dirty="0" err="1" smtClean="0"/>
              <a:t>실명조회를</a:t>
            </a:r>
            <a:r>
              <a:rPr lang="ko-KR" altLang="en-US" sz="1000" dirty="0" smtClean="0"/>
              <a:t> 마쳤기 때문에 별도의 예금주 조회는 생략함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ko-KR" altLang="en-US" sz="1000" dirty="0" smtClean="0"/>
              <a:t> </a:t>
            </a:r>
            <a:endParaRPr lang="en-US" altLang="ko-KR" sz="1000" dirty="0" smtClean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905811" y="2455274"/>
            <a:ext cx="2294590" cy="1480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84" y="710955"/>
            <a:ext cx="8308848" cy="557784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7884996" y="2194985"/>
            <a:ext cx="559757" cy="174068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E6BC3605-491F-D698-2772-893B731B1A20}"/>
              </a:ext>
            </a:extLst>
          </p:cNvPr>
          <p:cNvSpPr/>
          <p:nvPr/>
        </p:nvSpPr>
        <p:spPr>
          <a:xfrm>
            <a:off x="7573447" y="1963583"/>
            <a:ext cx="311549" cy="276999"/>
          </a:xfrm>
          <a:prstGeom prst="flowChartConnector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346054" y="2389658"/>
            <a:ext cx="559757" cy="13950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411893" y="2142132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2100456" y="4440393"/>
            <a:ext cx="2910814" cy="2896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E0B3F51-E17C-4BF7-AB07-AD5304D6072A}"/>
              </a:ext>
            </a:extLst>
          </p:cNvPr>
          <p:cNvSpPr/>
          <p:nvPr/>
        </p:nvSpPr>
        <p:spPr>
          <a:xfrm>
            <a:off x="4519550" y="4229008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3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496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30264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절사금액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징수요청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이체실행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err="1" smtClean="0"/>
              <a:t>징수요청한</a:t>
            </a:r>
            <a:r>
              <a:rPr lang="ko-KR" altLang="en-US" sz="1000" dirty="0" smtClean="0"/>
              <a:t> 자료를 조회하여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전자결재 완료된① 자료를 </a:t>
            </a:r>
            <a:r>
              <a:rPr lang="ko-KR" altLang="en-US" sz="1000" dirty="0" err="1" smtClean="0"/>
              <a:t>이체실행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 </a:t>
            </a:r>
            <a:r>
              <a:rPr lang="en-US" altLang="ko-KR" sz="1000" dirty="0" smtClean="0"/>
              <a:t>- </a:t>
            </a:r>
            <a:r>
              <a:rPr lang="ko-KR" altLang="en-US" sz="1000" dirty="0" smtClean="0"/>
              <a:t>사용자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보조금 </a:t>
            </a:r>
            <a:r>
              <a:rPr lang="ko-KR" altLang="en-US" sz="1000" dirty="0" err="1" smtClean="0"/>
              <a:t>총괄담당자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2. </a:t>
            </a:r>
            <a:r>
              <a:rPr lang="ko-KR" altLang="en-US" sz="1000" dirty="0" err="1" smtClean="0"/>
              <a:t>이체처리</a:t>
            </a:r>
            <a:r>
              <a:rPr lang="ko-KR" altLang="en-US" sz="1000" dirty="0" smtClean="0"/>
              <a:t> 대상을 선택한② 후 </a:t>
            </a:r>
            <a:r>
              <a:rPr lang="ko-KR" altLang="en-US" sz="1000" dirty="0" err="1" smtClean="0"/>
              <a:t>이체실행</a:t>
            </a:r>
            <a:r>
              <a:rPr lang="ko-KR" altLang="en-US" sz="1000" dirty="0" smtClean="0"/>
              <a:t> 버튼 ③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클릭</a:t>
            </a:r>
            <a:endParaRPr lang="en-US" altLang="ko-KR" sz="1000" dirty="0"/>
          </a:p>
          <a:p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 smtClean="0"/>
              <a:t>3. </a:t>
            </a:r>
            <a:r>
              <a:rPr lang="ko-KR" altLang="en-US" sz="1000" dirty="0" err="1" smtClean="0"/>
              <a:t>이체오류</a:t>
            </a:r>
            <a:r>
              <a:rPr lang="ko-KR" altLang="en-US" sz="1000" dirty="0" smtClean="0"/>
              <a:t> 발생시</a:t>
            </a:r>
            <a:endParaRPr lang="en-US" altLang="ko-KR" sz="1000" dirty="0" smtClean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smtClean="0"/>
              <a:t>이체오류건을 선택한 후 </a:t>
            </a:r>
            <a:r>
              <a:rPr lang="ko-KR" altLang="en-US" sz="1000" dirty="0" err="1" smtClean="0"/>
              <a:t>이체재실행</a:t>
            </a:r>
            <a:r>
              <a:rPr lang="ko-KR" altLang="en-US" sz="1000" dirty="0" smtClean="0"/>
              <a:t> 버튼을 통해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이체실행을</a:t>
            </a:r>
            <a:r>
              <a:rPr lang="ko-KR" altLang="en-US" sz="1000" dirty="0" smtClean="0"/>
              <a:t> 다시 시도할 수 있음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err="1" smtClean="0"/>
              <a:t>이체오류가</a:t>
            </a:r>
            <a:r>
              <a:rPr lang="ko-KR" altLang="en-US" sz="1000" dirty="0" smtClean="0"/>
              <a:t> 계좌번호등의 오류로 인한 경우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해당 징수요청건을 삭제 처리 후 다시 등록 할 수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있음</a:t>
            </a:r>
            <a:endParaRPr lang="en-US" altLang="ko-KR" sz="1000" dirty="0" smtClean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905811" y="2455274"/>
            <a:ext cx="2294590" cy="1480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40940" y="4588066"/>
            <a:ext cx="5335356" cy="1017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55" y="710955"/>
            <a:ext cx="8369808" cy="561441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3632708" y="1915512"/>
            <a:ext cx="491057" cy="10428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E6BC3605-491F-D698-2772-893B731B1A20}"/>
              </a:ext>
            </a:extLst>
          </p:cNvPr>
          <p:cNvSpPr/>
          <p:nvPr/>
        </p:nvSpPr>
        <p:spPr>
          <a:xfrm>
            <a:off x="3557696" y="1638513"/>
            <a:ext cx="311549" cy="276999"/>
          </a:xfrm>
          <a:prstGeom prst="flowChartConnector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330335" y="1988847"/>
            <a:ext cx="275903" cy="9695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173269" y="1770668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7853082" y="5961530"/>
            <a:ext cx="734050" cy="36384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0B3F51-E17C-4BF7-AB07-AD5304D6072A}"/>
              </a:ext>
            </a:extLst>
          </p:cNvPr>
          <p:cNvSpPr/>
          <p:nvPr/>
        </p:nvSpPr>
        <p:spPr>
          <a:xfrm>
            <a:off x="8008722" y="5750145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3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455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6315</TotalTime>
  <Words>540</Words>
  <Application>Microsoft Office PowerPoint</Application>
  <PresentationFormat>와이드스크린</PresentationFormat>
  <Paragraphs>100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KoPub돋움체 Bold</vt:lpstr>
      <vt:lpstr>KoPub돋움체 Light</vt:lpstr>
      <vt:lpstr>KoPub돋움체 Medium</vt:lpstr>
      <vt:lpstr>Rix모던고딕 EB</vt:lpstr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Metanet</cp:lastModifiedBy>
  <cp:revision>390</cp:revision>
  <dcterms:created xsi:type="dcterms:W3CDTF">2024-05-01T04:36:42Z</dcterms:created>
  <dcterms:modified xsi:type="dcterms:W3CDTF">2025-09-01T01:58:11Z</dcterms:modified>
</cp:coreProperties>
</file>
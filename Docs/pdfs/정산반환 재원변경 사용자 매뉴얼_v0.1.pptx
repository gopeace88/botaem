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1" r:id="rId2"/>
    <p:sldId id="309" r:id="rId3"/>
    <p:sldId id="299" r:id="rId4"/>
    <p:sldId id="310" r:id="rId5"/>
    <p:sldId id="311" r:id="rId6"/>
    <p:sldId id="312" r:id="rId7"/>
    <p:sldId id="31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3F37-9A56-49E4-9335-D88AD65C63EE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1F4D-D6BA-4114-AD89-56C48743A3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0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E805-45B6-4C5F-9678-2050CEC633B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2C9C-4669-4C86-A195-448ADE8E9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6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8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8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18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59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900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72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0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66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39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805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8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8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2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60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4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C161AD7-C609-4DCC-80C3-0D51F827EA92}"/>
              </a:ext>
            </a:extLst>
          </p:cNvPr>
          <p:cNvGrpSpPr/>
          <p:nvPr userDrawn="1"/>
        </p:nvGrpSpPr>
        <p:grpSpPr>
          <a:xfrm>
            <a:off x="335360" y="6407443"/>
            <a:ext cx="2481507" cy="331365"/>
            <a:chOff x="408700" y="643228"/>
            <a:chExt cx="3637191" cy="3606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8C857F-307E-4B6A-ABC2-77115638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394" y="643702"/>
              <a:ext cx="2128497" cy="29798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AB6731-FBDC-4858-86F6-F4B4E0AB8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700" y="643228"/>
              <a:ext cx="1489864" cy="36060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FB910C0-D315-4A96-B19A-3445A2A0806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27" y="735395"/>
              <a:ext cx="0" cy="157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 userDrawn="1"/>
        </p:nvGrpSpPr>
        <p:grpSpPr>
          <a:xfrm>
            <a:off x="535066" y="653528"/>
            <a:ext cx="11115159" cy="111179"/>
            <a:chOff x="561814" y="758710"/>
            <a:chExt cx="8853119" cy="111179"/>
          </a:xfrm>
        </p:grpSpPr>
        <p:sp>
          <p:nvSpPr>
            <p:cNvPr id="9" name="직각 삼각형 8"/>
            <p:cNvSpPr/>
            <p:nvPr userDrawn="1"/>
          </p:nvSpPr>
          <p:spPr>
            <a:xfrm flipH="1" flipV="1">
              <a:off x="7085286" y="761505"/>
              <a:ext cx="2266135" cy="108384"/>
            </a:xfrm>
            <a:prstGeom prst="rtTriangle">
              <a:avLst/>
            </a:prstGeom>
            <a:gradFill>
              <a:gsLst>
                <a:gs pos="0">
                  <a:schemeClr val="bg1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9720"/>
              <a:endParaRPr lang="ko-KR" altLang="en-US" sz="1240" dirty="0">
                <a:solidFill>
                  <a:prstClr val="white"/>
                </a:solidFill>
                <a:ea typeface="KoPub돋움체 Medium" panose="02020603020101020101" pitchFamily="18" charset="-127"/>
              </a:endParaRPr>
            </a:p>
          </p:txBody>
        </p:sp>
        <p:cxnSp>
          <p:nvCxnSpPr>
            <p:cNvPr id="12" name="직선 연결선 11"/>
            <p:cNvCxnSpPr/>
            <p:nvPr userDrawn="1"/>
          </p:nvCxnSpPr>
          <p:spPr>
            <a:xfrm>
              <a:off x="885243" y="758710"/>
              <a:ext cx="852969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561814" y="758710"/>
              <a:ext cx="340758" cy="0"/>
            </a:xfrm>
            <a:prstGeom prst="line">
              <a:avLst/>
            </a:prstGeom>
            <a:ln w="25400" cap="rnd">
              <a:solidFill>
                <a:srgbClr val="053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슬라이드 번호 개체 틀 18">
            <a:extLst>
              <a:ext uri="{FF2B5EF4-FFF2-40B4-BE49-F238E27FC236}">
                <a16:creationId xmlns:a16="http://schemas.microsoft.com/office/drawing/2014/main" id="{E040A672-9DFF-4728-9EA0-3B5C83ECE0B2}"/>
              </a:ext>
            </a:extLst>
          </p:cNvPr>
          <p:cNvSpPr txBox="1">
            <a:spLocks/>
          </p:cNvSpPr>
          <p:nvPr userDrawn="1"/>
        </p:nvSpPr>
        <p:spPr>
          <a:xfrm>
            <a:off x="4924079" y="6407443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Rix모던고딕 EB"/>
                <a:ea typeface="굴림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2pPr>
            <a:lvl3pPr marL="909638" indent="4763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3pPr>
            <a:lvl4pPr marL="1365250" indent="635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4pPr>
            <a:lvl5pPr marL="1819275" indent="952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9pPr>
          </a:lstStyle>
          <a:p>
            <a:pPr algn="ctr"/>
            <a:fld id="{B10A8F86-DD25-4E05-9C40-D4C7321258A7}" type="slidenum">
              <a:rPr lang="ko-KR" altLang="en-US" sz="900" smtClean="0"/>
              <a:pPr algn="ctr"/>
              <a:t>‹#›</a:t>
            </a:fld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B47C6-66F1-436B-A804-161650B940BF}"/>
              </a:ext>
            </a:extLst>
          </p:cNvPr>
          <p:cNvSpPr/>
          <p:nvPr userDrawn="1"/>
        </p:nvSpPr>
        <p:spPr>
          <a:xfrm>
            <a:off x="608037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480DD-4B1E-4C67-8DFF-33CB582CC7BD}"/>
              </a:ext>
            </a:extLst>
          </p:cNvPr>
          <p:cNvSpPr/>
          <p:nvPr userDrawn="1"/>
        </p:nvSpPr>
        <p:spPr>
          <a:xfrm>
            <a:off x="645441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992460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220C-7EDB-4925-88F5-72D283FB560B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5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1243099" y="2101850"/>
            <a:ext cx="9713596" cy="2186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[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보탬</a:t>
            </a:r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e]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정산반환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재원변경</a:t>
            </a:r>
            <a:endParaRPr lang="en-US" altLang="ko-KR" sz="3600" b="1" dirty="0" smtClean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사용자 매뉴얼</a:t>
            </a:r>
            <a:endParaRPr lang="ko-KR" alt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3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705408"/>
            <a:ext cx="1118235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 smtClean="0"/>
          </a:p>
          <a:p>
            <a:r>
              <a:rPr lang="en-US" altLang="ko-KR" sz="1400" dirty="0" smtClean="0"/>
              <a:t>1. </a:t>
            </a:r>
            <a:r>
              <a:rPr lang="ko-KR" altLang="en-US" sz="1400" dirty="0" smtClean="0"/>
              <a:t>보탬</a:t>
            </a:r>
            <a:r>
              <a:rPr lang="en-US" altLang="ko-KR" sz="1400" dirty="0" smtClean="0"/>
              <a:t>e 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반환금액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생성방법</a:t>
            </a:r>
            <a:endParaRPr lang="en-US" altLang="ko-KR" sz="1400" dirty="0" smtClean="0"/>
          </a:p>
          <a:p>
            <a:r>
              <a:rPr lang="en-US" altLang="ko-KR" sz="1400" dirty="0" smtClean="0"/>
              <a:t>  - </a:t>
            </a:r>
            <a:r>
              <a:rPr lang="ko-KR" altLang="en-US" sz="1400" dirty="0" smtClean="0"/>
              <a:t>자치단체에서는 </a:t>
            </a:r>
            <a:r>
              <a:rPr lang="ko-KR" altLang="en-US" sz="1400" dirty="0" err="1" smtClean="0"/>
              <a:t>시도비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+ </a:t>
            </a:r>
            <a:r>
              <a:rPr lang="ko-KR" altLang="en-US" sz="1400" dirty="0" err="1" smtClean="0"/>
              <a:t>시군구비</a:t>
            </a:r>
            <a:r>
              <a:rPr lang="ko-KR" altLang="en-US" sz="1400" dirty="0" smtClean="0"/>
              <a:t> 재원으로 편성된 사업의 경우 시도비재원과 </a:t>
            </a:r>
            <a:r>
              <a:rPr lang="ko-KR" altLang="en-US" sz="1400" dirty="0" err="1" smtClean="0"/>
              <a:t>시군구비</a:t>
            </a:r>
            <a:r>
              <a:rPr lang="ko-KR" altLang="en-US" sz="1400" dirty="0" smtClean="0"/>
              <a:t> 재원으로 구분하여 관리하기를 원함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- </a:t>
            </a:r>
            <a:r>
              <a:rPr lang="ko-KR" altLang="en-US" sz="1400" dirty="0" smtClean="0"/>
              <a:t>민간보조사업자는 </a:t>
            </a:r>
            <a:r>
              <a:rPr lang="ko-KR" altLang="en-US" sz="1400" dirty="0"/>
              <a:t>자치단체로 부터 보조금을 </a:t>
            </a:r>
            <a:r>
              <a:rPr lang="ko-KR" altLang="en-US" sz="1400" dirty="0" err="1"/>
              <a:t>교부받을때</a:t>
            </a:r>
            <a:r>
              <a:rPr lang="ko-KR" altLang="en-US" sz="1400" dirty="0"/>
              <a:t> 지방비로 </a:t>
            </a:r>
            <a:r>
              <a:rPr lang="ko-KR" altLang="en-US" sz="1400" dirty="0" err="1" smtClean="0"/>
              <a:t>교부받고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시도비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시군구비</a:t>
            </a:r>
            <a:r>
              <a:rPr lang="ko-KR" altLang="en-US" sz="1400" dirty="0" smtClean="0"/>
              <a:t> 구분 없음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  <a:r>
              <a:rPr lang="ko-KR" altLang="en-US" sz="1400" dirty="0" err="1" smtClean="0"/>
              <a:t>집행시에도</a:t>
            </a:r>
            <a:r>
              <a:rPr lang="ko-KR" altLang="en-US" sz="1400" dirty="0" smtClean="0"/>
              <a:t> 지방비와 자부담으로만 구분하여 </a:t>
            </a:r>
            <a:r>
              <a:rPr lang="ko-KR" altLang="en-US" sz="1400" dirty="0" err="1" smtClean="0"/>
              <a:t>집행처리</a:t>
            </a:r>
            <a:r>
              <a:rPr lang="en-US" altLang="ko-KR" sz="1400" dirty="0" smtClean="0"/>
              <a:t> </a:t>
            </a:r>
          </a:p>
          <a:p>
            <a:r>
              <a:rPr lang="en-US" altLang="ko-KR" sz="1400" dirty="0" smtClean="0"/>
              <a:t>  =&gt; </a:t>
            </a:r>
            <a:r>
              <a:rPr lang="ko-KR" altLang="en-US" sz="1400" dirty="0" smtClean="0"/>
              <a:t>사업종료 후 </a:t>
            </a:r>
            <a:r>
              <a:rPr lang="ko-KR" altLang="en-US" sz="1400" dirty="0" err="1" smtClean="0"/>
              <a:t>잔액반환</a:t>
            </a:r>
            <a:r>
              <a:rPr lang="ko-KR" altLang="en-US" sz="1400" dirty="0" smtClean="0"/>
              <a:t> 및 </a:t>
            </a:r>
            <a:r>
              <a:rPr lang="ko-KR" altLang="en-US" sz="1400" dirty="0" err="1" smtClean="0"/>
              <a:t>이자금액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반환시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구분하여 반납할 수 있도록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ko-KR" altLang="en-US" sz="1400" dirty="0" err="1" smtClean="0"/>
              <a:t>정산시점에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교부받은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금액비율로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반환금액을</a:t>
            </a:r>
            <a:r>
              <a:rPr lang="ko-KR" altLang="en-US" sz="1400" dirty="0" smtClean="0"/>
              <a:t> 생성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r>
              <a:rPr lang="en-US" altLang="ko-KR" sz="1400" dirty="0" smtClean="0"/>
              <a:t>   </a:t>
            </a:r>
            <a:endParaRPr lang="en-US" altLang="ko-KR" sz="1400" dirty="0"/>
          </a:p>
          <a:p>
            <a:r>
              <a:rPr lang="en-US" altLang="ko-KR" sz="1400" dirty="0" smtClean="0"/>
              <a:t>2. </a:t>
            </a:r>
            <a:r>
              <a:rPr lang="ko-KR" altLang="en-US" sz="1400" dirty="0" err="1" smtClean="0"/>
              <a:t>재원변경이</a:t>
            </a:r>
            <a:r>
              <a:rPr lang="ko-KR" altLang="en-US" sz="1400" dirty="0" smtClean="0"/>
              <a:t> 필요한 이유</a:t>
            </a:r>
            <a:endParaRPr lang="en-US" altLang="ko-KR" sz="1400" dirty="0" smtClean="0"/>
          </a:p>
          <a:p>
            <a:r>
              <a:rPr lang="en-US" altLang="ko-KR" sz="1400" dirty="0" smtClean="0"/>
              <a:t>  1) e</a:t>
            </a:r>
            <a:r>
              <a:rPr lang="ko-KR" altLang="en-US" sz="1400" dirty="0" smtClean="0"/>
              <a:t>호조</a:t>
            </a:r>
            <a:r>
              <a:rPr lang="en-US" altLang="ko-KR" sz="1400" dirty="0" smtClean="0"/>
              <a:t>+ </a:t>
            </a:r>
            <a:r>
              <a:rPr lang="ko-KR" altLang="en-US" sz="1400" dirty="0" smtClean="0"/>
              <a:t>에서 </a:t>
            </a:r>
            <a:r>
              <a:rPr lang="ko-KR" altLang="en-US" sz="1400" dirty="0" err="1" smtClean="0"/>
              <a:t>재원변경한</a:t>
            </a:r>
            <a:r>
              <a:rPr lang="ko-KR" altLang="en-US" sz="1400" dirty="0" smtClean="0"/>
              <a:t> 내역이 보탬</a:t>
            </a:r>
            <a:r>
              <a:rPr lang="en-US" altLang="ko-KR" sz="1400" dirty="0" smtClean="0"/>
              <a:t>e </a:t>
            </a:r>
            <a:r>
              <a:rPr lang="ko-KR" altLang="en-US" sz="1400" dirty="0" smtClean="0"/>
              <a:t>에 반영되지 못함</a:t>
            </a:r>
            <a:r>
              <a:rPr lang="en-US" altLang="ko-KR" sz="1400" dirty="0" smtClean="0"/>
              <a:t>. </a:t>
            </a:r>
            <a:endParaRPr lang="en-US" altLang="ko-KR" sz="1400" dirty="0"/>
          </a:p>
          <a:p>
            <a:r>
              <a:rPr lang="en-US" altLang="ko-KR" sz="1400" dirty="0" smtClean="0"/>
              <a:t>  2) </a:t>
            </a:r>
            <a:r>
              <a:rPr lang="ko-KR" altLang="en-US" sz="1400" dirty="0" smtClean="0"/>
              <a:t>비율 계산에 의한 원단위 금액 </a:t>
            </a:r>
            <a:r>
              <a:rPr lang="ko-KR" altLang="en-US" sz="1400" dirty="0" err="1" smtClean="0"/>
              <a:t>차이발생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3) </a:t>
            </a:r>
            <a:r>
              <a:rPr lang="ko-KR" altLang="en-US" sz="1400" dirty="0" smtClean="0"/>
              <a:t>사업 특성에 따른 </a:t>
            </a:r>
            <a:r>
              <a:rPr lang="ko-KR" altLang="en-US" sz="1400" dirty="0" err="1" smtClean="0"/>
              <a:t>재원변경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-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사업에 따라 특정 비목의 금액을 우선 사용하거나 하는 경우가 발생하여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비율금액과</a:t>
            </a:r>
            <a:r>
              <a:rPr lang="ko-KR" altLang="en-US" sz="1400" dirty="0" smtClean="0"/>
              <a:t> 다르게 잔액이 발생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4) </a:t>
            </a:r>
            <a:r>
              <a:rPr lang="ko-KR" altLang="en-US" sz="1400" dirty="0" smtClean="0"/>
              <a:t>사용자 </a:t>
            </a:r>
            <a:r>
              <a:rPr lang="ko-KR" altLang="en-US" sz="1400" dirty="0" err="1" smtClean="0"/>
              <a:t>오등록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이자금액</a:t>
            </a:r>
            <a:r>
              <a:rPr lang="ko-KR" altLang="en-US" sz="1400" dirty="0" smtClean="0"/>
              <a:t> 및 수익금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금액 </a:t>
            </a:r>
            <a:r>
              <a:rPr lang="ko-KR" altLang="en-US" sz="1400" dirty="0" err="1" smtClean="0"/>
              <a:t>오등록</a:t>
            </a:r>
            <a:r>
              <a:rPr lang="en-US" altLang="ko-KR" sz="1400" dirty="0" smtClean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3. </a:t>
            </a:r>
            <a:r>
              <a:rPr lang="ko-KR" altLang="en-US" sz="1400" dirty="0" err="1" smtClean="0"/>
              <a:t>재원변경</a:t>
            </a:r>
            <a:r>
              <a:rPr lang="ko-KR" altLang="en-US" sz="1400" dirty="0" smtClean="0"/>
              <a:t> 방식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- </a:t>
            </a:r>
            <a:r>
              <a:rPr lang="ko-KR" altLang="en-US" sz="1400" dirty="0" smtClean="0"/>
              <a:t>교부 및 </a:t>
            </a:r>
            <a:r>
              <a:rPr lang="ko-KR" altLang="en-US" sz="1400" dirty="0" err="1" smtClean="0"/>
              <a:t>집행금액의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재원금액의</a:t>
            </a:r>
            <a:r>
              <a:rPr lang="ko-KR" altLang="en-US" sz="1400" dirty="0" smtClean="0"/>
              <a:t> 변경은 불가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- </a:t>
            </a:r>
            <a:r>
              <a:rPr lang="ko-KR" altLang="en-US" sz="1400" dirty="0" err="1" smtClean="0"/>
              <a:t>정산반환</a:t>
            </a:r>
            <a:r>
              <a:rPr lang="ko-KR" altLang="en-US" sz="1400" dirty="0" smtClean="0"/>
              <a:t> 금액의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금액만 변경 처리</a:t>
            </a:r>
            <a:endParaRPr lang="en-US" altLang="ko-KR" sz="1400" dirty="0" smtClean="0"/>
          </a:p>
          <a:p>
            <a:r>
              <a:rPr lang="en-US" altLang="ko-KR" sz="1400" dirty="0" smtClean="0"/>
              <a:t>  - </a:t>
            </a:r>
            <a:r>
              <a:rPr lang="ko-KR" altLang="en-US" sz="1400" dirty="0" smtClean="0"/>
              <a:t>보조사업자가 </a:t>
            </a:r>
            <a:r>
              <a:rPr lang="ko-KR" altLang="en-US" sz="1400" dirty="0" err="1" smtClean="0"/>
              <a:t>반환처리한</a:t>
            </a:r>
            <a:r>
              <a:rPr lang="ko-KR" altLang="en-US" sz="1400" dirty="0" smtClean="0"/>
              <a:t> 이후 </a:t>
            </a:r>
            <a:r>
              <a:rPr lang="ko-KR" altLang="en-US" sz="1400" dirty="0" err="1" smtClean="0"/>
              <a:t>징수요청</a:t>
            </a:r>
            <a:r>
              <a:rPr lang="ko-KR" altLang="en-US" sz="1400" dirty="0" smtClean="0"/>
              <a:t> 등록 직전에 </a:t>
            </a:r>
            <a:r>
              <a:rPr lang="ko-KR" altLang="en-US" sz="1400" dirty="0" err="1" smtClean="0"/>
              <a:t>반환금액의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재원별</a:t>
            </a:r>
            <a:r>
              <a:rPr lang="ko-KR" altLang="en-US" sz="1400" dirty="0" smtClean="0"/>
              <a:t> 금액 수정</a:t>
            </a:r>
            <a:r>
              <a:rPr lang="en-US" altLang="ko-KR" sz="1400" dirty="0" smtClean="0"/>
              <a:t>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- </a:t>
            </a:r>
            <a:r>
              <a:rPr lang="ko-KR" altLang="en-US" sz="1400" dirty="0" err="1"/>
              <a:t>반환해야할</a:t>
            </a:r>
            <a:r>
              <a:rPr lang="ko-KR" altLang="en-US" sz="1400" dirty="0"/>
              <a:t> 금액의 합계금액 </a:t>
            </a:r>
            <a:r>
              <a:rPr lang="ko-KR" altLang="en-US" sz="1400" dirty="0" err="1"/>
              <a:t>한도안에서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재원별</a:t>
            </a:r>
            <a:r>
              <a:rPr lang="ko-KR" altLang="en-US" sz="1400" dirty="0"/>
              <a:t> 금액을 자유롭게 수정</a:t>
            </a:r>
            <a:endParaRPr lang="en-US" altLang="ko-KR" sz="1400" dirty="0" smtClean="0"/>
          </a:p>
          <a:p>
            <a:endParaRPr lang="en-US" altLang="ko-KR" sz="14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2666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재원변경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이란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7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949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결과조회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반환금액</a:t>
            </a:r>
            <a:r>
              <a:rPr lang="ko-KR" altLang="en-US" sz="1000" dirty="0" smtClean="0"/>
              <a:t> 확인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err="1" smtClean="0"/>
              <a:t>정산반환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결과조회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지자체</a:t>
            </a:r>
            <a:r>
              <a:rPr lang="en-US" altLang="ko-KR" sz="1000" dirty="0" smtClean="0"/>
              <a:t>) (94012) </a:t>
            </a:r>
            <a:r>
              <a:rPr lang="ko-KR" altLang="en-US" sz="1000" dirty="0" smtClean="0"/>
              <a:t>화면을 통해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보조사업의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반환금액</a:t>
            </a:r>
            <a:r>
              <a:rPr lang="ko-KR" altLang="en-US" sz="1000" dirty="0"/>
              <a:t> ① </a:t>
            </a:r>
            <a:r>
              <a:rPr lang="ko-KR" altLang="en-US" sz="1000" dirty="0" smtClean="0"/>
              <a:t>을 확인</a:t>
            </a:r>
            <a:r>
              <a:rPr lang="en-US" altLang="ko-KR" sz="1000" dirty="0" smtClean="0"/>
              <a:t>. </a:t>
            </a:r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8" y="716547"/>
            <a:ext cx="8076144" cy="54959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345240-3A5A-04C6-2610-01580CE41F25}"/>
              </a:ext>
            </a:extLst>
          </p:cNvPr>
          <p:cNvSpPr/>
          <p:nvPr/>
        </p:nvSpPr>
        <p:spPr>
          <a:xfrm>
            <a:off x="1682075" y="5063689"/>
            <a:ext cx="2372155" cy="8261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2656767" y="4807480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5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7472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smtClean="0"/>
              <a:t>지자체 </a:t>
            </a:r>
            <a:r>
              <a:rPr lang="ko-KR" altLang="en-US" sz="1000" dirty="0" smtClean="0"/>
              <a:t>보조사업 선택 </a:t>
            </a:r>
            <a:r>
              <a:rPr lang="ko-KR" altLang="en-US" sz="1000" dirty="0" smtClean="0"/>
              <a:t>①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신규등록 버튼 클릭 ②</a:t>
            </a:r>
            <a:endParaRPr lang="en-US" altLang="ko-KR" sz="1000" dirty="0" smtClean="0"/>
          </a:p>
          <a:p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42897"/>
            <a:ext cx="7980894" cy="554136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7691718" y="6032652"/>
            <a:ext cx="877484" cy="260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2182544" y="1141247"/>
            <a:ext cx="2927337" cy="260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4814711" y="913891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8279020" y="5821267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5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7472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징수대상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사업목록에서 </a:t>
            </a:r>
            <a:r>
              <a:rPr lang="ko-KR" altLang="en-US" sz="1000" dirty="0" err="1" smtClean="0"/>
              <a:t>재원별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반환금액</a:t>
            </a:r>
            <a:r>
              <a:rPr lang="ko-KR" altLang="en-US" sz="1000" dirty="0"/>
              <a:t> ① 을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조회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2. </a:t>
            </a:r>
            <a:r>
              <a:rPr lang="ko-KR" altLang="en-US" sz="1000" dirty="0" err="1" smtClean="0"/>
              <a:t>재원변경</a:t>
            </a:r>
            <a:r>
              <a:rPr lang="ko-KR" altLang="en-US" sz="1000" dirty="0" smtClean="0"/>
              <a:t> 하려는 대상을 선택 ②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en-US" altLang="ko-KR" sz="1000" dirty="0" smtClean="0"/>
              <a:t>- </a:t>
            </a:r>
            <a:r>
              <a:rPr lang="ko-KR" altLang="en-US" sz="1000" dirty="0" smtClean="0"/>
              <a:t>대상 </a:t>
            </a:r>
            <a:r>
              <a:rPr lang="ko-KR" altLang="en-US" sz="1000" dirty="0" err="1" smtClean="0"/>
              <a:t>선택시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1</a:t>
            </a:r>
            <a:r>
              <a:rPr lang="ko-KR" altLang="en-US" sz="1000" dirty="0" err="1" smtClean="0"/>
              <a:t>건씩만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선택</a:t>
            </a:r>
            <a:r>
              <a:rPr lang="en-US" altLang="ko-KR" sz="1000" dirty="0"/>
              <a:t> 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3. </a:t>
            </a:r>
            <a:r>
              <a:rPr lang="ko-KR" altLang="en-US" sz="1000" dirty="0" err="1" smtClean="0"/>
              <a:t>재원변경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등록화면</a:t>
            </a:r>
            <a:r>
              <a:rPr lang="ko-KR" altLang="en-US" sz="1000" dirty="0" smtClean="0"/>
              <a:t> 호출</a:t>
            </a:r>
            <a:endParaRPr lang="en-US" altLang="ko-KR" sz="1000" dirty="0"/>
          </a:p>
          <a:p>
            <a:r>
              <a:rPr lang="en-US" altLang="ko-KR" sz="1000" dirty="0" smtClean="0"/>
              <a:t>  - [</a:t>
            </a:r>
            <a:r>
              <a:rPr lang="ko-KR" altLang="en-US" sz="1000" dirty="0" smtClean="0"/>
              <a:t>재원변경등록</a:t>
            </a:r>
            <a:r>
              <a:rPr lang="en-US" altLang="ko-KR" sz="1000" dirty="0" smtClean="0"/>
              <a:t>] ③</a:t>
            </a:r>
            <a:r>
              <a:rPr lang="ko-KR" altLang="en-US" sz="1000" dirty="0" smtClean="0"/>
              <a:t>버튼 </a:t>
            </a:r>
            <a:r>
              <a:rPr lang="ko-KR" altLang="en-US" sz="1000" dirty="0" err="1" smtClean="0"/>
              <a:t>클릭시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팝업화면</a:t>
            </a:r>
            <a:r>
              <a:rPr lang="ko-KR" altLang="en-US" sz="1000" dirty="0" smtClean="0"/>
              <a:t> 호출됨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33937"/>
            <a:ext cx="7980894" cy="556184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1647361" y="5657819"/>
            <a:ext cx="773110" cy="260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2024951" y="2140490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4719200" y="2163858"/>
            <a:ext cx="1627811" cy="6331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1757208" y="2183428"/>
            <a:ext cx="223992" cy="6331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6096097" y="1929105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2258131" y="540183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n-ea"/>
              </a:rPr>
              <a:t>3</a:t>
            </a:r>
            <a:endParaRPr lang="ko-KR" altLang="en-US" sz="1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49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7472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재원변경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smtClean="0"/>
              <a:t>선택한 </a:t>
            </a:r>
            <a:r>
              <a:rPr lang="ko-KR" altLang="en-US" sz="1000" dirty="0" err="1" smtClean="0"/>
              <a:t>반환금액의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합계금액이 </a:t>
            </a:r>
            <a:r>
              <a:rPr lang="ko-KR" altLang="en-US" sz="1000" dirty="0" smtClean="0"/>
              <a:t>표시됨①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2. </a:t>
            </a:r>
            <a:r>
              <a:rPr lang="ko-KR" altLang="en-US" sz="1000" dirty="0" smtClean="0"/>
              <a:t>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의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교부받은</a:t>
            </a:r>
            <a:r>
              <a:rPr lang="ko-KR" altLang="en-US" sz="1000" dirty="0" smtClean="0"/>
              <a:t> 금액 및 </a:t>
            </a:r>
            <a:r>
              <a:rPr lang="ko-KR" altLang="en-US" sz="1000" dirty="0" smtClean="0"/>
              <a:t>사업비 비율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조회 </a:t>
            </a:r>
            <a:r>
              <a:rPr lang="en-US" altLang="ko-KR" sz="1000" dirty="0" smtClean="0"/>
              <a:t>( </a:t>
            </a:r>
            <a:r>
              <a:rPr lang="ko-KR" altLang="en-US" sz="1000" dirty="0" err="1" smtClean="0"/>
              <a:t>참고용자료</a:t>
            </a:r>
            <a:r>
              <a:rPr lang="en-US" altLang="ko-KR" sz="1000" dirty="0" smtClean="0"/>
              <a:t>)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3. </a:t>
            </a:r>
            <a:r>
              <a:rPr lang="ko-KR" altLang="en-US" sz="1000" dirty="0" smtClean="0"/>
              <a:t>현재 반환대상 </a:t>
            </a:r>
            <a:r>
              <a:rPr lang="ko-KR" altLang="en-US" sz="1000" dirty="0" smtClean="0"/>
              <a:t>금액으로 등록되어 있는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금액 </a:t>
            </a:r>
            <a:r>
              <a:rPr lang="en-US" altLang="ko-KR" sz="1000" dirty="0" smtClean="0"/>
              <a:t>③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4. </a:t>
            </a:r>
            <a:r>
              <a:rPr lang="ko-KR" altLang="en-US" sz="1000" dirty="0" smtClean="0"/>
              <a:t>변경하고자 하는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금액을 등록 </a:t>
            </a:r>
            <a:r>
              <a:rPr lang="en-US" altLang="ko-KR" sz="1000" dirty="0"/>
              <a:t>④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smtClean="0"/>
              <a:t> </a:t>
            </a:r>
            <a:r>
              <a:rPr lang="en-US" altLang="ko-KR" sz="1000" dirty="0" smtClean="0"/>
              <a:t>- </a:t>
            </a:r>
            <a:r>
              <a:rPr lang="ko-KR" altLang="en-US" sz="1000" dirty="0" err="1" smtClean="0"/>
              <a:t>시도비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반환금액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시군구비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반환금액</a:t>
            </a:r>
            <a:r>
              <a:rPr lang="ko-KR" altLang="en-US" sz="1000" dirty="0" smtClean="0"/>
              <a:t> 등록된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합계금액이 ① 의 금액과 반드시 일치해야 함</a:t>
            </a:r>
            <a:r>
              <a:rPr lang="en-US" altLang="ko-KR" sz="1000" dirty="0" smtClean="0"/>
              <a:t>. </a:t>
            </a:r>
            <a:endParaRPr lang="en-US" altLang="ko-KR" sz="1000" dirty="0"/>
          </a:p>
          <a:p>
            <a:r>
              <a:rPr lang="ko-KR" altLang="en-US" sz="1000" dirty="0" smtClean="0"/>
              <a:t> </a:t>
            </a:r>
            <a:endParaRPr lang="en-US" altLang="ko-KR" sz="1000" dirty="0" smtClean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905811" y="2455274"/>
            <a:ext cx="2294590" cy="1480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10955"/>
            <a:ext cx="7980894" cy="554928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5613888" y="1869706"/>
            <a:ext cx="1629594" cy="4880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1606666" y="4150776"/>
            <a:ext cx="5591993" cy="4122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4598894" y="2819964"/>
            <a:ext cx="2563906" cy="7838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1669416" y="2819964"/>
            <a:ext cx="2678465" cy="6135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6217300" y="1640803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3952703" y="254425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6951415" y="2572821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3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B3C77D5-B807-47B9-A4D4-5A552897BFD8}"/>
              </a:ext>
            </a:extLst>
          </p:cNvPr>
          <p:cNvSpPr/>
          <p:nvPr/>
        </p:nvSpPr>
        <p:spPr>
          <a:xfrm>
            <a:off x="2955432" y="3930426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4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49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7472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재원변경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재원변경</a:t>
            </a:r>
            <a:r>
              <a:rPr lang="ko-KR" altLang="en-US" sz="1000" dirty="0" smtClean="0"/>
              <a:t> 등록된 금액 </a:t>
            </a:r>
            <a:r>
              <a:rPr lang="ko-KR" altLang="en-US" sz="1000" dirty="0"/>
              <a:t>확인 ① </a:t>
            </a:r>
            <a:endParaRPr lang="en-US" altLang="ko-KR" sz="10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10955"/>
            <a:ext cx="7980894" cy="555378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4733365" y="2151529"/>
            <a:ext cx="1622611" cy="6633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5706312" y="194014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455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7214</TotalTime>
  <Words>374</Words>
  <Application>Microsoft Office PowerPoint</Application>
  <PresentationFormat>와이드스크린</PresentationFormat>
  <Paragraphs>72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KoPub돋움체 Bold</vt:lpstr>
      <vt:lpstr>KoPub돋움체 Light</vt:lpstr>
      <vt:lpstr>KoPub돋움체 Medium</vt:lpstr>
      <vt:lpstr>Rix모던고딕 EB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Metanet</cp:lastModifiedBy>
  <cp:revision>436</cp:revision>
  <dcterms:created xsi:type="dcterms:W3CDTF">2024-05-01T04:36:42Z</dcterms:created>
  <dcterms:modified xsi:type="dcterms:W3CDTF">2025-11-13T05:32:22Z</dcterms:modified>
</cp:coreProperties>
</file>
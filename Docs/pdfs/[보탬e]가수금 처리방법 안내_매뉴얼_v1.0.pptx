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81" r:id="rId2"/>
    <p:sldId id="309" r:id="rId3"/>
    <p:sldId id="299" r:id="rId4"/>
    <p:sldId id="310" r:id="rId5"/>
    <p:sldId id="311" r:id="rId6"/>
    <p:sldId id="31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9" autoAdjust="0"/>
    <p:restoredTop sz="96357" autoAdjust="0"/>
  </p:normalViewPr>
  <p:slideViewPr>
    <p:cSldViewPr snapToGrid="0">
      <p:cViewPr varScale="1">
        <p:scale>
          <a:sx n="101" d="100"/>
          <a:sy n="101" d="100"/>
        </p:scale>
        <p:origin x="120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298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8C3F37-9A56-49E4-9335-D88AD65C63EE}" type="datetimeFigureOut">
              <a:rPr lang="ko-KR" altLang="en-US" smtClean="0"/>
              <a:t>2024-09-26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21F4D-D6BA-4114-AD89-56C48743A3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1090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0E805-45B6-4C5F-9678-2050CEC633B9}" type="datetimeFigureOut">
              <a:rPr lang="ko-KR" altLang="en-US" smtClean="0"/>
              <a:t>2024-09-26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742C9C-4669-4C86-A195-448ADE8E99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468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1187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6383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088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5748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0721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2024-09-26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8058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2024-09-26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235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2024-09-26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9661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2024-09-26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1391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2024-09-26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31240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2024-09-26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805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2024-09-26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7872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2024-09-26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8884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2024-09-26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5920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2024-09-26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6608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2024-09-26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0453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흐름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1C161AD7-C609-4DCC-80C3-0D51F827EA92}"/>
              </a:ext>
            </a:extLst>
          </p:cNvPr>
          <p:cNvGrpSpPr/>
          <p:nvPr userDrawn="1"/>
        </p:nvGrpSpPr>
        <p:grpSpPr>
          <a:xfrm>
            <a:off x="335360" y="6407443"/>
            <a:ext cx="2481507" cy="331365"/>
            <a:chOff x="408700" y="643228"/>
            <a:chExt cx="3637191" cy="360605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C8C857F-307E-4B6A-ABC2-771156385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7394" y="643702"/>
              <a:ext cx="2128497" cy="297989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7AB6731-FBDC-4858-86F6-F4B4E0AB8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8700" y="643228"/>
              <a:ext cx="1489864" cy="360605"/>
            </a:xfrm>
            <a:prstGeom prst="rect">
              <a:avLst/>
            </a:prstGeom>
          </p:spPr>
        </p:pic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8FB910C0-D315-4A96-B19A-3445A2A0806B}"/>
                </a:ext>
              </a:extLst>
            </p:cNvPr>
            <p:cNvCxnSpPr>
              <a:cxnSpLocks/>
            </p:cNvCxnSpPr>
            <p:nvPr/>
          </p:nvCxnSpPr>
          <p:spPr>
            <a:xfrm>
              <a:off x="1847927" y="735395"/>
              <a:ext cx="0" cy="15768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/>
          <p:cNvGrpSpPr/>
          <p:nvPr userDrawn="1"/>
        </p:nvGrpSpPr>
        <p:grpSpPr>
          <a:xfrm>
            <a:off x="535066" y="653528"/>
            <a:ext cx="11115159" cy="111179"/>
            <a:chOff x="561814" y="758710"/>
            <a:chExt cx="8853119" cy="111179"/>
          </a:xfrm>
        </p:grpSpPr>
        <p:sp>
          <p:nvSpPr>
            <p:cNvPr id="9" name="직각 삼각형 8"/>
            <p:cNvSpPr/>
            <p:nvPr userDrawn="1"/>
          </p:nvSpPr>
          <p:spPr>
            <a:xfrm flipH="1" flipV="1">
              <a:off x="7085286" y="761505"/>
              <a:ext cx="2266135" cy="108384"/>
            </a:xfrm>
            <a:prstGeom prst="rtTriangle">
              <a:avLst/>
            </a:prstGeom>
            <a:gradFill>
              <a:gsLst>
                <a:gs pos="0">
                  <a:schemeClr val="bg1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9720"/>
              <a:endParaRPr lang="ko-KR" altLang="en-US" sz="1240" dirty="0">
                <a:solidFill>
                  <a:prstClr val="white"/>
                </a:solidFill>
                <a:ea typeface="KoPub돋움체 Medium" panose="02020603020101020101" pitchFamily="18" charset="-127"/>
              </a:endParaRPr>
            </a:p>
          </p:txBody>
        </p:sp>
        <p:cxnSp>
          <p:nvCxnSpPr>
            <p:cNvPr id="12" name="직선 연결선 11"/>
            <p:cNvCxnSpPr/>
            <p:nvPr userDrawn="1"/>
          </p:nvCxnSpPr>
          <p:spPr>
            <a:xfrm>
              <a:off x="885243" y="758710"/>
              <a:ext cx="8529690" cy="0"/>
            </a:xfrm>
            <a:prstGeom prst="line">
              <a:avLst/>
            </a:prstGeom>
            <a:ln w="22225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 userDrawn="1"/>
          </p:nvCxnSpPr>
          <p:spPr>
            <a:xfrm>
              <a:off x="561814" y="758710"/>
              <a:ext cx="340758" cy="0"/>
            </a:xfrm>
            <a:prstGeom prst="line">
              <a:avLst/>
            </a:prstGeom>
            <a:ln w="25400" cap="rnd">
              <a:solidFill>
                <a:srgbClr val="0538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슬라이드 번호 개체 틀 18">
            <a:extLst>
              <a:ext uri="{FF2B5EF4-FFF2-40B4-BE49-F238E27FC236}">
                <a16:creationId xmlns:a16="http://schemas.microsoft.com/office/drawing/2014/main" id="{E040A672-9DFF-4728-9EA0-3B5C83ECE0B2}"/>
              </a:ext>
            </a:extLst>
          </p:cNvPr>
          <p:cNvSpPr txBox="1">
            <a:spLocks/>
          </p:cNvSpPr>
          <p:nvPr userDrawn="1"/>
        </p:nvSpPr>
        <p:spPr>
          <a:xfrm>
            <a:off x="4924079" y="6407443"/>
            <a:ext cx="2743200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Rix모던고딕 EB"/>
                <a:ea typeface="굴림"/>
                <a:cs typeface="+mn-cs"/>
              </a:defRPr>
            </a:lvl1pPr>
            <a:lvl2pPr marL="454025" indent="3175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2pPr>
            <a:lvl3pPr marL="909638" indent="4763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3pPr>
            <a:lvl4pPr marL="1365250" indent="635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4pPr>
            <a:lvl5pPr marL="1819275" indent="9525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9pPr>
          </a:lstStyle>
          <a:p>
            <a:pPr algn="ctr"/>
            <a:fld id="{B10A8F86-DD25-4E05-9C40-D4C7321258A7}" type="slidenum">
              <a:rPr lang="ko-KR" altLang="en-US" sz="900" smtClean="0"/>
              <a:pPr algn="ctr"/>
              <a:t>‹#›</a:t>
            </a:fld>
            <a:endParaRPr lang="ko-KR" altLang="en-US" sz="9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EAB47C6-66F1-436B-A804-161650B940BF}"/>
              </a:ext>
            </a:extLst>
          </p:cNvPr>
          <p:cNvSpPr/>
          <p:nvPr userDrawn="1"/>
        </p:nvSpPr>
        <p:spPr>
          <a:xfrm>
            <a:off x="6080370" y="6564603"/>
            <a:ext cx="56271" cy="7432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prstClr val="black">
                  <a:lumMod val="75000"/>
                  <a:lumOff val="25000"/>
                </a:prstClr>
              </a:buClr>
            </a:pPr>
            <a:endParaRPr kumimoji="0" lang="ko-KR" altLang="en-US" sz="1200" spc="-45" dirty="0">
              <a:ln w="9525">
                <a:solidFill>
                  <a:srgbClr val="C9E7F7">
                    <a:alpha val="0"/>
                  </a:srgbClr>
                </a:solidFill>
              </a:ln>
              <a:solidFill>
                <a:schemeClr val="bg1"/>
              </a:solidFill>
              <a:latin typeface="KoPub돋움체 Bold"/>
              <a:ea typeface="KoPub돋움체 Bold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47480DD-4B1E-4C67-8DFF-33CB582CC7BD}"/>
              </a:ext>
            </a:extLst>
          </p:cNvPr>
          <p:cNvSpPr/>
          <p:nvPr userDrawn="1"/>
        </p:nvSpPr>
        <p:spPr>
          <a:xfrm>
            <a:off x="6454410" y="6564603"/>
            <a:ext cx="56271" cy="7432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prstClr val="black">
                  <a:lumMod val="75000"/>
                  <a:lumOff val="25000"/>
                </a:prstClr>
              </a:buClr>
            </a:pPr>
            <a:endParaRPr kumimoji="0" lang="ko-KR" altLang="en-US" sz="1200" spc="-45" dirty="0">
              <a:ln w="9525">
                <a:solidFill>
                  <a:srgbClr val="C9E7F7">
                    <a:alpha val="0"/>
                  </a:srgbClr>
                </a:solidFill>
              </a:ln>
              <a:solidFill>
                <a:schemeClr val="bg1"/>
              </a:solidFill>
              <a:latin typeface="KoPub돋움체 Bold"/>
              <a:ea typeface="KoPub돋움체 Bold"/>
            </a:endParaRPr>
          </a:p>
        </p:txBody>
      </p:sp>
    </p:spTree>
    <p:extLst>
      <p:ext uri="{BB962C8B-B14F-4D97-AF65-F5344CB8AC3E}">
        <p14:creationId xmlns:p14="http://schemas.microsoft.com/office/powerpoint/2010/main" val="19924601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89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9220C-7EDB-4925-88F5-72D283FB560B}" type="datetimeFigureOut">
              <a:rPr lang="ko-KR" altLang="en-US" smtClean="0"/>
              <a:t>2024-09-26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453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/>
          <p:cNvSpPr/>
          <p:nvPr/>
        </p:nvSpPr>
        <p:spPr>
          <a:xfrm>
            <a:off x="1243099" y="2101850"/>
            <a:ext cx="9713596" cy="218647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600" b="1" dirty="0" smtClean="0">
                <a:solidFill>
                  <a:srgbClr val="002060"/>
                </a:solidFill>
                <a:latin typeface="+mj-lt"/>
              </a:rPr>
              <a:t>[</a:t>
            </a:r>
            <a:r>
              <a:rPr lang="ko-KR" altLang="en-US" sz="3600" b="1" dirty="0" smtClean="0">
                <a:solidFill>
                  <a:srgbClr val="002060"/>
                </a:solidFill>
                <a:latin typeface="+mj-lt"/>
              </a:rPr>
              <a:t>보탬</a:t>
            </a:r>
            <a:r>
              <a:rPr lang="en-US" altLang="ko-KR" sz="3600" b="1" dirty="0" smtClean="0">
                <a:solidFill>
                  <a:srgbClr val="002060"/>
                </a:solidFill>
                <a:latin typeface="+mj-lt"/>
              </a:rPr>
              <a:t>e] </a:t>
            </a:r>
            <a:r>
              <a:rPr lang="ko-KR" altLang="en-US" sz="3600" b="1" dirty="0" smtClean="0">
                <a:solidFill>
                  <a:srgbClr val="002060"/>
                </a:solidFill>
                <a:latin typeface="+mj-lt"/>
              </a:rPr>
              <a:t>가수금 처리방법</a:t>
            </a:r>
            <a:endParaRPr lang="en-US" altLang="ko-KR" sz="3600" b="1" dirty="0" smtClean="0">
              <a:solidFill>
                <a:srgbClr val="002060"/>
              </a:solidFill>
              <a:latin typeface="+mj-lt"/>
            </a:endParaRPr>
          </a:p>
          <a:p>
            <a:pPr algn="ctr"/>
            <a:r>
              <a:rPr lang="ko-KR" altLang="en-US" sz="3600" b="1" dirty="0" smtClean="0">
                <a:solidFill>
                  <a:srgbClr val="002060"/>
                </a:solidFill>
                <a:latin typeface="+mj-lt"/>
              </a:rPr>
              <a:t>안내 매뉴얼</a:t>
            </a:r>
            <a:endParaRPr lang="ko-KR" altLang="en-US" sz="3600" b="1" dirty="0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9388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5300" y="809625"/>
            <a:ext cx="1118235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1. </a:t>
            </a:r>
            <a:r>
              <a:rPr lang="ko-KR" altLang="en-US" sz="1200" dirty="0" smtClean="0"/>
              <a:t>보조금 </a:t>
            </a:r>
            <a:r>
              <a:rPr lang="ko-KR" altLang="en-US" sz="1200" dirty="0" err="1" smtClean="0"/>
              <a:t>전용계좌로</a:t>
            </a:r>
            <a:r>
              <a:rPr lang="ko-KR" altLang="en-US" sz="1200" dirty="0" smtClean="0"/>
              <a:t> 입금되는 정상적인 방식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-. </a:t>
            </a:r>
            <a:r>
              <a:rPr lang="ko-KR" altLang="en-US" sz="1200" dirty="0" smtClean="0"/>
              <a:t>보조금 교부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지자체 담당자가 </a:t>
            </a:r>
            <a:r>
              <a:rPr lang="en-US" altLang="ko-KR" sz="1200" dirty="0" smtClean="0"/>
              <a:t>e</a:t>
            </a:r>
            <a:r>
              <a:rPr lang="ko-KR" altLang="en-US" sz="1200" dirty="0" smtClean="0"/>
              <a:t>호조</a:t>
            </a:r>
            <a:r>
              <a:rPr lang="en-US" altLang="ko-KR" sz="1200" dirty="0" smtClean="0"/>
              <a:t>+ </a:t>
            </a:r>
            <a:r>
              <a:rPr lang="ko-KR" altLang="en-US" sz="1200" dirty="0" smtClean="0"/>
              <a:t>를 통해 </a:t>
            </a:r>
            <a:r>
              <a:rPr lang="ko-KR" altLang="en-US" sz="1200" dirty="0" err="1" smtClean="0"/>
              <a:t>연계지출로</a:t>
            </a:r>
            <a:r>
              <a:rPr lang="ko-KR" altLang="en-US" sz="1200" dirty="0" smtClean="0"/>
              <a:t> 보탬</a:t>
            </a:r>
            <a:r>
              <a:rPr lang="en-US" altLang="ko-KR" sz="1200" dirty="0" smtClean="0"/>
              <a:t>e</a:t>
            </a:r>
            <a:r>
              <a:rPr lang="ko-KR" altLang="en-US" sz="1200" dirty="0" smtClean="0"/>
              <a:t>로 보조금 교부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                (</a:t>
            </a:r>
            <a:r>
              <a:rPr lang="ko-KR" altLang="en-US" sz="1200" dirty="0" smtClean="0"/>
              <a:t>내부적으로 어느 보조사업자에게 입금되는지 </a:t>
            </a:r>
            <a:r>
              <a:rPr lang="ko-KR" altLang="en-US" sz="1200" dirty="0" err="1" smtClean="0"/>
              <a:t>연결정보가</a:t>
            </a:r>
            <a:r>
              <a:rPr lang="ko-KR" altLang="en-US" sz="1200" dirty="0" smtClean="0"/>
              <a:t> 있음</a:t>
            </a:r>
            <a:r>
              <a:rPr lang="en-US" altLang="ko-KR" sz="1200" dirty="0" smtClean="0"/>
              <a:t>)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-. </a:t>
            </a:r>
            <a:r>
              <a:rPr lang="ko-KR" altLang="en-US" sz="1200" dirty="0" smtClean="0"/>
              <a:t>보조금 </a:t>
            </a:r>
            <a:r>
              <a:rPr lang="ko-KR" altLang="en-US" sz="1200" dirty="0" err="1" smtClean="0"/>
              <a:t>집행취소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: </a:t>
            </a:r>
            <a:r>
              <a:rPr lang="ko-KR" altLang="en-US" sz="1200" dirty="0" err="1" smtClean="0"/>
              <a:t>예치형</a:t>
            </a:r>
            <a:r>
              <a:rPr lang="ko-KR" altLang="en-US" sz="1200" dirty="0" smtClean="0"/>
              <a:t> 사업 보조사업자가 </a:t>
            </a:r>
            <a:r>
              <a:rPr lang="ko-KR" altLang="en-US" sz="1200" dirty="0" err="1" smtClean="0"/>
              <a:t>집행처리</a:t>
            </a:r>
            <a:r>
              <a:rPr lang="ko-KR" altLang="en-US" sz="1200" dirty="0" smtClean="0"/>
              <a:t> 했던 금액을 취소하기 위해 다시 입금하는 경우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                     </a:t>
            </a:r>
            <a:r>
              <a:rPr lang="ko-KR" altLang="en-US" sz="1200" dirty="0" smtClean="0"/>
              <a:t>보탬</a:t>
            </a:r>
            <a:r>
              <a:rPr lang="en-US" altLang="ko-KR" sz="1200" dirty="0" smtClean="0"/>
              <a:t>e </a:t>
            </a:r>
            <a:r>
              <a:rPr lang="ko-KR" altLang="en-US" sz="1200" dirty="0" smtClean="0"/>
              <a:t>시스템을 통해 </a:t>
            </a:r>
            <a:r>
              <a:rPr lang="ko-KR" altLang="en-US" sz="1200" dirty="0" err="1" smtClean="0"/>
              <a:t>집행취소</a:t>
            </a:r>
            <a:r>
              <a:rPr lang="ko-KR" altLang="en-US" sz="1200" dirty="0" smtClean="0"/>
              <a:t> 하면 보조사업자의 </a:t>
            </a:r>
            <a:r>
              <a:rPr lang="ko-KR" altLang="en-US" sz="1200" dirty="0" err="1" smtClean="0"/>
              <a:t>자부담</a:t>
            </a:r>
            <a:r>
              <a:rPr lang="ko-KR" altLang="en-US" sz="1200" dirty="0" smtClean="0"/>
              <a:t> 계좌에서 보탬</a:t>
            </a:r>
            <a:r>
              <a:rPr lang="en-US" altLang="ko-KR" sz="1200" dirty="0" smtClean="0"/>
              <a:t>e </a:t>
            </a:r>
            <a:r>
              <a:rPr lang="ko-KR" altLang="en-US" sz="1200" dirty="0" smtClean="0"/>
              <a:t>계좌로 입금됨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                     (</a:t>
            </a:r>
            <a:r>
              <a:rPr lang="ko-KR" altLang="en-US" sz="1200" dirty="0" smtClean="0"/>
              <a:t>보탬</a:t>
            </a:r>
            <a:r>
              <a:rPr lang="en-US" altLang="ko-KR" sz="1200" dirty="0" smtClean="0"/>
              <a:t>e </a:t>
            </a:r>
            <a:r>
              <a:rPr lang="ko-KR" altLang="en-US" sz="1200" dirty="0" smtClean="0"/>
              <a:t>를 통해 입금하기 때문에 어느 보조사업자가 입금하는 것인지 </a:t>
            </a:r>
            <a:r>
              <a:rPr lang="ko-KR" altLang="en-US" sz="1200" dirty="0" err="1" smtClean="0"/>
              <a:t>연계정보가</a:t>
            </a:r>
            <a:r>
              <a:rPr lang="ko-KR" altLang="en-US" sz="1200" dirty="0" smtClean="0"/>
              <a:t> 있음</a:t>
            </a:r>
            <a:r>
              <a:rPr lang="en-US" altLang="ko-KR" sz="1200" dirty="0" smtClean="0"/>
              <a:t>)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-. </a:t>
            </a:r>
            <a:r>
              <a:rPr lang="ko-KR" altLang="en-US" sz="1200" dirty="0" err="1" smtClean="0"/>
              <a:t>정산반환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보조사업자가 사업수행 종료 후 잔액 및 </a:t>
            </a:r>
            <a:r>
              <a:rPr lang="ko-KR" altLang="en-US" sz="1200" dirty="0" err="1" smtClean="0"/>
              <a:t>이자금액을</a:t>
            </a:r>
            <a:r>
              <a:rPr lang="ko-KR" altLang="en-US" sz="1200" dirty="0" smtClean="0"/>
              <a:t> 보탬</a:t>
            </a:r>
            <a:r>
              <a:rPr lang="en-US" altLang="ko-KR" sz="1200" dirty="0" smtClean="0"/>
              <a:t>e </a:t>
            </a:r>
            <a:r>
              <a:rPr lang="ko-KR" altLang="en-US" sz="1200" dirty="0" smtClean="0"/>
              <a:t>로 반환하는 경우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            </a:t>
            </a:r>
            <a:r>
              <a:rPr lang="ko-KR" altLang="en-US" sz="1200" dirty="0"/>
              <a:t>보탬</a:t>
            </a:r>
            <a:r>
              <a:rPr lang="en-US" altLang="ko-KR" sz="1200" dirty="0"/>
              <a:t>e </a:t>
            </a:r>
            <a:r>
              <a:rPr lang="ko-KR" altLang="en-US" sz="1200" dirty="0"/>
              <a:t>시스템을 통해 </a:t>
            </a:r>
            <a:r>
              <a:rPr lang="ko-KR" altLang="en-US" sz="1200" dirty="0" err="1" smtClean="0"/>
              <a:t>반환이체</a:t>
            </a:r>
            <a:r>
              <a:rPr lang="ko-KR" altLang="en-US" sz="1200" dirty="0" smtClean="0"/>
              <a:t> </a:t>
            </a:r>
            <a:r>
              <a:rPr lang="ko-KR" altLang="en-US" sz="1200" dirty="0"/>
              <a:t>하면 </a:t>
            </a:r>
            <a:r>
              <a:rPr lang="ko-KR" altLang="en-US" sz="1200" dirty="0" err="1" smtClean="0"/>
              <a:t>자부담</a:t>
            </a:r>
            <a:r>
              <a:rPr lang="ko-KR" altLang="en-US" sz="1200" dirty="0" smtClean="0"/>
              <a:t> </a:t>
            </a:r>
            <a:r>
              <a:rPr lang="ko-KR" altLang="en-US" sz="1200" dirty="0"/>
              <a:t>계좌에서 보탬</a:t>
            </a:r>
            <a:r>
              <a:rPr lang="en-US" altLang="ko-KR" sz="1200" dirty="0"/>
              <a:t>e </a:t>
            </a:r>
            <a:r>
              <a:rPr lang="ko-KR" altLang="en-US" sz="1200" dirty="0"/>
              <a:t>계좌로 입금됨</a:t>
            </a:r>
            <a:endParaRPr lang="en-US" altLang="ko-KR" sz="1200" dirty="0"/>
          </a:p>
          <a:p>
            <a:r>
              <a:rPr lang="en-US" altLang="ko-KR" sz="1200" dirty="0"/>
              <a:t>                    </a:t>
            </a:r>
            <a:r>
              <a:rPr lang="en-US" altLang="ko-KR" sz="1200" dirty="0" smtClean="0"/>
              <a:t>(</a:t>
            </a:r>
            <a:r>
              <a:rPr lang="ko-KR" altLang="en-US" sz="1200" dirty="0"/>
              <a:t>보탬</a:t>
            </a:r>
            <a:r>
              <a:rPr lang="en-US" altLang="ko-KR" sz="1200" dirty="0"/>
              <a:t>e </a:t>
            </a:r>
            <a:r>
              <a:rPr lang="ko-KR" altLang="en-US" sz="1200" dirty="0"/>
              <a:t>를 통해 입금하기 때문에 어느 보조사업자가 입금하는 것인지 </a:t>
            </a:r>
            <a:r>
              <a:rPr lang="ko-KR" altLang="en-US" sz="1200" dirty="0" err="1"/>
              <a:t>연계정보가</a:t>
            </a:r>
            <a:r>
              <a:rPr lang="ko-KR" altLang="en-US" sz="1200" dirty="0"/>
              <a:t> 있음</a:t>
            </a:r>
            <a:r>
              <a:rPr lang="en-US" altLang="ko-KR" sz="1200" dirty="0"/>
              <a:t>)</a:t>
            </a:r>
          </a:p>
          <a:p>
            <a:endParaRPr lang="en-US" altLang="ko-KR" sz="1200" dirty="0" smtClean="0"/>
          </a:p>
          <a:p>
            <a:r>
              <a:rPr lang="en-US" altLang="ko-KR" sz="1200" dirty="0" smtClean="0"/>
              <a:t>2. </a:t>
            </a:r>
            <a:r>
              <a:rPr lang="ko-KR" altLang="en-US" sz="1200" dirty="0" smtClean="0"/>
              <a:t>가수금 이란</a:t>
            </a:r>
            <a:r>
              <a:rPr lang="en-US" altLang="ko-KR" sz="1200" dirty="0" smtClean="0"/>
              <a:t>?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-. </a:t>
            </a:r>
            <a:r>
              <a:rPr lang="ko-KR" altLang="en-US" sz="1200" dirty="0" smtClean="0"/>
              <a:t>보탬</a:t>
            </a:r>
            <a:r>
              <a:rPr lang="en-US" altLang="ko-KR" sz="1200" dirty="0" smtClean="0"/>
              <a:t>e </a:t>
            </a:r>
            <a:r>
              <a:rPr lang="ko-KR" altLang="en-US" sz="1200" dirty="0" smtClean="0"/>
              <a:t>계좌로 입금된 금액은 있는데 누가 무슨 용도로 입금하였는지 알 수 없는 금액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-. </a:t>
            </a:r>
            <a:r>
              <a:rPr lang="ko-KR" altLang="en-US" sz="1200" dirty="0" smtClean="0"/>
              <a:t>보조사업자가 </a:t>
            </a:r>
            <a:r>
              <a:rPr lang="ko-KR" altLang="en-US" sz="1200" dirty="0" err="1" smtClean="0"/>
              <a:t>집행취소</a:t>
            </a:r>
            <a:r>
              <a:rPr lang="ko-KR" altLang="en-US" sz="1200" dirty="0" smtClean="0"/>
              <a:t> 또는 </a:t>
            </a:r>
            <a:r>
              <a:rPr lang="ko-KR" altLang="en-US" sz="1200" dirty="0" err="1" smtClean="0"/>
              <a:t>정산반환을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할때</a:t>
            </a:r>
            <a:r>
              <a:rPr lang="ko-KR" altLang="en-US" sz="1200" dirty="0" smtClean="0"/>
              <a:t> 보탬</a:t>
            </a:r>
            <a:r>
              <a:rPr lang="en-US" altLang="ko-KR" sz="1200" dirty="0" smtClean="0"/>
              <a:t>e </a:t>
            </a:r>
            <a:r>
              <a:rPr lang="ko-KR" altLang="en-US" sz="1200" dirty="0" smtClean="0"/>
              <a:t>를 통하지 않고 입금하면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</a:t>
            </a:r>
            <a:r>
              <a:rPr lang="ko-KR" altLang="en-US" sz="1200" dirty="0" smtClean="0"/>
              <a:t>누가 무슨 용도로 입금하였는지 연결 정보가 없기 때문에 가수금으로 처리됨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-. </a:t>
            </a:r>
            <a:r>
              <a:rPr lang="ko-KR" altLang="en-US" sz="1200" dirty="0" smtClean="0"/>
              <a:t>보조금 </a:t>
            </a:r>
            <a:r>
              <a:rPr lang="ko-KR" altLang="en-US" sz="1200" dirty="0" err="1" smtClean="0"/>
              <a:t>교부시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e</a:t>
            </a:r>
            <a:r>
              <a:rPr lang="ko-KR" altLang="en-US" sz="1200" dirty="0" smtClean="0"/>
              <a:t>호조에서 </a:t>
            </a:r>
            <a:r>
              <a:rPr lang="ko-KR" altLang="en-US" sz="1200" dirty="0" err="1" smtClean="0"/>
              <a:t>연계지출로</a:t>
            </a:r>
            <a:r>
              <a:rPr lang="ko-KR" altLang="en-US" sz="1200" dirty="0" smtClean="0"/>
              <a:t> 처리 하지 </a:t>
            </a:r>
            <a:r>
              <a:rPr lang="ko-KR" altLang="en-US" sz="1200" dirty="0" err="1" smtClean="0"/>
              <a:t>않는등</a:t>
            </a:r>
            <a:r>
              <a:rPr lang="ko-KR" altLang="en-US" sz="1200" dirty="0" smtClean="0"/>
              <a:t> 정상적인 방식이 아닌 방법으로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</a:t>
            </a:r>
            <a:r>
              <a:rPr lang="ko-KR" altLang="en-US" sz="1200" dirty="0" smtClean="0"/>
              <a:t>보탬</a:t>
            </a:r>
            <a:r>
              <a:rPr lang="en-US" altLang="ko-KR" sz="1200" dirty="0" smtClean="0"/>
              <a:t>e </a:t>
            </a:r>
            <a:r>
              <a:rPr lang="ko-KR" altLang="en-US" sz="1200" dirty="0" err="1" smtClean="0"/>
              <a:t>전용계좌</a:t>
            </a:r>
            <a:r>
              <a:rPr lang="en-US" altLang="ko-KR" sz="1200" dirty="0" smtClean="0"/>
              <a:t>(</a:t>
            </a:r>
            <a:r>
              <a:rPr lang="ko-KR" altLang="en-US" sz="1200" dirty="0" err="1" smtClean="0"/>
              <a:t>예치계좌</a:t>
            </a:r>
            <a:r>
              <a:rPr lang="en-US" altLang="ko-KR" sz="1200" dirty="0" smtClean="0"/>
              <a:t>) </a:t>
            </a:r>
            <a:r>
              <a:rPr lang="ko-KR" altLang="en-US" sz="1200" dirty="0" smtClean="0"/>
              <a:t>로 입금하는 경우 </a:t>
            </a:r>
            <a:r>
              <a:rPr lang="ko-KR" altLang="en-US" sz="1200" dirty="0"/>
              <a:t>누가 무슨 용도로 입금하였는지 연결 정보가 없기 때문에 가수금으로 처리됨</a:t>
            </a:r>
            <a:r>
              <a:rPr lang="en-US" altLang="ko-KR" sz="1200" dirty="0" smtClean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 smtClean="0"/>
              <a:t>3. </a:t>
            </a:r>
            <a:r>
              <a:rPr lang="ko-KR" altLang="en-US" sz="1200" dirty="0" smtClean="0"/>
              <a:t>가수금 처리방법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-. </a:t>
            </a:r>
            <a:r>
              <a:rPr lang="ko-KR" altLang="en-US" sz="1200" dirty="0" smtClean="0"/>
              <a:t>우선 누가 </a:t>
            </a:r>
            <a:r>
              <a:rPr lang="ko-KR" altLang="en-US" sz="1200" dirty="0" err="1" smtClean="0"/>
              <a:t>입금하였는지를</a:t>
            </a:r>
            <a:r>
              <a:rPr lang="ko-KR" altLang="en-US" sz="1200" dirty="0" smtClean="0"/>
              <a:t> 알아야 함</a:t>
            </a:r>
            <a:r>
              <a:rPr lang="en-US" altLang="ko-KR" sz="1200" dirty="0" smtClean="0"/>
              <a:t>. 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</a:t>
            </a:r>
            <a:r>
              <a:rPr lang="ko-KR" altLang="en-US" sz="1200" dirty="0" smtClean="0"/>
              <a:t>누가 입금하였는지 알 수가 없는 경우 되돌려 줘야 하는데 누구에게 돌려줘야 하는지 알지 못하면 처리할 수 없음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-. </a:t>
            </a:r>
            <a:r>
              <a:rPr lang="ko-KR" altLang="en-US" sz="1200" dirty="0" smtClean="0"/>
              <a:t>누가 무슨 용도로 잘못 입금한 내용을 </a:t>
            </a:r>
            <a:r>
              <a:rPr lang="ko-KR" altLang="en-US" sz="1200" dirty="0" err="1" smtClean="0"/>
              <a:t>알게되면</a:t>
            </a:r>
            <a:r>
              <a:rPr lang="ko-KR" altLang="en-US" sz="1200" dirty="0" smtClean="0"/>
              <a:t> 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</a:t>
            </a:r>
            <a:r>
              <a:rPr lang="ko-KR" altLang="en-US" sz="1200" dirty="0" smtClean="0"/>
              <a:t>관리자 출금 기능을 이용하여 잘못 입금된 가수금을 되돌려 줘야 함</a:t>
            </a:r>
            <a:r>
              <a:rPr lang="en-US" altLang="ko-KR" sz="1200" dirty="0" smtClean="0"/>
              <a:t>. 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11894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가수금 이란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6764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195245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가수금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입금내역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조회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920507" y="1263405"/>
            <a:ext cx="318767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/>
              <a:t>1</a:t>
            </a:r>
            <a:r>
              <a:rPr lang="en-US" altLang="ko-KR" sz="1000" dirty="0" smtClean="0"/>
              <a:t>) </a:t>
            </a:r>
            <a:r>
              <a:rPr lang="ko-KR" altLang="en-US" sz="1000" dirty="0" smtClean="0"/>
              <a:t>계정입금내역 조회 </a:t>
            </a:r>
            <a:r>
              <a:rPr lang="en-US" altLang="ko-KR" sz="1000" dirty="0" smtClean="0"/>
              <a:t>(93068)</a:t>
            </a:r>
            <a:endParaRPr lang="en-US" altLang="ko-KR" sz="1000" dirty="0"/>
          </a:p>
          <a:p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2) </a:t>
            </a:r>
            <a:r>
              <a:rPr lang="ko-KR" altLang="en-US" sz="1000" dirty="0" err="1" smtClean="0">
                <a:latin typeface="+mn-ea"/>
              </a:rPr>
              <a:t>조회조건의</a:t>
            </a:r>
            <a:r>
              <a:rPr lang="ko-KR" altLang="en-US" sz="1000" dirty="0" smtClean="0">
                <a:latin typeface="+mn-ea"/>
              </a:rPr>
              <a:t> </a:t>
            </a:r>
            <a:r>
              <a:rPr lang="ko-KR" altLang="en-US" sz="1000" dirty="0" err="1" smtClean="0">
                <a:latin typeface="+mn-ea"/>
              </a:rPr>
              <a:t>계정구분을</a:t>
            </a:r>
            <a:r>
              <a:rPr lang="en-US" altLang="ko-KR" sz="1000" dirty="0" smtClean="0">
                <a:latin typeface="+mn-ea"/>
              </a:rPr>
              <a:t> ‘</a:t>
            </a:r>
            <a:r>
              <a:rPr lang="ko-KR" altLang="en-US" sz="1000" dirty="0" smtClean="0">
                <a:latin typeface="+mn-ea"/>
              </a:rPr>
              <a:t>가수금 계정</a:t>
            </a:r>
            <a:r>
              <a:rPr lang="en-US" altLang="ko-KR" sz="1000" dirty="0" smtClean="0">
                <a:latin typeface="+mn-ea"/>
              </a:rPr>
              <a:t>’ </a:t>
            </a:r>
            <a:r>
              <a:rPr lang="ko-KR" altLang="en-US" sz="1000" dirty="0" smtClean="0">
                <a:latin typeface="+mn-ea"/>
              </a:rPr>
              <a:t>으로 선택① </a:t>
            </a:r>
            <a:endParaRPr lang="en-US" altLang="ko-KR" sz="1000" dirty="0" smtClean="0">
              <a:latin typeface="+mn-ea"/>
            </a:endParaRPr>
          </a:p>
          <a:p>
            <a:r>
              <a:rPr lang="en-US" altLang="ko-KR" sz="1000" dirty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  </a:t>
            </a:r>
            <a:r>
              <a:rPr lang="ko-KR" altLang="en-US" sz="1000" dirty="0" smtClean="0">
                <a:latin typeface="+mn-ea"/>
              </a:rPr>
              <a:t>후  </a:t>
            </a:r>
            <a:r>
              <a:rPr lang="ko-KR" altLang="en-US" sz="1000" dirty="0" err="1" smtClean="0">
                <a:latin typeface="+mn-ea"/>
              </a:rPr>
              <a:t>조회버튼</a:t>
            </a:r>
            <a:r>
              <a:rPr lang="ko-KR" altLang="en-US" sz="1000" dirty="0" smtClean="0">
                <a:latin typeface="+mn-ea"/>
              </a:rPr>
              <a:t> 클릭</a:t>
            </a:r>
            <a:endParaRPr lang="en-US" altLang="ko-KR" sz="1000" dirty="0" smtClean="0">
              <a:latin typeface="+mn-ea"/>
            </a:endParaRPr>
          </a:p>
          <a:p>
            <a:r>
              <a:rPr lang="en-US" altLang="ko-KR" sz="1000" dirty="0"/>
              <a:t>	</a:t>
            </a:r>
          </a:p>
          <a:p>
            <a:r>
              <a:rPr lang="en-US" altLang="ko-KR" sz="1000" dirty="0" smtClean="0"/>
              <a:t>3) </a:t>
            </a:r>
            <a:r>
              <a:rPr lang="ko-KR" altLang="en-US" sz="1000" dirty="0" smtClean="0"/>
              <a:t>조회된 가수금 내역의 </a:t>
            </a:r>
            <a:r>
              <a:rPr lang="ko-KR" altLang="en-US" sz="1000" dirty="0" err="1" smtClean="0"/>
              <a:t>거래적요</a:t>
            </a:r>
            <a:r>
              <a:rPr lang="ko-KR" altLang="en-US" sz="1000" dirty="0" smtClean="0"/>
              <a:t> 확인 ②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-. </a:t>
            </a:r>
            <a:r>
              <a:rPr lang="ko-KR" altLang="en-US" sz="1000" dirty="0" err="1" smtClean="0"/>
              <a:t>거래적요를</a:t>
            </a:r>
            <a:r>
              <a:rPr lang="ko-KR" altLang="en-US" sz="1000" dirty="0" smtClean="0"/>
              <a:t> 이용하여 누가 입금한 것인지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  </a:t>
            </a:r>
            <a:r>
              <a:rPr lang="ko-KR" altLang="en-US" sz="1000" dirty="0" smtClean="0"/>
              <a:t>확인할 수 있어야 함</a:t>
            </a:r>
            <a:r>
              <a:rPr lang="en-US" altLang="ko-KR" sz="1000" dirty="0" smtClean="0"/>
              <a:t> </a:t>
            </a:r>
            <a:endParaRPr lang="en-US" altLang="ko-KR" sz="10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38" y="765571"/>
            <a:ext cx="8218120" cy="551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51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148117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관리자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출금요청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920507" y="1263405"/>
            <a:ext cx="318767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/>
              <a:t>1</a:t>
            </a:r>
            <a:r>
              <a:rPr lang="en-US" altLang="ko-KR" sz="1000" dirty="0" smtClean="0"/>
              <a:t>) </a:t>
            </a:r>
            <a:r>
              <a:rPr lang="ko-KR" altLang="en-US" sz="1000" dirty="0" smtClean="0"/>
              <a:t>가수금이 누가 </a:t>
            </a:r>
            <a:r>
              <a:rPr lang="ko-KR" altLang="en-US" sz="1000" dirty="0" err="1" smtClean="0"/>
              <a:t>잘못입금한</a:t>
            </a:r>
            <a:r>
              <a:rPr lang="ko-KR" altLang="en-US" sz="1000" dirty="0" smtClean="0"/>
              <a:t> 내역인지 확인되면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</a:t>
            </a:r>
            <a:r>
              <a:rPr lang="ko-KR" altLang="en-US" sz="1000" dirty="0" smtClean="0"/>
              <a:t>관리자 </a:t>
            </a:r>
            <a:r>
              <a:rPr lang="ko-KR" altLang="en-US" sz="1000" dirty="0" err="1" smtClean="0"/>
              <a:t>출금기능을</a:t>
            </a:r>
            <a:r>
              <a:rPr lang="ko-KR" altLang="en-US" sz="1000" dirty="0" smtClean="0"/>
              <a:t> 이용하여 되돌려 주어야 함</a:t>
            </a:r>
            <a:r>
              <a:rPr lang="en-US" altLang="ko-KR" sz="1000" dirty="0" smtClean="0"/>
              <a:t>.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2) </a:t>
            </a:r>
            <a:r>
              <a:rPr lang="ko-KR" altLang="en-US" sz="1000" dirty="0" err="1" smtClean="0">
                <a:latin typeface="+mn-ea"/>
              </a:rPr>
              <a:t>출금처리할</a:t>
            </a:r>
            <a:r>
              <a:rPr lang="ko-KR" altLang="en-US" sz="1000" dirty="0" smtClean="0">
                <a:latin typeface="+mn-ea"/>
              </a:rPr>
              <a:t> 가수금 내역을 선택 ①</a:t>
            </a:r>
            <a:endParaRPr lang="en-US" altLang="ko-KR" sz="1000" dirty="0" smtClean="0">
              <a:latin typeface="+mn-ea"/>
            </a:endParaRPr>
          </a:p>
          <a:p>
            <a:r>
              <a:rPr lang="en-US" altLang="ko-KR" sz="1000" dirty="0"/>
              <a:t>	</a:t>
            </a:r>
          </a:p>
          <a:p>
            <a:r>
              <a:rPr lang="en-US" altLang="ko-KR" sz="1000" dirty="0" smtClean="0"/>
              <a:t>3) </a:t>
            </a:r>
            <a:r>
              <a:rPr lang="ko-KR" altLang="en-US" sz="1000" dirty="0" smtClean="0"/>
              <a:t>관리자 </a:t>
            </a:r>
            <a:r>
              <a:rPr lang="ko-KR" altLang="en-US" sz="1000" dirty="0" err="1" smtClean="0"/>
              <a:t>출금요청</a:t>
            </a:r>
            <a:r>
              <a:rPr lang="ko-KR" altLang="en-US" sz="1000" dirty="0" smtClean="0"/>
              <a:t> 버튼 클릭 ②</a:t>
            </a:r>
            <a:endParaRPr lang="en-US" altLang="ko-KR" sz="1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38" y="765571"/>
            <a:ext cx="8218120" cy="551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366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148117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관리자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출금요청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920507" y="1263405"/>
            <a:ext cx="318767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/>
              <a:t>1</a:t>
            </a:r>
            <a:r>
              <a:rPr lang="en-US" altLang="ko-KR" sz="1000" dirty="0" smtClean="0"/>
              <a:t>) </a:t>
            </a:r>
            <a:r>
              <a:rPr lang="ko-KR" altLang="en-US" sz="1000" dirty="0" smtClean="0"/>
              <a:t>되돌려 줘야할 </a:t>
            </a:r>
            <a:r>
              <a:rPr lang="ko-KR" altLang="en-US" sz="1000" dirty="0" err="1" smtClean="0"/>
              <a:t>입금정보를</a:t>
            </a:r>
            <a:r>
              <a:rPr lang="ko-KR" altLang="en-US" sz="1000" dirty="0" smtClean="0"/>
              <a:t> 입력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2) </a:t>
            </a:r>
            <a:r>
              <a:rPr lang="ko-KR" altLang="en-US" sz="1000" dirty="0" err="1" smtClean="0">
                <a:latin typeface="+mn-ea"/>
              </a:rPr>
              <a:t>입금은행</a:t>
            </a:r>
            <a:r>
              <a:rPr lang="ko-KR" altLang="en-US" sz="1000" dirty="0" smtClean="0">
                <a:latin typeface="+mn-ea"/>
              </a:rPr>
              <a:t> 및 입금계좌번호 입력 ①</a:t>
            </a:r>
            <a:endParaRPr lang="en-US" altLang="ko-KR" sz="1000" dirty="0" smtClean="0">
              <a:latin typeface="+mn-ea"/>
            </a:endParaRPr>
          </a:p>
          <a:p>
            <a:r>
              <a:rPr lang="en-US" altLang="ko-KR" sz="1000" dirty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  -. </a:t>
            </a:r>
            <a:r>
              <a:rPr lang="ko-KR" altLang="en-US" sz="1000" dirty="0" smtClean="0">
                <a:latin typeface="+mn-ea"/>
              </a:rPr>
              <a:t>계좌번호 등록 후 예금주 </a:t>
            </a:r>
            <a:r>
              <a:rPr lang="ko-KR" altLang="en-US" sz="1000" dirty="0" err="1" smtClean="0">
                <a:latin typeface="+mn-ea"/>
              </a:rPr>
              <a:t>조회버튼을</a:t>
            </a:r>
            <a:r>
              <a:rPr lang="ko-KR" altLang="en-US" sz="1000" dirty="0" smtClean="0">
                <a:latin typeface="+mn-ea"/>
              </a:rPr>
              <a:t> 통해</a:t>
            </a:r>
            <a:endParaRPr lang="en-US" altLang="ko-KR" sz="1000" dirty="0" smtClean="0">
              <a:latin typeface="+mn-ea"/>
            </a:endParaRPr>
          </a:p>
          <a:p>
            <a:r>
              <a:rPr lang="en-US" altLang="ko-KR" sz="1000" dirty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     </a:t>
            </a:r>
            <a:r>
              <a:rPr lang="ko-KR" altLang="en-US" sz="1000" dirty="0" smtClean="0">
                <a:latin typeface="+mn-ea"/>
              </a:rPr>
              <a:t>계좌번호 </a:t>
            </a:r>
            <a:r>
              <a:rPr lang="ko-KR" altLang="en-US" sz="1000" dirty="0" err="1" smtClean="0">
                <a:latin typeface="+mn-ea"/>
              </a:rPr>
              <a:t>오입력</a:t>
            </a:r>
            <a:r>
              <a:rPr lang="ko-KR" altLang="en-US" sz="1000" dirty="0" smtClean="0">
                <a:latin typeface="+mn-ea"/>
              </a:rPr>
              <a:t> 여부를 확인</a:t>
            </a:r>
            <a:endParaRPr lang="en-US" altLang="ko-KR" sz="1000" dirty="0" smtClean="0">
              <a:latin typeface="+mn-ea"/>
            </a:endParaRPr>
          </a:p>
          <a:p>
            <a:r>
              <a:rPr lang="en-US" altLang="ko-KR" sz="1000" dirty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  -. </a:t>
            </a:r>
            <a:r>
              <a:rPr lang="ko-KR" altLang="en-US" sz="1000" dirty="0" err="1" smtClean="0">
                <a:latin typeface="+mn-ea"/>
              </a:rPr>
              <a:t>거래사유</a:t>
            </a:r>
            <a:r>
              <a:rPr lang="ko-KR" altLang="en-US" sz="1000" dirty="0" smtClean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: </a:t>
            </a:r>
            <a:r>
              <a:rPr lang="ko-KR" altLang="en-US" sz="1000" dirty="0" err="1" smtClean="0">
                <a:latin typeface="+mn-ea"/>
              </a:rPr>
              <a:t>오입금</a:t>
            </a:r>
            <a:r>
              <a:rPr lang="ko-KR" altLang="en-US" sz="1000" dirty="0" smtClean="0">
                <a:latin typeface="+mn-ea"/>
              </a:rPr>
              <a:t> 내용을 기재</a:t>
            </a:r>
            <a:r>
              <a:rPr lang="en-US" altLang="ko-KR" sz="1000" dirty="0" smtClean="0">
                <a:latin typeface="+mn-ea"/>
              </a:rPr>
              <a:t>.</a:t>
            </a:r>
          </a:p>
          <a:p>
            <a:r>
              <a:rPr lang="en-US" altLang="ko-KR" sz="1000" dirty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     (</a:t>
            </a:r>
            <a:r>
              <a:rPr lang="ko-KR" altLang="en-US" sz="1000" dirty="0" smtClean="0">
                <a:latin typeface="+mn-ea"/>
              </a:rPr>
              <a:t>예</a:t>
            </a:r>
            <a:r>
              <a:rPr lang="en-US" altLang="ko-KR" sz="1000" dirty="0" smtClean="0">
                <a:latin typeface="+mn-ea"/>
              </a:rPr>
              <a:t>, </a:t>
            </a:r>
            <a:r>
              <a:rPr lang="ko-KR" altLang="en-US" sz="1000" dirty="0" err="1" smtClean="0">
                <a:latin typeface="+mn-ea"/>
              </a:rPr>
              <a:t>보조사업자</a:t>
            </a:r>
            <a:r>
              <a:rPr lang="ko-KR" altLang="en-US" sz="1000" dirty="0" smtClean="0">
                <a:latin typeface="+mn-ea"/>
              </a:rPr>
              <a:t> </a:t>
            </a:r>
            <a:r>
              <a:rPr lang="ko-KR" altLang="en-US" sz="1000" dirty="0" err="1" smtClean="0">
                <a:latin typeface="+mn-ea"/>
              </a:rPr>
              <a:t>오입금으로</a:t>
            </a:r>
            <a:r>
              <a:rPr lang="ko-KR" altLang="en-US" sz="1000" dirty="0" smtClean="0">
                <a:latin typeface="+mn-ea"/>
              </a:rPr>
              <a:t> 인한 </a:t>
            </a:r>
            <a:r>
              <a:rPr lang="ko-KR" altLang="en-US" sz="1000" dirty="0" err="1" smtClean="0">
                <a:latin typeface="+mn-ea"/>
              </a:rPr>
              <a:t>반환처리</a:t>
            </a:r>
            <a:r>
              <a:rPr lang="en-US" altLang="ko-KR" sz="1000" dirty="0" smtClean="0">
                <a:latin typeface="+mn-ea"/>
              </a:rPr>
              <a:t>)</a:t>
            </a:r>
          </a:p>
          <a:p>
            <a:r>
              <a:rPr lang="en-US" altLang="ko-KR" sz="1000" dirty="0"/>
              <a:t>	</a:t>
            </a:r>
          </a:p>
          <a:p>
            <a:r>
              <a:rPr lang="en-US" altLang="ko-KR" sz="1000" dirty="0" smtClean="0"/>
              <a:t>3) </a:t>
            </a:r>
            <a:r>
              <a:rPr lang="ko-KR" altLang="en-US" sz="1000" dirty="0" smtClean="0"/>
              <a:t>관리자 </a:t>
            </a:r>
            <a:r>
              <a:rPr lang="ko-KR" altLang="en-US" sz="1000" dirty="0" err="1" smtClean="0"/>
              <a:t>출금요청</a:t>
            </a:r>
            <a:r>
              <a:rPr lang="ko-KR" altLang="en-US" sz="1000" dirty="0" smtClean="0"/>
              <a:t> 버튼 클릭 ②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-. </a:t>
            </a:r>
            <a:r>
              <a:rPr lang="ko-KR" altLang="en-US" sz="1000" dirty="0" smtClean="0"/>
              <a:t>관리자 출금에 대한 </a:t>
            </a:r>
            <a:r>
              <a:rPr lang="ko-KR" altLang="en-US" sz="1000" dirty="0" err="1" smtClean="0"/>
              <a:t>결재관리</a:t>
            </a:r>
            <a:r>
              <a:rPr lang="ko-KR" altLang="en-US" sz="1000" dirty="0" smtClean="0"/>
              <a:t> 화면으로 이동</a:t>
            </a:r>
            <a:r>
              <a:rPr lang="en-US" altLang="ko-KR" sz="1000" dirty="0" smtClean="0"/>
              <a:t>.</a:t>
            </a:r>
            <a:endParaRPr lang="en-US" altLang="ko-KR" sz="1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38" y="743092"/>
            <a:ext cx="8199831" cy="550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115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148117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관리자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출금이체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920507" y="1263405"/>
            <a:ext cx="3187673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/>
              <a:t>1</a:t>
            </a:r>
            <a:r>
              <a:rPr lang="en-US" altLang="ko-KR" sz="1000" dirty="0" smtClean="0"/>
              <a:t>) </a:t>
            </a:r>
            <a:r>
              <a:rPr lang="ko-KR" altLang="en-US" sz="1000" dirty="0" smtClean="0"/>
              <a:t>관리자 </a:t>
            </a:r>
            <a:r>
              <a:rPr lang="ko-KR" altLang="en-US" sz="1000" dirty="0" err="1" smtClean="0"/>
              <a:t>출금결재</a:t>
            </a:r>
            <a:r>
              <a:rPr lang="ko-KR" altLang="en-US" sz="1000" dirty="0" smtClean="0"/>
              <a:t> 화면에서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</a:t>
            </a:r>
            <a:r>
              <a:rPr lang="ko-KR" altLang="en-US" sz="1000" dirty="0" smtClean="0"/>
              <a:t>관리자 </a:t>
            </a:r>
            <a:r>
              <a:rPr lang="ko-KR" altLang="en-US" sz="1000" dirty="0" err="1" smtClean="0"/>
              <a:t>출금요청에</a:t>
            </a:r>
            <a:r>
              <a:rPr lang="ko-KR" altLang="en-US" sz="1000" dirty="0" smtClean="0"/>
              <a:t> 대한 내역을 선택 후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</a:t>
            </a:r>
            <a:r>
              <a:rPr lang="ko-KR" altLang="en-US" sz="1000" dirty="0" smtClean="0"/>
              <a:t>전자결재 처리 ①</a:t>
            </a:r>
            <a:endParaRPr lang="en-US" altLang="ko-KR" sz="1000" dirty="0" smtClean="0"/>
          </a:p>
          <a:p>
            <a:r>
              <a:rPr lang="en-US" altLang="ko-KR" sz="1000" dirty="0" smtClean="0"/>
              <a:t>   -. </a:t>
            </a:r>
            <a:r>
              <a:rPr lang="ko-KR" altLang="en-US" sz="1000" dirty="0" err="1" smtClean="0"/>
              <a:t>오입금에</a:t>
            </a:r>
            <a:r>
              <a:rPr lang="ko-KR" altLang="en-US" sz="1000" dirty="0" smtClean="0"/>
              <a:t> 대한 </a:t>
            </a:r>
            <a:r>
              <a:rPr lang="ko-KR" altLang="en-US" sz="1000" dirty="0" err="1" smtClean="0"/>
              <a:t>반환처리</a:t>
            </a:r>
            <a:r>
              <a:rPr lang="ko-KR" altLang="en-US" sz="1000" dirty="0" smtClean="0"/>
              <a:t> 이지만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  </a:t>
            </a:r>
            <a:r>
              <a:rPr lang="ko-KR" altLang="en-US" sz="1000" dirty="0" smtClean="0"/>
              <a:t>지자체 명의의 계좌에서 출금하는 내용이기에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  </a:t>
            </a:r>
            <a:r>
              <a:rPr lang="ko-KR" altLang="en-US" sz="1000" dirty="0" smtClean="0"/>
              <a:t>결재를 받아야 함</a:t>
            </a:r>
            <a:r>
              <a:rPr lang="en-US" altLang="ko-KR" sz="1000" dirty="0" smtClean="0"/>
              <a:t>.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2) </a:t>
            </a:r>
            <a:r>
              <a:rPr lang="en-US" altLang="ko-KR" sz="1000" dirty="0" smtClean="0"/>
              <a:t> </a:t>
            </a:r>
            <a:r>
              <a:rPr lang="ko-KR" altLang="en-US" sz="1000" dirty="0" err="1" smtClean="0"/>
              <a:t>결재상태가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‘</a:t>
            </a:r>
            <a:r>
              <a:rPr lang="ko-KR" altLang="en-US" sz="1000" dirty="0" smtClean="0"/>
              <a:t>결재완료</a:t>
            </a:r>
            <a:r>
              <a:rPr lang="en-US" altLang="ko-KR" sz="1000" dirty="0" smtClean="0"/>
              <a:t>‘  </a:t>
            </a:r>
            <a:r>
              <a:rPr lang="ko-KR" altLang="en-US" sz="1000" dirty="0" smtClean="0"/>
              <a:t>②  인 경우에만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ko-KR" altLang="en-US" sz="1000" dirty="0" smtClean="0"/>
              <a:t>이체가 가능함</a:t>
            </a:r>
            <a:r>
              <a:rPr lang="en-US" altLang="ko-KR" sz="1000" dirty="0" smtClean="0"/>
              <a:t>.</a:t>
            </a:r>
          </a:p>
          <a:p>
            <a:endParaRPr lang="en-US" altLang="ko-KR" sz="1000" dirty="0"/>
          </a:p>
          <a:p>
            <a:r>
              <a:rPr lang="en-US" altLang="ko-KR" sz="1000" dirty="0" smtClean="0"/>
              <a:t>3) </a:t>
            </a:r>
            <a:r>
              <a:rPr lang="ko-KR" altLang="en-US" sz="1000" dirty="0" smtClean="0"/>
              <a:t>관리자 </a:t>
            </a:r>
            <a:r>
              <a:rPr lang="ko-KR" altLang="en-US" sz="1000" dirty="0" err="1" smtClean="0"/>
              <a:t>이체실행</a:t>
            </a:r>
            <a:r>
              <a:rPr lang="ko-KR" altLang="en-US" sz="1000" dirty="0" smtClean="0"/>
              <a:t> ③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-. </a:t>
            </a:r>
            <a:r>
              <a:rPr lang="ko-KR" altLang="en-US" sz="1000" dirty="0" smtClean="0"/>
              <a:t>관리자 </a:t>
            </a:r>
            <a:r>
              <a:rPr lang="ko-KR" altLang="en-US" sz="1000" dirty="0" err="1" smtClean="0"/>
              <a:t>이체실행</a:t>
            </a:r>
            <a:r>
              <a:rPr lang="ko-KR" altLang="en-US" sz="1000" dirty="0" smtClean="0"/>
              <a:t> 버튼을 통해 </a:t>
            </a:r>
            <a:r>
              <a:rPr lang="ko-KR" altLang="en-US" sz="1000" dirty="0" err="1" smtClean="0"/>
              <a:t>이체실행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-. </a:t>
            </a:r>
            <a:r>
              <a:rPr lang="ko-KR" altLang="en-US" sz="1000" dirty="0" smtClean="0"/>
              <a:t>입금계좌번호로 이체 처리됨</a:t>
            </a:r>
            <a:r>
              <a:rPr lang="en-US" altLang="ko-KR" sz="1000" dirty="0" smtClean="0"/>
              <a:t>. </a:t>
            </a:r>
            <a:endParaRPr lang="en-US" altLang="ko-KR" sz="1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38" y="755665"/>
            <a:ext cx="8187638" cy="549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300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2221</TotalTime>
  <Words>478</Words>
  <Application>Microsoft Office PowerPoint</Application>
  <PresentationFormat>와이드스크린</PresentationFormat>
  <Paragraphs>72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KoPub돋움체 Bold</vt:lpstr>
      <vt:lpstr>KoPub돋움체 Light</vt:lpstr>
      <vt:lpstr>KoPub돋움체 Medium</vt:lpstr>
      <vt:lpstr>Rix모던고딕 EB</vt:lpstr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Metanet</cp:lastModifiedBy>
  <cp:revision>235</cp:revision>
  <dcterms:created xsi:type="dcterms:W3CDTF">2024-05-01T04:36:42Z</dcterms:created>
  <dcterms:modified xsi:type="dcterms:W3CDTF">2024-09-26T07:39:39Z</dcterms:modified>
</cp:coreProperties>
</file>
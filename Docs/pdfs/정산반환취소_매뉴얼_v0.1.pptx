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1" r:id="rId2"/>
    <p:sldId id="309" r:id="rId3"/>
    <p:sldId id="316" r:id="rId4"/>
    <p:sldId id="299" r:id="rId5"/>
    <p:sldId id="310" r:id="rId6"/>
    <p:sldId id="311" r:id="rId7"/>
    <p:sldId id="31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6357" autoAdjust="0"/>
  </p:normalViewPr>
  <p:slideViewPr>
    <p:cSldViewPr snapToGrid="0">
      <p:cViewPr varScale="1">
        <p:scale>
          <a:sx n="107" d="100"/>
          <a:sy n="107" d="100"/>
        </p:scale>
        <p:origin x="2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C3F37-9A56-49E4-9335-D88AD65C63E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21F4D-D6BA-4114-AD89-56C48743A3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109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0E805-45B6-4C5F-9678-2050CEC633B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42C9C-4669-4C86-A195-448ADE8E99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468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1187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6383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9185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8598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eaLnBrk="1" latinLnBrk="0" hangingPunct="1">
              <a:lnSpc>
                <a:spcPts val="1000"/>
              </a:lnSpc>
              <a:spcBef>
                <a:spcPts val="1200"/>
              </a:spcBef>
              <a:spcAft>
                <a:spcPts val="200"/>
              </a:spcAft>
              <a:buClr>
                <a:schemeClr val="bg1">
                  <a:lumMod val="75000"/>
                </a:schemeClr>
              </a:buClr>
              <a:tabLst>
                <a:tab pos="268288" algn="l"/>
              </a:tabLst>
              <a:defRPr/>
            </a:pPr>
            <a:endParaRPr lang="ko-KR" altLang="en-US" sz="1100" b="0" kern="1200">
              <a:solidFill>
                <a:schemeClr val="tx1"/>
              </a:solidFill>
              <a:latin typeface="KoPub돋움체 Light"/>
              <a:ea typeface="KoPub돋움체 Light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CFD458-384E-41D5-9F4E-C5A9375E21CD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0900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8058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235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9661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1391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1240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805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7872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8884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5920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6608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220C-7EDB-4925-88F5-72D283FB56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0453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1C161AD7-C609-4DCC-80C3-0D51F827EA92}"/>
              </a:ext>
            </a:extLst>
          </p:cNvPr>
          <p:cNvGrpSpPr/>
          <p:nvPr userDrawn="1"/>
        </p:nvGrpSpPr>
        <p:grpSpPr>
          <a:xfrm>
            <a:off x="335360" y="6407443"/>
            <a:ext cx="2481507" cy="331365"/>
            <a:chOff x="408700" y="643228"/>
            <a:chExt cx="3637191" cy="36060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C8C857F-307E-4B6A-ABC2-771156385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7394" y="643702"/>
              <a:ext cx="2128497" cy="297989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7AB6731-FBDC-4858-86F6-F4B4E0AB8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700" y="643228"/>
              <a:ext cx="1489864" cy="360605"/>
            </a:xfrm>
            <a:prstGeom prst="rect">
              <a:avLst/>
            </a:prstGeom>
          </p:spPr>
        </p:pic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8FB910C0-D315-4A96-B19A-3445A2A0806B}"/>
                </a:ext>
              </a:extLst>
            </p:cNvPr>
            <p:cNvCxnSpPr>
              <a:cxnSpLocks/>
            </p:cNvCxnSpPr>
            <p:nvPr/>
          </p:nvCxnSpPr>
          <p:spPr>
            <a:xfrm>
              <a:off x="1847927" y="735395"/>
              <a:ext cx="0" cy="1576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/>
          <p:cNvGrpSpPr/>
          <p:nvPr userDrawn="1"/>
        </p:nvGrpSpPr>
        <p:grpSpPr>
          <a:xfrm>
            <a:off x="535066" y="653528"/>
            <a:ext cx="11115159" cy="111179"/>
            <a:chOff x="561814" y="758710"/>
            <a:chExt cx="8853119" cy="111179"/>
          </a:xfrm>
        </p:grpSpPr>
        <p:sp>
          <p:nvSpPr>
            <p:cNvPr id="9" name="직각 삼각형 8"/>
            <p:cNvSpPr/>
            <p:nvPr userDrawn="1"/>
          </p:nvSpPr>
          <p:spPr>
            <a:xfrm flipH="1" flipV="1">
              <a:off x="7085286" y="761505"/>
              <a:ext cx="2266135" cy="108384"/>
            </a:xfrm>
            <a:prstGeom prst="rtTriangle">
              <a:avLst/>
            </a:prstGeom>
            <a:gradFill>
              <a:gsLst>
                <a:gs pos="0">
                  <a:schemeClr val="bg1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9720"/>
              <a:endParaRPr lang="ko-KR" altLang="en-US" sz="1240" dirty="0">
                <a:solidFill>
                  <a:prstClr val="white"/>
                </a:solidFill>
                <a:ea typeface="KoPub돋움체 Medium" panose="02020603020101020101" pitchFamily="18" charset="-127"/>
              </a:endParaRPr>
            </a:p>
          </p:txBody>
        </p:sp>
        <p:cxnSp>
          <p:nvCxnSpPr>
            <p:cNvPr id="12" name="직선 연결선 11"/>
            <p:cNvCxnSpPr/>
            <p:nvPr userDrawn="1"/>
          </p:nvCxnSpPr>
          <p:spPr>
            <a:xfrm>
              <a:off x="885243" y="758710"/>
              <a:ext cx="8529690" cy="0"/>
            </a:xfrm>
            <a:prstGeom prst="line">
              <a:avLst/>
            </a:prstGeom>
            <a:ln w="22225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 userDrawn="1"/>
          </p:nvCxnSpPr>
          <p:spPr>
            <a:xfrm>
              <a:off x="561814" y="758710"/>
              <a:ext cx="340758" cy="0"/>
            </a:xfrm>
            <a:prstGeom prst="line">
              <a:avLst/>
            </a:prstGeom>
            <a:ln w="25400" cap="rnd">
              <a:solidFill>
                <a:srgbClr val="0538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슬라이드 번호 개체 틀 18">
            <a:extLst>
              <a:ext uri="{FF2B5EF4-FFF2-40B4-BE49-F238E27FC236}">
                <a16:creationId xmlns:a16="http://schemas.microsoft.com/office/drawing/2014/main" id="{E040A672-9DFF-4728-9EA0-3B5C83ECE0B2}"/>
              </a:ext>
            </a:extLst>
          </p:cNvPr>
          <p:cNvSpPr txBox="1">
            <a:spLocks/>
          </p:cNvSpPr>
          <p:nvPr userDrawn="1"/>
        </p:nvSpPr>
        <p:spPr>
          <a:xfrm>
            <a:off x="4924079" y="6407443"/>
            <a:ext cx="27432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Rix모던고딕 EB"/>
                <a:ea typeface="굴림"/>
                <a:cs typeface="+mn-cs"/>
              </a:defRPr>
            </a:lvl1pPr>
            <a:lvl2pPr marL="454025" indent="3175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2pPr>
            <a:lvl3pPr marL="909638" indent="4763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3pPr>
            <a:lvl4pPr marL="1365250" indent="635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4pPr>
            <a:lvl5pPr marL="1819275" indent="9525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rgbClr val="292929"/>
                </a:solidFill>
                <a:latin typeface="Rix모던고딕 EB"/>
                <a:ea typeface="굴림"/>
                <a:cs typeface="+mn-cs"/>
              </a:defRPr>
            </a:lvl9pPr>
          </a:lstStyle>
          <a:p>
            <a:pPr algn="ctr"/>
            <a:fld id="{B10A8F86-DD25-4E05-9C40-D4C7321258A7}" type="slidenum">
              <a:rPr lang="ko-KR" altLang="en-US" sz="900" smtClean="0"/>
              <a:pPr algn="ctr"/>
              <a:t>‹#›</a:t>
            </a:fld>
            <a:endParaRPr lang="ko-KR" altLang="en-US" sz="9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EAB47C6-66F1-436B-A804-161650B940BF}"/>
              </a:ext>
            </a:extLst>
          </p:cNvPr>
          <p:cNvSpPr/>
          <p:nvPr userDrawn="1"/>
        </p:nvSpPr>
        <p:spPr>
          <a:xfrm>
            <a:off x="6080370" y="6564603"/>
            <a:ext cx="56271" cy="7432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</a:pPr>
            <a:endParaRPr kumimoji="0" lang="ko-KR" altLang="en-US" sz="1200" spc="-45" dirty="0">
              <a:ln w="9525">
                <a:solidFill>
                  <a:srgbClr val="C9E7F7">
                    <a:alpha val="0"/>
                  </a:srgbClr>
                </a:solidFill>
              </a:ln>
              <a:solidFill>
                <a:schemeClr val="bg1"/>
              </a:solidFill>
              <a:latin typeface="KoPub돋움체 Bold"/>
              <a:ea typeface="KoPub돋움체 Bold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7480DD-4B1E-4C67-8DFF-33CB582CC7BD}"/>
              </a:ext>
            </a:extLst>
          </p:cNvPr>
          <p:cNvSpPr/>
          <p:nvPr userDrawn="1"/>
        </p:nvSpPr>
        <p:spPr>
          <a:xfrm>
            <a:off x="6454410" y="6564603"/>
            <a:ext cx="56271" cy="7432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prstClr val="black">
                  <a:lumMod val="75000"/>
                  <a:lumOff val="25000"/>
                </a:prstClr>
              </a:buClr>
            </a:pPr>
            <a:endParaRPr kumimoji="0" lang="ko-KR" altLang="en-US" sz="1200" spc="-45" dirty="0">
              <a:ln w="9525">
                <a:solidFill>
                  <a:srgbClr val="C9E7F7">
                    <a:alpha val="0"/>
                  </a:srgbClr>
                </a:solidFill>
              </a:ln>
              <a:solidFill>
                <a:schemeClr val="bg1"/>
              </a:solidFill>
              <a:latin typeface="KoPub돋움체 Bold"/>
              <a:ea typeface="KoPub돋움체 Bold"/>
            </a:endParaRPr>
          </a:p>
        </p:txBody>
      </p:sp>
    </p:spTree>
    <p:extLst>
      <p:ext uri="{BB962C8B-B14F-4D97-AF65-F5344CB8AC3E}">
        <p14:creationId xmlns:p14="http://schemas.microsoft.com/office/powerpoint/2010/main" val="19924601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89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9220C-7EDB-4925-88F5-72D283FB560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27FFF-5F0C-4E15-9173-B0B2AA6C8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45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/>
          <p:cNvSpPr/>
          <p:nvPr/>
        </p:nvSpPr>
        <p:spPr>
          <a:xfrm>
            <a:off x="1243099" y="2101850"/>
            <a:ext cx="9713596" cy="218647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600" b="1" dirty="0" smtClean="0">
                <a:solidFill>
                  <a:srgbClr val="002060"/>
                </a:solidFill>
                <a:latin typeface="+mj-lt"/>
              </a:rPr>
              <a:t>[</a:t>
            </a:r>
            <a:r>
              <a:rPr lang="ko-KR" altLang="en-US" sz="3600" b="1" dirty="0" smtClean="0">
                <a:solidFill>
                  <a:srgbClr val="002060"/>
                </a:solidFill>
                <a:latin typeface="+mj-lt"/>
              </a:rPr>
              <a:t>보탬</a:t>
            </a:r>
            <a:r>
              <a:rPr lang="en-US" altLang="ko-KR" sz="3600" b="1" dirty="0" smtClean="0">
                <a:solidFill>
                  <a:srgbClr val="002060"/>
                </a:solidFill>
                <a:latin typeface="+mj-lt"/>
              </a:rPr>
              <a:t>e] </a:t>
            </a:r>
            <a:r>
              <a:rPr lang="ko-KR" altLang="en-US" sz="3600" b="1" dirty="0" err="1" smtClean="0">
                <a:solidFill>
                  <a:srgbClr val="002060"/>
                </a:solidFill>
                <a:latin typeface="+mj-lt"/>
              </a:rPr>
              <a:t>정산반환</a:t>
            </a:r>
            <a:r>
              <a:rPr lang="ko-KR" altLang="en-US" sz="3600" b="1" dirty="0" smtClean="0">
                <a:solidFill>
                  <a:srgbClr val="002060"/>
                </a:solidFill>
                <a:latin typeface="+mj-lt"/>
              </a:rPr>
              <a:t> 취소처리</a:t>
            </a:r>
            <a:endParaRPr lang="en-US" altLang="ko-KR" sz="3600" b="1" dirty="0" smtClean="0">
              <a:solidFill>
                <a:srgbClr val="002060"/>
              </a:solidFill>
              <a:latin typeface="+mj-lt"/>
            </a:endParaRPr>
          </a:p>
          <a:p>
            <a:pPr algn="ctr"/>
            <a:r>
              <a:rPr lang="ko-KR" altLang="en-US" sz="3600" b="1" dirty="0" smtClean="0">
                <a:solidFill>
                  <a:srgbClr val="002060"/>
                </a:solidFill>
                <a:latin typeface="+mj-lt"/>
              </a:rPr>
              <a:t>안내 매뉴얼</a:t>
            </a:r>
            <a:endParaRPr lang="ko-KR" altLang="en-US" sz="3600" b="1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38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27026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en-US" altLang="ko-KR" sz="1800" b="1" dirty="0" smtClean="0"/>
              <a:t>1. </a:t>
            </a:r>
            <a:r>
              <a:rPr lang="ko-KR" altLang="en-US" sz="1800" b="1" dirty="0" err="1" smtClean="0"/>
              <a:t>업무흐름도</a:t>
            </a:r>
            <a:r>
              <a:rPr lang="ko-KR" altLang="en-US" sz="1800" b="1" dirty="0" smtClean="0"/>
              <a:t> </a:t>
            </a:r>
            <a:r>
              <a:rPr lang="en-US" altLang="ko-KR" sz="1800" b="1" dirty="0" smtClean="0"/>
              <a:t>(</a:t>
            </a:r>
            <a:r>
              <a:rPr lang="ko-KR" altLang="en-US" sz="1800" b="1" dirty="0" err="1" smtClean="0"/>
              <a:t>정산반환</a:t>
            </a:r>
            <a:r>
              <a:rPr lang="ko-KR" altLang="en-US" sz="1800" b="1" dirty="0" smtClean="0"/>
              <a:t> 처리</a:t>
            </a:r>
            <a:r>
              <a:rPr lang="en-US" altLang="ko-KR" sz="1800" b="1" dirty="0" smtClean="0"/>
              <a:t>)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445754"/>
              </p:ext>
            </p:extLst>
          </p:nvPr>
        </p:nvGraphicFramePr>
        <p:xfrm>
          <a:off x="905436" y="708209"/>
          <a:ext cx="10327340" cy="5558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23">
                  <a:extLst>
                    <a:ext uri="{9D8B030D-6E8A-4147-A177-3AD203B41FA5}">
                      <a16:colId xmlns:a16="http://schemas.microsoft.com/office/drawing/2014/main" val="3132999491"/>
                    </a:ext>
                  </a:extLst>
                </a:gridCol>
                <a:gridCol w="3130394">
                  <a:extLst>
                    <a:ext uri="{9D8B030D-6E8A-4147-A177-3AD203B41FA5}">
                      <a16:colId xmlns:a16="http://schemas.microsoft.com/office/drawing/2014/main" val="2108387282"/>
                    </a:ext>
                  </a:extLst>
                </a:gridCol>
                <a:gridCol w="3955224">
                  <a:extLst>
                    <a:ext uri="{9D8B030D-6E8A-4147-A177-3AD203B41FA5}">
                      <a16:colId xmlns:a16="http://schemas.microsoft.com/office/drawing/2014/main" val="255560783"/>
                    </a:ext>
                  </a:extLst>
                </a:gridCol>
                <a:gridCol w="2795199">
                  <a:extLst>
                    <a:ext uri="{9D8B030D-6E8A-4147-A177-3AD203B41FA5}">
                      <a16:colId xmlns:a16="http://schemas.microsoft.com/office/drawing/2014/main" val="4104112202"/>
                    </a:ext>
                  </a:extLst>
                </a:gridCol>
              </a:tblGrid>
              <a:tr h="408988">
                <a:tc>
                  <a:txBody>
                    <a:bodyPr/>
                    <a:lstStyle/>
                    <a:p>
                      <a:pPr algn="ctr" latinLnBrk="0">
                        <a:defRPr/>
                      </a:pP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925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defRPr/>
                      </a:pP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자부담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계좌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925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보탬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계좌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925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defRPr/>
                      </a:pP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세외수입 계좌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925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875959"/>
                  </a:ext>
                </a:extLst>
              </a:tr>
              <a:tr h="2884189">
                <a:tc>
                  <a:txBody>
                    <a:bodyPr/>
                    <a:lstStyle/>
                    <a:p>
                      <a:pPr algn="ctr" latinLnBrk="0">
                        <a:defRPr/>
                      </a:pPr>
                      <a:r>
                        <a:rPr lang="ko-KR" altLang="en-US" sz="9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예치형</a:t>
                      </a:r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사업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vert="eaVert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789830"/>
                  </a:ext>
                </a:extLst>
              </a:tr>
              <a:tr h="2264942">
                <a:tc>
                  <a:txBody>
                    <a:bodyPr/>
                    <a:lstStyle/>
                    <a:p>
                      <a:pPr algn="ctr" latinLnBrk="0">
                        <a:defRPr/>
                      </a:pPr>
                      <a:r>
                        <a:rPr lang="ko-KR" altLang="en-US" sz="9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비예치형</a:t>
                      </a:r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사업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vert="eaVert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746906"/>
                  </a:ext>
                </a:extLst>
              </a:tr>
            </a:tbl>
          </a:graphicData>
        </a:graphic>
      </p:graphicFrame>
      <p:sp>
        <p:nvSpPr>
          <p:cNvPr id="7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4894798" y="1652020"/>
            <a:ext cx="972498" cy="414085"/>
          </a:xfrm>
          <a:prstGeom prst="rect">
            <a:avLst/>
          </a:prstGeom>
          <a:solidFill>
            <a:srgbClr val="B7DEE8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사업비잔액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 latinLnBrk="0"/>
            <a:r>
              <a:rPr lang="ko-KR" altLang="en-US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예치계좌이자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4982009" y="3192286"/>
            <a:ext cx="854022" cy="41408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 dirty="0" err="1" smtClean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반환이체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 latinLnBrk="0"/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반납완료</a:t>
            </a:r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</p:txBody>
      </p:sp>
      <p:cxnSp>
        <p:nvCxnSpPr>
          <p:cNvPr id="9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18" idx="6"/>
            <a:endCxn id="8" idx="1"/>
          </p:cNvCxnSpPr>
          <p:nvPr/>
        </p:nvCxnSpPr>
        <p:spPr>
          <a:xfrm>
            <a:off x="4076660" y="3397295"/>
            <a:ext cx="905349" cy="20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29" idx="6"/>
            <a:endCxn id="19" idx="1"/>
          </p:cNvCxnSpPr>
          <p:nvPr/>
        </p:nvCxnSpPr>
        <p:spPr>
          <a:xfrm flipV="1">
            <a:off x="5804541" y="2638188"/>
            <a:ext cx="706000" cy="8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8" idx="3"/>
            <a:endCxn id="20" idx="2"/>
          </p:cNvCxnSpPr>
          <p:nvPr/>
        </p:nvCxnSpPr>
        <p:spPr>
          <a:xfrm flipV="1">
            <a:off x="5836031" y="3399328"/>
            <a:ext cx="792435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7" idx="2"/>
            <a:endCxn id="29" idx="0"/>
          </p:cNvCxnSpPr>
          <p:nvPr/>
        </p:nvCxnSpPr>
        <p:spPr>
          <a:xfrm rot="16200000" flipH="1">
            <a:off x="5207719" y="2239432"/>
            <a:ext cx="349960" cy="33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20" idx="6"/>
            <a:endCxn id="21" idx="1"/>
          </p:cNvCxnSpPr>
          <p:nvPr/>
        </p:nvCxnSpPr>
        <p:spPr>
          <a:xfrm>
            <a:off x="7357342" y="3399328"/>
            <a:ext cx="1445784" cy="12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1800945" y="1967082"/>
            <a:ext cx="972498" cy="557306"/>
          </a:xfrm>
          <a:prstGeom prst="rect">
            <a:avLst/>
          </a:prstGeom>
          <a:solidFill>
            <a:srgbClr val="B7DEE8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수익금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 latinLnBrk="0"/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불인정금액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 latinLnBrk="0"/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자부담계좌</a:t>
            </a:r>
            <a:r>
              <a:rPr lang="ko-KR" altLang="en-US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 이자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5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14" idx="2"/>
            <a:endCxn id="18" idx="2"/>
          </p:cNvCxnSpPr>
          <p:nvPr/>
        </p:nvCxnSpPr>
        <p:spPr>
          <a:xfrm rot="16200000" flipH="1">
            <a:off x="2325284" y="2486297"/>
            <a:ext cx="872907" cy="949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rot="5400000">
            <a:off x="6799101" y="3039033"/>
            <a:ext cx="391492" cy="38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1812805" y="4672312"/>
            <a:ext cx="972498" cy="736087"/>
          </a:xfrm>
          <a:prstGeom prst="rect">
            <a:avLst/>
          </a:prstGeom>
          <a:solidFill>
            <a:srgbClr val="B7DEE8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사업비잔액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 latinLnBrk="0"/>
            <a:r>
              <a:rPr lang="ko-KR" altLang="en-US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수익금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 latinLnBrk="0"/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불인정금액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 latinLnBrk="0"/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자부담계좌</a:t>
            </a:r>
            <a:r>
              <a:rPr lang="ko-KR" altLang="en-US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 이자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3236281" y="3174319"/>
            <a:ext cx="840379" cy="445951"/>
          </a:xfrm>
          <a:prstGeom prst="ellipse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smtClean="0">
                <a:latin typeface="바탕체"/>
                <a:ea typeface="바탕체"/>
              </a:rPr>
              <a:t>  반환</a:t>
            </a:r>
            <a:endParaRPr kumimoji="1" lang="en-US" altLang="ko-KR" sz="900" dirty="0" smtClean="0">
              <a:latin typeface="바탕체"/>
              <a:ea typeface="바탕체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err="1" smtClean="0">
                <a:latin typeface="바탕체"/>
                <a:ea typeface="바탕체"/>
              </a:rPr>
              <a:t>이체요청</a:t>
            </a:r>
            <a:endParaRPr kumimoji="1" lang="ko-KR" altLang="en-US" sz="900" dirty="0">
              <a:latin typeface="바탕체"/>
              <a:ea typeface="바탕체"/>
            </a:endParaRPr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6510541" y="2431145"/>
            <a:ext cx="972498" cy="41408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상태값변경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 latinLnBrk="0"/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반납완료</a:t>
            </a:r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20" name="타원 19"/>
          <p:cNvSpPr/>
          <p:nvPr/>
        </p:nvSpPr>
        <p:spPr>
          <a:xfrm>
            <a:off x="6628466" y="3236722"/>
            <a:ext cx="728876" cy="325212"/>
          </a:xfrm>
          <a:prstGeom prst="ellipse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err="1" smtClean="0">
                <a:latin typeface="바탕체"/>
                <a:ea typeface="바탕체"/>
              </a:rPr>
              <a:t>징수요청</a:t>
            </a:r>
            <a:endParaRPr kumimoji="1" lang="ko-KR" altLang="en-US" sz="900" dirty="0">
              <a:latin typeface="바탕체"/>
              <a:ea typeface="바탕체"/>
            </a:endParaRP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8803126" y="3193530"/>
            <a:ext cx="972498" cy="41408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 dirty="0" err="1" smtClean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징수이체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 latinLnBrk="0"/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징수완료</a:t>
            </a:r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4982386" y="4841715"/>
            <a:ext cx="972498" cy="41408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 dirty="0" err="1" smtClean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반환이체</a:t>
            </a:r>
            <a:endParaRPr lang="en-US" altLang="ko-KR" sz="975" dirty="0" smtClean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 latinLnBrk="0"/>
            <a:r>
              <a:rPr lang="en-US" altLang="ko-KR" sz="975" dirty="0" smtClean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반납완료</a:t>
            </a:r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</p:txBody>
      </p:sp>
      <p:cxnSp>
        <p:nvCxnSpPr>
          <p:cNvPr id="23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30" idx="6"/>
            <a:endCxn id="22" idx="1"/>
          </p:cNvCxnSpPr>
          <p:nvPr/>
        </p:nvCxnSpPr>
        <p:spPr>
          <a:xfrm>
            <a:off x="4112861" y="5044033"/>
            <a:ext cx="869525" cy="47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22" idx="3"/>
            <a:endCxn id="27" idx="2"/>
          </p:cNvCxnSpPr>
          <p:nvPr/>
        </p:nvCxnSpPr>
        <p:spPr>
          <a:xfrm>
            <a:off x="5954884" y="5048758"/>
            <a:ext cx="728877" cy="11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27" idx="6"/>
            <a:endCxn id="28" idx="1"/>
          </p:cNvCxnSpPr>
          <p:nvPr/>
        </p:nvCxnSpPr>
        <p:spPr>
          <a:xfrm flipV="1">
            <a:off x="7412637" y="5049926"/>
            <a:ext cx="1390489" cy="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17" idx="3"/>
            <a:endCxn id="30" idx="2"/>
          </p:cNvCxnSpPr>
          <p:nvPr/>
        </p:nvCxnSpPr>
        <p:spPr>
          <a:xfrm>
            <a:off x="2785303" y="5040356"/>
            <a:ext cx="487179" cy="36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/>
          <p:cNvSpPr/>
          <p:nvPr/>
        </p:nvSpPr>
        <p:spPr>
          <a:xfrm>
            <a:off x="6683761" y="4887324"/>
            <a:ext cx="728876" cy="325212"/>
          </a:xfrm>
          <a:prstGeom prst="ellipse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err="1" smtClean="0">
                <a:latin typeface="바탕체"/>
                <a:ea typeface="바탕체"/>
              </a:rPr>
              <a:t>징수요청</a:t>
            </a:r>
            <a:endParaRPr kumimoji="1" lang="ko-KR" altLang="en-US" sz="900" dirty="0">
              <a:latin typeface="바탕체"/>
              <a:ea typeface="바탕체"/>
            </a:endParaRPr>
          </a:p>
        </p:txBody>
      </p:sp>
      <p:sp>
        <p:nvSpPr>
          <p:cNvPr id="28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8803126" y="4842883"/>
            <a:ext cx="972498" cy="41408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 dirty="0" err="1" smtClean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징수이체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 latinLnBrk="0"/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징수완료</a:t>
            </a:r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29" name="타원 28"/>
          <p:cNvSpPr/>
          <p:nvPr/>
        </p:nvSpPr>
        <p:spPr>
          <a:xfrm>
            <a:off x="4964162" y="2416065"/>
            <a:ext cx="840379" cy="445951"/>
          </a:xfrm>
          <a:prstGeom prst="ellipse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smtClean="0">
                <a:latin typeface="바탕체"/>
                <a:ea typeface="바탕체"/>
              </a:rPr>
              <a:t>  반환</a:t>
            </a:r>
            <a:endParaRPr kumimoji="1" lang="en-US" altLang="ko-KR" sz="900" dirty="0" smtClean="0">
              <a:latin typeface="바탕체"/>
              <a:ea typeface="바탕체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err="1" smtClean="0">
                <a:latin typeface="바탕체"/>
                <a:ea typeface="바탕체"/>
              </a:rPr>
              <a:t>이체요청</a:t>
            </a:r>
            <a:endParaRPr kumimoji="1" lang="ko-KR" altLang="en-US" sz="900" dirty="0">
              <a:latin typeface="바탕체"/>
              <a:ea typeface="바탕체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3272482" y="4821057"/>
            <a:ext cx="840379" cy="445951"/>
          </a:xfrm>
          <a:prstGeom prst="ellipse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smtClean="0">
                <a:latin typeface="바탕체"/>
                <a:ea typeface="바탕체"/>
              </a:rPr>
              <a:t>  반환</a:t>
            </a:r>
            <a:endParaRPr kumimoji="1" lang="en-US" altLang="ko-KR" sz="900" dirty="0" smtClean="0">
              <a:latin typeface="바탕체"/>
              <a:ea typeface="바탕체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err="1" smtClean="0">
                <a:latin typeface="바탕체"/>
                <a:ea typeface="바탕체"/>
              </a:rPr>
              <a:t>이체요청</a:t>
            </a:r>
            <a:endParaRPr kumimoji="1" lang="ko-KR" altLang="en-US" sz="900" dirty="0">
              <a:latin typeface="바탕체"/>
              <a:ea typeface="바탕체"/>
            </a:endParaRPr>
          </a:p>
        </p:txBody>
      </p:sp>
    </p:spTree>
    <p:extLst>
      <p:ext uri="{BB962C8B-B14F-4D97-AF65-F5344CB8AC3E}">
        <p14:creationId xmlns:p14="http://schemas.microsoft.com/office/powerpoint/2010/main" val="91676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30970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en-US" altLang="ko-KR" sz="1800" b="1" dirty="0" smtClean="0"/>
              <a:t>1. </a:t>
            </a:r>
            <a:r>
              <a:rPr lang="ko-KR" altLang="en-US" sz="1800" b="1" dirty="0" err="1" smtClean="0"/>
              <a:t>업무흐름도</a:t>
            </a:r>
            <a:r>
              <a:rPr lang="ko-KR" altLang="en-US" sz="1800" b="1" dirty="0" smtClean="0"/>
              <a:t> </a:t>
            </a:r>
            <a:r>
              <a:rPr lang="en-US" altLang="ko-KR" sz="1800" b="1" dirty="0" smtClean="0"/>
              <a:t>(</a:t>
            </a:r>
            <a:r>
              <a:rPr lang="ko-KR" altLang="en-US" sz="1800" b="1" dirty="0" err="1" smtClean="0"/>
              <a:t>정산반환</a:t>
            </a:r>
            <a:r>
              <a:rPr lang="ko-KR" altLang="en-US" sz="1800" b="1" dirty="0" smtClean="0"/>
              <a:t> 취소처리</a:t>
            </a:r>
            <a:r>
              <a:rPr lang="en-US" altLang="ko-KR" sz="1800" b="1" dirty="0" smtClean="0"/>
              <a:t>)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503220"/>
              </p:ext>
            </p:extLst>
          </p:nvPr>
        </p:nvGraphicFramePr>
        <p:xfrm>
          <a:off x="833718" y="735106"/>
          <a:ext cx="10488705" cy="5619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023">
                  <a:extLst>
                    <a:ext uri="{9D8B030D-6E8A-4147-A177-3AD203B41FA5}">
                      <a16:colId xmlns:a16="http://schemas.microsoft.com/office/drawing/2014/main" val="3132999491"/>
                    </a:ext>
                  </a:extLst>
                </a:gridCol>
                <a:gridCol w="3379694">
                  <a:extLst>
                    <a:ext uri="{9D8B030D-6E8A-4147-A177-3AD203B41FA5}">
                      <a16:colId xmlns:a16="http://schemas.microsoft.com/office/drawing/2014/main" val="2108387282"/>
                    </a:ext>
                  </a:extLst>
                </a:gridCol>
                <a:gridCol w="6606988">
                  <a:extLst>
                    <a:ext uri="{9D8B030D-6E8A-4147-A177-3AD203B41FA5}">
                      <a16:colId xmlns:a16="http://schemas.microsoft.com/office/drawing/2014/main" val="255560783"/>
                    </a:ext>
                  </a:extLst>
                </a:gridCol>
              </a:tblGrid>
              <a:tr h="383382">
                <a:tc>
                  <a:txBody>
                    <a:bodyPr/>
                    <a:lstStyle/>
                    <a:p>
                      <a:pPr algn="ctr" latinLnBrk="0">
                        <a:defRPr/>
                      </a:pP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925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defRPr/>
                      </a:pP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자부담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계좌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925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보탬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계좌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925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875959"/>
                  </a:ext>
                </a:extLst>
              </a:tr>
              <a:tr h="3112854">
                <a:tc>
                  <a:txBody>
                    <a:bodyPr/>
                    <a:lstStyle/>
                    <a:p>
                      <a:pPr algn="ctr" latinLnBrk="0">
                        <a:defRPr/>
                      </a:pPr>
                      <a:r>
                        <a:rPr lang="ko-KR" altLang="en-US" sz="9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예치형</a:t>
                      </a:r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사업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vert="eaVert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789830"/>
                  </a:ext>
                </a:extLst>
              </a:tr>
              <a:tr h="2123143">
                <a:tc>
                  <a:txBody>
                    <a:bodyPr/>
                    <a:lstStyle/>
                    <a:p>
                      <a:pPr algn="ctr" latinLnBrk="0">
                        <a:defRPr/>
                      </a:pPr>
                      <a:r>
                        <a:rPr lang="ko-KR" altLang="en-US" sz="9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비예치형</a:t>
                      </a:r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사업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vert="eaVert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746906"/>
                  </a:ext>
                </a:extLst>
              </a:tr>
            </a:tbl>
          </a:graphicData>
        </a:graphic>
      </p:graphicFrame>
      <p:sp>
        <p:nvSpPr>
          <p:cNvPr id="32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5167366" y="1449028"/>
            <a:ext cx="972498" cy="414085"/>
          </a:xfrm>
          <a:prstGeom prst="rect">
            <a:avLst/>
          </a:prstGeom>
          <a:solidFill>
            <a:srgbClr val="B7DEE8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사업비잔액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 latinLnBrk="0"/>
            <a:r>
              <a:rPr lang="ko-KR" altLang="en-US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예치계좌이자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3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38" idx="1"/>
            <a:endCxn id="55" idx="6"/>
          </p:cNvCxnSpPr>
          <p:nvPr/>
        </p:nvCxnSpPr>
        <p:spPr>
          <a:xfrm rot="10800000" flipV="1">
            <a:off x="9009343" y="2440139"/>
            <a:ext cx="666177" cy="1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5181724" y="2919622"/>
            <a:ext cx="972498" cy="41408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 dirty="0" err="1" smtClean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반환이체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 latinLnBrk="0"/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반납완료</a:t>
            </a:r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</p:txBody>
      </p:sp>
      <p:cxnSp>
        <p:nvCxnSpPr>
          <p:cNvPr id="35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51" idx="3"/>
            <a:endCxn id="64" idx="0"/>
          </p:cNvCxnSpPr>
          <p:nvPr/>
        </p:nvCxnSpPr>
        <p:spPr>
          <a:xfrm>
            <a:off x="6216560" y="4859254"/>
            <a:ext cx="2542175" cy="20704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182481" y="3452682"/>
            <a:ext cx="268022" cy="223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53" dirty="0"/>
              <a:t>N</a:t>
            </a:r>
          </a:p>
        </p:txBody>
      </p:sp>
      <p:cxnSp>
        <p:nvCxnSpPr>
          <p:cNvPr id="37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68" idx="6"/>
            <a:endCxn id="34" idx="1"/>
          </p:cNvCxnSpPr>
          <p:nvPr/>
        </p:nvCxnSpPr>
        <p:spPr>
          <a:xfrm>
            <a:off x="2578566" y="3124243"/>
            <a:ext cx="2603158" cy="24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순서도: 판단 37"/>
          <p:cNvSpPr/>
          <p:nvPr/>
        </p:nvSpPr>
        <p:spPr>
          <a:xfrm>
            <a:off x="9675519" y="2133816"/>
            <a:ext cx="914400" cy="612648"/>
          </a:xfrm>
          <a:prstGeom prst="flowChartDecision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 err="1">
                <a:latin typeface="돋움" panose="020B0600000101010101" pitchFamily="50" charset="-127"/>
                <a:ea typeface="돋움" panose="020B0600000101010101" pitchFamily="50" charset="-127"/>
              </a:rPr>
              <a:t>징수여부</a:t>
            </a:r>
            <a:endParaRPr kumimoji="1" lang="ko-KR" altLang="en-US" sz="1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cxnSp>
        <p:nvCxnSpPr>
          <p:cNvPr id="39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69" idx="6"/>
            <a:endCxn id="50" idx="1"/>
          </p:cNvCxnSpPr>
          <p:nvPr/>
        </p:nvCxnSpPr>
        <p:spPr>
          <a:xfrm>
            <a:off x="8322892" y="1656530"/>
            <a:ext cx="1323116" cy="36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550701" y="2168448"/>
            <a:ext cx="268022" cy="223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53" dirty="0"/>
              <a:t>N</a:t>
            </a:r>
          </a:p>
        </p:txBody>
      </p:sp>
      <p:cxnSp>
        <p:nvCxnSpPr>
          <p:cNvPr id="41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34" idx="3"/>
            <a:endCxn id="58" idx="1"/>
          </p:cNvCxnSpPr>
          <p:nvPr/>
        </p:nvCxnSpPr>
        <p:spPr>
          <a:xfrm flipV="1">
            <a:off x="6154222" y="3122829"/>
            <a:ext cx="2815234" cy="38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58" idx="2"/>
            <a:endCxn id="81" idx="6"/>
          </p:cNvCxnSpPr>
          <p:nvPr/>
        </p:nvCxnSpPr>
        <p:spPr>
          <a:xfrm rot="5400000">
            <a:off x="8909685" y="3222626"/>
            <a:ext cx="310445" cy="7234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32" idx="3"/>
            <a:endCxn id="69" idx="2"/>
          </p:cNvCxnSpPr>
          <p:nvPr/>
        </p:nvCxnSpPr>
        <p:spPr>
          <a:xfrm>
            <a:off x="6139864" y="1656071"/>
            <a:ext cx="1342649" cy="4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1668373" y="1588427"/>
            <a:ext cx="972498" cy="557306"/>
          </a:xfrm>
          <a:prstGeom prst="rect">
            <a:avLst/>
          </a:prstGeom>
          <a:solidFill>
            <a:srgbClr val="B7DEE8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수익금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 latinLnBrk="0"/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불인정금액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 latinLnBrk="0"/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자부담계좌</a:t>
            </a:r>
            <a:r>
              <a:rPr lang="ko-KR" altLang="en-US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 이자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6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45" idx="2"/>
            <a:endCxn id="68" idx="0"/>
          </p:cNvCxnSpPr>
          <p:nvPr/>
        </p:nvCxnSpPr>
        <p:spPr>
          <a:xfrm rot="16200000" flipH="1">
            <a:off x="1778732" y="2521622"/>
            <a:ext cx="755534" cy="37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50" idx="2"/>
            <a:endCxn id="38" idx="0"/>
          </p:cNvCxnSpPr>
          <p:nvPr/>
        </p:nvCxnSpPr>
        <p:spPr>
          <a:xfrm rot="16200000" flipH="1">
            <a:off x="9999215" y="2000312"/>
            <a:ext cx="266546" cy="4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1760714" y="4482808"/>
            <a:ext cx="972498" cy="736087"/>
          </a:xfrm>
          <a:prstGeom prst="rect">
            <a:avLst/>
          </a:prstGeom>
          <a:solidFill>
            <a:srgbClr val="B7DEE8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사업비잔액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 latinLnBrk="0"/>
            <a:r>
              <a:rPr lang="ko-KR" altLang="en-US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수익금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 latinLnBrk="0"/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불인정금액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 latinLnBrk="0"/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자부담계좌</a:t>
            </a:r>
            <a:r>
              <a:rPr lang="ko-KR" altLang="en-US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 이자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50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9646008" y="1453185"/>
            <a:ext cx="972498" cy="41408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상태값변경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 latinLnBrk="0"/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반납완료</a:t>
            </a:r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51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5244062" y="4652211"/>
            <a:ext cx="972498" cy="41408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 dirty="0" err="1" smtClean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반환이체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 latinLnBrk="0"/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반납완료</a:t>
            </a:r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</p:txBody>
      </p:sp>
      <p:cxnSp>
        <p:nvCxnSpPr>
          <p:cNvPr id="52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70" idx="6"/>
            <a:endCxn id="51" idx="1"/>
          </p:cNvCxnSpPr>
          <p:nvPr/>
        </p:nvCxnSpPr>
        <p:spPr>
          <a:xfrm>
            <a:off x="4321280" y="4855718"/>
            <a:ext cx="922782" cy="35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48" idx="3"/>
            <a:endCxn id="70" idx="2"/>
          </p:cNvCxnSpPr>
          <p:nvPr/>
        </p:nvCxnSpPr>
        <p:spPr>
          <a:xfrm>
            <a:off x="2733212" y="4850852"/>
            <a:ext cx="747689" cy="48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타원 54"/>
          <p:cNvSpPr/>
          <p:nvPr/>
        </p:nvSpPr>
        <p:spPr>
          <a:xfrm>
            <a:off x="8224714" y="2205802"/>
            <a:ext cx="784628" cy="468941"/>
          </a:xfrm>
          <a:prstGeom prst="ellipse">
            <a:avLst/>
          </a:prstGeom>
          <a:solidFill>
            <a:srgbClr val="FFFF00"/>
          </a:solidFill>
          <a:ln w="317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err="1" smtClean="0">
                <a:latin typeface="바탕체"/>
                <a:ea typeface="바탕체"/>
              </a:rPr>
              <a:t>반환취소</a:t>
            </a:r>
            <a:endParaRPr kumimoji="1" lang="en-US" altLang="ko-KR" sz="900" dirty="0" smtClean="0">
              <a:latin typeface="바탕체"/>
              <a:ea typeface="바탕체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smtClean="0">
                <a:latin typeface="바탕체"/>
                <a:ea typeface="바탕체"/>
              </a:rPr>
              <a:t> 요청</a:t>
            </a:r>
            <a:endParaRPr kumimoji="1" lang="ko-KR" altLang="en-US" sz="900" dirty="0">
              <a:latin typeface="바탕체"/>
              <a:ea typeface="바탕체"/>
            </a:endParaRPr>
          </a:p>
        </p:txBody>
      </p:sp>
      <p:sp>
        <p:nvSpPr>
          <p:cNvPr id="56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5163076" y="2226450"/>
            <a:ext cx="972498" cy="41408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상태값변경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 latinLnBrk="0"/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미반납</a:t>
            </a:r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</p:txBody>
      </p:sp>
      <p:cxnSp>
        <p:nvCxnSpPr>
          <p:cNvPr id="57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55" idx="2"/>
            <a:endCxn id="78" idx="6"/>
          </p:cNvCxnSpPr>
          <p:nvPr/>
        </p:nvCxnSpPr>
        <p:spPr>
          <a:xfrm rot="10800000">
            <a:off x="7589598" y="2436611"/>
            <a:ext cx="635117" cy="36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순서도: 판단 57"/>
          <p:cNvSpPr/>
          <p:nvPr/>
        </p:nvSpPr>
        <p:spPr>
          <a:xfrm>
            <a:off x="8969456" y="2816505"/>
            <a:ext cx="914400" cy="612648"/>
          </a:xfrm>
          <a:prstGeom prst="flowChartDecision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 err="1">
                <a:latin typeface="돋움" panose="020B0600000101010101" pitchFamily="50" charset="-127"/>
                <a:ea typeface="돋움" panose="020B0600000101010101" pitchFamily="50" charset="-127"/>
              </a:rPr>
              <a:t>징수여부</a:t>
            </a:r>
            <a:endParaRPr kumimoji="1" lang="ko-KR" altLang="en-US" sz="1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6538578" y="3509311"/>
            <a:ext cx="728876" cy="459529"/>
          </a:xfrm>
          <a:prstGeom prst="ellipse">
            <a:avLst/>
          </a:prstGeom>
          <a:solidFill>
            <a:srgbClr val="FFFF00"/>
          </a:solidFill>
          <a:ln w="317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err="1" smtClean="0">
                <a:latin typeface="바탕체"/>
                <a:ea typeface="바탕체"/>
              </a:rPr>
              <a:t>반환취소</a:t>
            </a:r>
            <a:endParaRPr kumimoji="1" lang="en-US" altLang="ko-KR" sz="900" dirty="0" smtClean="0">
              <a:latin typeface="바탕체"/>
              <a:ea typeface="바탕체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smtClean="0">
                <a:latin typeface="바탕체"/>
                <a:ea typeface="바탕체"/>
              </a:rPr>
              <a:t> 승인</a:t>
            </a:r>
            <a:endParaRPr kumimoji="1" lang="ko-KR" altLang="en-US" sz="900" dirty="0">
              <a:latin typeface="바탕체"/>
              <a:ea typeface="바탕체"/>
            </a:endParaRPr>
          </a:p>
        </p:txBody>
      </p:sp>
      <p:sp>
        <p:nvSpPr>
          <p:cNvPr id="60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3479724" y="3532899"/>
            <a:ext cx="972498" cy="41408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 dirty="0" smtClean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반환취소이체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 latinLnBrk="0"/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미반납</a:t>
            </a:r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</p:txBody>
      </p:sp>
      <p:cxnSp>
        <p:nvCxnSpPr>
          <p:cNvPr id="61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59" idx="2"/>
            <a:endCxn id="60" idx="3"/>
          </p:cNvCxnSpPr>
          <p:nvPr/>
        </p:nvCxnSpPr>
        <p:spPr>
          <a:xfrm rot="10800000" flipV="1">
            <a:off x="4452222" y="3739076"/>
            <a:ext cx="2086356" cy="8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322892" y="5592506"/>
            <a:ext cx="268022" cy="223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53" dirty="0"/>
              <a:t>N</a:t>
            </a:r>
          </a:p>
        </p:txBody>
      </p:sp>
      <p:cxnSp>
        <p:nvCxnSpPr>
          <p:cNvPr id="63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64" idx="2"/>
            <a:endCxn id="85" idx="6"/>
          </p:cNvCxnSpPr>
          <p:nvPr/>
        </p:nvCxnSpPr>
        <p:spPr>
          <a:xfrm rot="5400000">
            <a:off x="8257940" y="5351668"/>
            <a:ext cx="173521" cy="82807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순서도: 판단 63"/>
          <p:cNvSpPr/>
          <p:nvPr/>
        </p:nvSpPr>
        <p:spPr>
          <a:xfrm>
            <a:off x="8301535" y="5066295"/>
            <a:ext cx="914400" cy="612648"/>
          </a:xfrm>
          <a:prstGeom prst="flowChartDecision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 err="1">
                <a:latin typeface="돋움" panose="020B0600000101010101" pitchFamily="50" charset="-127"/>
                <a:ea typeface="돋움" panose="020B0600000101010101" pitchFamily="50" charset="-127"/>
              </a:rPr>
              <a:t>징수여부</a:t>
            </a:r>
            <a:endParaRPr kumimoji="1" lang="ko-KR" altLang="en-US" sz="1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66" name="Freeform 13">
            <a:extLst>
              <a:ext uri="{FF2B5EF4-FFF2-40B4-BE49-F238E27FC236}">
                <a16:creationId xmlns:a16="http://schemas.microsoft.com/office/drawing/2014/main" id="{20D023EE-3DA9-48C7-9FF6-B04147B8920A}"/>
              </a:ext>
            </a:extLst>
          </p:cNvPr>
          <p:cNvSpPr/>
          <p:nvPr/>
        </p:nvSpPr>
        <p:spPr>
          <a:xfrm>
            <a:off x="3452827" y="5641007"/>
            <a:ext cx="972498" cy="41408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975" dirty="0" smtClean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반환취소이체</a:t>
            </a:r>
            <a:endParaRPr lang="en-US" altLang="ko-KR" sz="975" dirty="0">
              <a:ln w="9525">
                <a:solidFill>
                  <a:srgbClr val="0769A5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 latinLnBrk="0"/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75" dirty="0" err="1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미반납</a:t>
            </a:r>
            <a:r>
              <a:rPr lang="en-US" altLang="ko-KR" sz="975" dirty="0">
                <a:ln w="9525">
                  <a:solidFill>
                    <a:srgbClr val="0769A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</p:txBody>
      </p:sp>
      <p:cxnSp>
        <p:nvCxnSpPr>
          <p:cNvPr id="67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84" idx="2"/>
            <a:endCxn id="66" idx="3"/>
          </p:cNvCxnSpPr>
          <p:nvPr/>
        </p:nvCxnSpPr>
        <p:spPr>
          <a:xfrm rot="10800000">
            <a:off x="4425325" y="5848050"/>
            <a:ext cx="1340760" cy="38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타원 67"/>
          <p:cNvSpPr/>
          <p:nvPr/>
        </p:nvSpPr>
        <p:spPr>
          <a:xfrm>
            <a:off x="1738187" y="2901267"/>
            <a:ext cx="840379" cy="445951"/>
          </a:xfrm>
          <a:prstGeom prst="ellipse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smtClean="0">
                <a:latin typeface="바탕체"/>
                <a:ea typeface="바탕체"/>
              </a:rPr>
              <a:t>  반환</a:t>
            </a:r>
            <a:endParaRPr kumimoji="1" lang="en-US" altLang="ko-KR" sz="900" dirty="0" smtClean="0">
              <a:latin typeface="바탕체"/>
              <a:ea typeface="바탕체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err="1" smtClean="0">
                <a:latin typeface="바탕체"/>
                <a:ea typeface="바탕체"/>
              </a:rPr>
              <a:t>이체요청</a:t>
            </a:r>
            <a:endParaRPr kumimoji="1" lang="ko-KR" altLang="en-US" sz="900" dirty="0">
              <a:latin typeface="바탕체"/>
              <a:ea typeface="바탕체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7482513" y="1433554"/>
            <a:ext cx="840379" cy="445951"/>
          </a:xfrm>
          <a:prstGeom prst="ellipse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smtClean="0">
                <a:latin typeface="바탕체"/>
                <a:ea typeface="바탕체"/>
              </a:rPr>
              <a:t>  반환</a:t>
            </a:r>
            <a:endParaRPr kumimoji="1" lang="en-US" altLang="ko-KR" sz="900" dirty="0" smtClean="0">
              <a:latin typeface="바탕체"/>
              <a:ea typeface="바탕체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err="1" smtClean="0">
                <a:latin typeface="바탕체"/>
                <a:ea typeface="바탕체"/>
              </a:rPr>
              <a:t>이체요청</a:t>
            </a:r>
            <a:endParaRPr kumimoji="1" lang="ko-KR" altLang="en-US" sz="900" dirty="0">
              <a:latin typeface="바탕체"/>
              <a:ea typeface="바탕체"/>
            </a:endParaRPr>
          </a:p>
        </p:txBody>
      </p:sp>
      <p:sp>
        <p:nvSpPr>
          <p:cNvPr id="70" name="타원 69"/>
          <p:cNvSpPr/>
          <p:nvPr/>
        </p:nvSpPr>
        <p:spPr>
          <a:xfrm>
            <a:off x="3480901" y="4632742"/>
            <a:ext cx="840379" cy="445951"/>
          </a:xfrm>
          <a:prstGeom prst="ellipse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smtClean="0">
                <a:latin typeface="바탕체"/>
                <a:ea typeface="바탕체"/>
              </a:rPr>
              <a:t>  반환</a:t>
            </a:r>
            <a:endParaRPr kumimoji="1" lang="en-US" altLang="ko-KR" sz="900" dirty="0" smtClean="0">
              <a:latin typeface="바탕체"/>
              <a:ea typeface="바탕체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err="1" smtClean="0">
                <a:latin typeface="바탕체"/>
                <a:ea typeface="바탕체"/>
              </a:rPr>
              <a:t>이체요청</a:t>
            </a:r>
            <a:endParaRPr kumimoji="1" lang="ko-KR" altLang="en-US" sz="900" dirty="0">
              <a:latin typeface="바탕체"/>
              <a:ea typeface="바탕체"/>
            </a:endParaRPr>
          </a:p>
        </p:txBody>
      </p:sp>
      <p:sp>
        <p:nvSpPr>
          <p:cNvPr id="78" name="타원 77"/>
          <p:cNvSpPr/>
          <p:nvPr/>
        </p:nvSpPr>
        <p:spPr>
          <a:xfrm>
            <a:off x="6860721" y="2206845"/>
            <a:ext cx="728876" cy="459529"/>
          </a:xfrm>
          <a:prstGeom prst="ellipse">
            <a:avLst/>
          </a:prstGeom>
          <a:solidFill>
            <a:srgbClr val="FFFF00"/>
          </a:solidFill>
          <a:ln w="317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err="1" smtClean="0">
                <a:latin typeface="바탕체"/>
                <a:ea typeface="바탕체"/>
              </a:rPr>
              <a:t>반환취소</a:t>
            </a:r>
            <a:endParaRPr kumimoji="1" lang="en-US" altLang="ko-KR" sz="900" dirty="0" smtClean="0">
              <a:latin typeface="바탕체"/>
              <a:ea typeface="바탕체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smtClean="0">
                <a:latin typeface="바탕체"/>
                <a:ea typeface="바탕체"/>
              </a:rPr>
              <a:t> 승인</a:t>
            </a:r>
            <a:endParaRPr kumimoji="1" lang="ko-KR" altLang="en-US" sz="900" dirty="0">
              <a:latin typeface="바탕체"/>
              <a:ea typeface="바탕체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7918529" y="3505127"/>
            <a:ext cx="784628" cy="468941"/>
          </a:xfrm>
          <a:prstGeom prst="ellipse">
            <a:avLst/>
          </a:prstGeom>
          <a:solidFill>
            <a:srgbClr val="FFFF00"/>
          </a:solidFill>
          <a:ln w="317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err="1" smtClean="0">
                <a:latin typeface="바탕체"/>
                <a:ea typeface="바탕체"/>
              </a:rPr>
              <a:t>반환취소</a:t>
            </a:r>
            <a:endParaRPr kumimoji="1" lang="en-US" altLang="ko-KR" sz="900" dirty="0" smtClean="0">
              <a:latin typeface="바탕체"/>
              <a:ea typeface="바탕체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smtClean="0">
                <a:latin typeface="바탕체"/>
                <a:ea typeface="바탕체"/>
              </a:rPr>
              <a:t> 요청</a:t>
            </a:r>
            <a:endParaRPr kumimoji="1" lang="ko-KR" altLang="en-US" sz="900" dirty="0">
              <a:latin typeface="바탕체"/>
              <a:ea typeface="바탕체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5766085" y="5622177"/>
            <a:ext cx="728876" cy="459529"/>
          </a:xfrm>
          <a:prstGeom prst="ellipse">
            <a:avLst/>
          </a:prstGeom>
          <a:solidFill>
            <a:srgbClr val="FFFF00"/>
          </a:solidFill>
          <a:ln w="317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err="1" smtClean="0">
                <a:latin typeface="바탕체"/>
                <a:ea typeface="바탕체"/>
              </a:rPr>
              <a:t>반환취소</a:t>
            </a:r>
            <a:endParaRPr kumimoji="1" lang="en-US" altLang="ko-KR" sz="900" dirty="0" smtClean="0">
              <a:latin typeface="바탕체"/>
              <a:ea typeface="바탕체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smtClean="0">
                <a:latin typeface="바탕체"/>
                <a:ea typeface="바탕체"/>
              </a:rPr>
              <a:t> 승인</a:t>
            </a:r>
            <a:endParaRPr kumimoji="1" lang="ko-KR" altLang="en-US" sz="900" dirty="0">
              <a:latin typeface="바탕체"/>
              <a:ea typeface="바탕체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7146036" y="5617993"/>
            <a:ext cx="784628" cy="468941"/>
          </a:xfrm>
          <a:prstGeom prst="ellipse">
            <a:avLst/>
          </a:prstGeom>
          <a:solidFill>
            <a:srgbClr val="FFFF00"/>
          </a:solidFill>
          <a:ln w="3175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err="1" smtClean="0">
                <a:latin typeface="바탕체"/>
                <a:ea typeface="바탕체"/>
              </a:rPr>
              <a:t>반환취소</a:t>
            </a:r>
            <a:endParaRPr kumimoji="1" lang="en-US" altLang="ko-KR" sz="900" dirty="0" smtClean="0">
              <a:latin typeface="바탕체"/>
              <a:ea typeface="바탕체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dirty="0" smtClean="0">
                <a:latin typeface="바탕체"/>
                <a:ea typeface="바탕체"/>
              </a:rPr>
              <a:t> 요청</a:t>
            </a:r>
            <a:endParaRPr kumimoji="1" lang="ko-KR" altLang="en-US" sz="900" dirty="0">
              <a:latin typeface="바탕체"/>
              <a:ea typeface="바탕체"/>
            </a:endParaRPr>
          </a:p>
        </p:txBody>
      </p:sp>
      <p:cxnSp>
        <p:nvCxnSpPr>
          <p:cNvPr id="89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78" idx="2"/>
            <a:endCxn id="56" idx="3"/>
          </p:cNvCxnSpPr>
          <p:nvPr/>
        </p:nvCxnSpPr>
        <p:spPr>
          <a:xfrm rot="10800000">
            <a:off x="6135575" y="2433494"/>
            <a:ext cx="725147" cy="31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81" idx="2"/>
            <a:endCxn id="59" idx="6"/>
          </p:cNvCxnSpPr>
          <p:nvPr/>
        </p:nvCxnSpPr>
        <p:spPr>
          <a:xfrm rot="10800000">
            <a:off x="7267455" y="3739076"/>
            <a:ext cx="651075" cy="5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777">
            <a:extLst>
              <a:ext uri="{FF2B5EF4-FFF2-40B4-BE49-F238E27FC236}">
                <a16:creationId xmlns:a16="http://schemas.microsoft.com/office/drawing/2014/main" id="{38A51020-D187-4272-A735-DB117377971B}"/>
              </a:ext>
            </a:extLst>
          </p:cNvPr>
          <p:cNvCxnSpPr>
            <a:cxnSpLocks/>
            <a:stCxn id="85" idx="2"/>
            <a:endCxn id="84" idx="6"/>
          </p:cNvCxnSpPr>
          <p:nvPr/>
        </p:nvCxnSpPr>
        <p:spPr>
          <a:xfrm rot="10800000">
            <a:off x="6494962" y="5851942"/>
            <a:ext cx="651075" cy="5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217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194925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2. 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정산반환취소 등록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87132" y="710955"/>
            <a:ext cx="318767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/>
              <a:t>1. </a:t>
            </a:r>
            <a:r>
              <a:rPr lang="ko-KR" altLang="en-US" sz="1000" dirty="0" err="1" smtClean="0"/>
              <a:t>정산반환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취소등록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민간 </a:t>
            </a:r>
            <a:r>
              <a:rPr lang="ko-KR" altLang="en-US" sz="1000" dirty="0" err="1" smtClean="0"/>
              <a:t>보조사업자</a:t>
            </a:r>
            <a:r>
              <a:rPr lang="en-US" altLang="ko-KR" sz="1000" dirty="0" smtClean="0"/>
              <a:t>)</a:t>
            </a:r>
          </a:p>
          <a:p>
            <a:endParaRPr lang="en-US" altLang="ko-KR" sz="1000" dirty="0"/>
          </a:p>
          <a:p>
            <a:r>
              <a:rPr lang="en-US" altLang="ko-KR" sz="1000" dirty="0" smtClean="0"/>
              <a:t>  - </a:t>
            </a:r>
            <a:r>
              <a:rPr lang="ko-KR" altLang="en-US" sz="1000" dirty="0" smtClean="0"/>
              <a:t>민간보조사업자가 보탬</a:t>
            </a:r>
            <a:r>
              <a:rPr lang="en-US" altLang="ko-KR" sz="1000" dirty="0" smtClean="0"/>
              <a:t>e </a:t>
            </a:r>
            <a:r>
              <a:rPr lang="ko-KR" altLang="en-US" sz="1000" dirty="0" smtClean="0"/>
              <a:t>로 </a:t>
            </a:r>
            <a:r>
              <a:rPr lang="ko-KR" altLang="en-US" sz="1000" dirty="0" err="1" smtClean="0"/>
              <a:t>반환처리한</a:t>
            </a:r>
            <a:r>
              <a:rPr lang="ko-KR" altLang="en-US" sz="1000" dirty="0" smtClean="0"/>
              <a:t> 금액을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취소 하고자 </a:t>
            </a:r>
            <a:r>
              <a:rPr lang="ko-KR" altLang="en-US" sz="1000" dirty="0" err="1" smtClean="0"/>
              <a:t>할때</a:t>
            </a:r>
            <a:r>
              <a:rPr lang="ko-KR" altLang="en-US" sz="1000" dirty="0" smtClean="0"/>
              <a:t> 사용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  - </a:t>
            </a:r>
            <a:r>
              <a:rPr lang="ko-KR" altLang="en-US" sz="1000" dirty="0"/>
              <a:t>반환진행상태 </a:t>
            </a:r>
            <a:r>
              <a:rPr lang="ko-KR" altLang="en-US" sz="1000" dirty="0" smtClean="0"/>
              <a:t>① 값이 </a:t>
            </a:r>
            <a:r>
              <a:rPr lang="en-US" altLang="ko-KR" sz="1000" dirty="0" smtClean="0"/>
              <a:t>＇</a:t>
            </a:r>
            <a:r>
              <a:rPr lang="ko-KR" altLang="en-US" sz="1000" dirty="0" smtClean="0"/>
              <a:t>반환이체완료</a:t>
            </a:r>
            <a:r>
              <a:rPr lang="en-US" altLang="ko-KR" sz="1000" dirty="0" smtClean="0"/>
              <a:t>‘ </a:t>
            </a:r>
            <a:r>
              <a:rPr lang="ko-KR" altLang="en-US" sz="1000" dirty="0" smtClean="0"/>
              <a:t>인 자료만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취소 가능</a:t>
            </a:r>
            <a:endParaRPr lang="en-US" altLang="ko-KR" sz="1000" dirty="0" smtClean="0"/>
          </a:p>
          <a:p>
            <a:r>
              <a:rPr lang="en-US" altLang="ko-KR" sz="1000" dirty="0" smtClean="0"/>
              <a:t>    (</a:t>
            </a:r>
            <a:r>
              <a:rPr lang="ko-KR" altLang="en-US" sz="1000" dirty="0" smtClean="0"/>
              <a:t>단</a:t>
            </a:r>
            <a:r>
              <a:rPr lang="en-US" altLang="ko-KR" sz="1000" dirty="0" smtClean="0"/>
              <a:t>, </a:t>
            </a:r>
            <a:r>
              <a:rPr lang="ko-KR" altLang="en-US" sz="1000" dirty="0"/>
              <a:t>징수진행상태 </a:t>
            </a:r>
            <a:r>
              <a:rPr lang="ko-KR" altLang="en-US" sz="1000" dirty="0" smtClean="0"/>
              <a:t>② 가 진행중이 거나 </a:t>
            </a:r>
            <a:r>
              <a:rPr lang="ko-KR" altLang="en-US" sz="1000" dirty="0" err="1" smtClean="0"/>
              <a:t>징수완료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</a:t>
            </a:r>
            <a:r>
              <a:rPr lang="ko-KR" altLang="en-US" sz="1000" dirty="0" smtClean="0"/>
              <a:t>인 자료는 </a:t>
            </a:r>
            <a:r>
              <a:rPr lang="ko-KR" altLang="en-US" sz="1000" dirty="0" err="1" smtClean="0"/>
              <a:t>반환취소</a:t>
            </a:r>
            <a:r>
              <a:rPr lang="ko-KR" altLang="en-US" sz="1000" dirty="0" smtClean="0"/>
              <a:t> 불가</a:t>
            </a:r>
            <a:r>
              <a:rPr lang="en-US" altLang="ko-KR" sz="1000" dirty="0" smtClean="0"/>
              <a:t>)</a:t>
            </a:r>
            <a:endParaRPr lang="en-US" altLang="ko-KR" sz="1000" dirty="0"/>
          </a:p>
          <a:p>
            <a:r>
              <a:rPr lang="en-US" altLang="ko-KR" sz="1000" dirty="0" smtClean="0"/>
              <a:t>  </a:t>
            </a:r>
          </a:p>
          <a:p>
            <a:r>
              <a:rPr lang="en-US" altLang="ko-KR" sz="1000" dirty="0" smtClean="0"/>
              <a:t>2. </a:t>
            </a:r>
            <a:r>
              <a:rPr lang="ko-KR" altLang="en-US" sz="1000" dirty="0" err="1" smtClean="0"/>
              <a:t>반환취소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이체요청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  - </a:t>
            </a:r>
            <a:r>
              <a:rPr lang="ko-KR" altLang="en-US" sz="1000" dirty="0" err="1" smtClean="0"/>
              <a:t>반환취소</a:t>
            </a:r>
            <a:r>
              <a:rPr lang="ko-KR" altLang="en-US" sz="1000" dirty="0" smtClean="0"/>
              <a:t> 하고자 하는 자료를 </a:t>
            </a:r>
            <a:r>
              <a:rPr lang="ko-KR" altLang="en-US" sz="1000" dirty="0"/>
              <a:t>선택 </a:t>
            </a:r>
            <a:r>
              <a:rPr lang="ko-KR" altLang="en-US" sz="1000" dirty="0" smtClean="0"/>
              <a:t>③ 한 후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[</a:t>
            </a:r>
            <a:r>
              <a:rPr lang="ko-KR" altLang="en-US" sz="1000" dirty="0" err="1" smtClean="0"/>
              <a:t>반환취소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이체요청</a:t>
            </a:r>
            <a:r>
              <a:rPr lang="en-US" altLang="ko-KR" sz="1000" dirty="0" smtClean="0"/>
              <a:t>] </a:t>
            </a:r>
            <a:r>
              <a:rPr lang="ko-KR" altLang="en-US" sz="1000" dirty="0" smtClean="0"/>
              <a:t>④  버튼 클릭</a:t>
            </a:r>
            <a:r>
              <a:rPr lang="en-US" altLang="ko-KR" sz="1000" dirty="0" smtClean="0"/>
              <a:t> </a:t>
            </a:r>
          </a:p>
          <a:p>
            <a:endParaRPr lang="en-US" altLang="ko-KR" sz="1000" dirty="0"/>
          </a:p>
          <a:p>
            <a:r>
              <a:rPr lang="en-US" altLang="ko-KR" sz="1000" dirty="0" smtClean="0"/>
              <a:t>  - </a:t>
            </a:r>
            <a:r>
              <a:rPr lang="ko-KR" altLang="en-US" sz="1000" dirty="0" smtClean="0"/>
              <a:t>요청한 자료는 자치단체 담당자에게 넘어가서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＇</a:t>
            </a:r>
            <a:r>
              <a:rPr lang="ko-KR" altLang="en-US" sz="1000" dirty="0" smtClean="0"/>
              <a:t>승인</a:t>
            </a:r>
            <a:r>
              <a:rPr lang="en-US" altLang="ko-KR" sz="1000" dirty="0" smtClean="0"/>
              <a:t>‘ </a:t>
            </a:r>
            <a:r>
              <a:rPr lang="ko-KR" altLang="en-US" sz="1000" dirty="0" smtClean="0"/>
              <a:t>또는 </a:t>
            </a:r>
            <a:r>
              <a:rPr lang="en-US" altLang="ko-KR" sz="1000" dirty="0" smtClean="0"/>
              <a:t>＇</a:t>
            </a:r>
            <a:r>
              <a:rPr lang="ko-KR" altLang="en-US" sz="1000" dirty="0" smtClean="0"/>
              <a:t>반려</a:t>
            </a:r>
            <a:r>
              <a:rPr lang="en-US" altLang="ko-KR" sz="1000" dirty="0" smtClean="0"/>
              <a:t>‘ </a:t>
            </a:r>
            <a:r>
              <a:rPr lang="ko-KR" altLang="en-US" sz="1000" dirty="0" smtClean="0"/>
              <a:t>처리 됨</a:t>
            </a:r>
            <a:r>
              <a:rPr lang="en-US" altLang="ko-KR" sz="1000" dirty="0" smtClean="0"/>
              <a:t> </a:t>
            </a:r>
          </a:p>
          <a:p>
            <a:endParaRPr lang="en-US" altLang="ko-KR" sz="1000" dirty="0"/>
          </a:p>
          <a:p>
            <a:r>
              <a:rPr lang="en-US" altLang="ko-KR" sz="1000" dirty="0" smtClean="0"/>
              <a:t>3. </a:t>
            </a:r>
            <a:r>
              <a:rPr lang="ko-KR" altLang="en-US" sz="1000" dirty="0" err="1" smtClean="0"/>
              <a:t>반환취소</a:t>
            </a:r>
            <a:r>
              <a:rPr lang="ko-KR" altLang="en-US" sz="1000" dirty="0"/>
              <a:t> 이체요청취소 ④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  - </a:t>
            </a:r>
            <a:r>
              <a:rPr lang="ko-KR" altLang="en-US" sz="1000" dirty="0" err="1" smtClean="0"/>
              <a:t>반환취소</a:t>
            </a:r>
            <a:r>
              <a:rPr lang="ko-KR" altLang="en-US" sz="1000" dirty="0" smtClean="0"/>
              <a:t> 에 대한 </a:t>
            </a:r>
            <a:r>
              <a:rPr lang="ko-KR" altLang="en-US" sz="1000" dirty="0" err="1" smtClean="0"/>
              <a:t>이체요청을</a:t>
            </a:r>
            <a:r>
              <a:rPr lang="ko-KR" altLang="en-US" sz="1000" dirty="0" smtClean="0"/>
              <a:t> 지자체 </a:t>
            </a:r>
            <a:r>
              <a:rPr lang="ko-KR" altLang="en-US" sz="1000" dirty="0" err="1" smtClean="0"/>
              <a:t>담당가자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승인 또는 </a:t>
            </a:r>
            <a:r>
              <a:rPr lang="ko-KR" altLang="en-US" sz="1000" dirty="0" err="1" smtClean="0"/>
              <a:t>반려처리</a:t>
            </a:r>
            <a:r>
              <a:rPr lang="ko-KR" altLang="en-US" sz="1000" dirty="0" smtClean="0"/>
              <a:t> 전에 취소처리 가능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4. </a:t>
            </a:r>
            <a:r>
              <a:rPr lang="ko-KR" altLang="en-US" sz="1000" dirty="0" smtClean="0"/>
              <a:t>출금계좌구분 ⑤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ko-KR" altLang="en-US" sz="1000" dirty="0" smtClean="0"/>
              <a:t>  </a:t>
            </a:r>
            <a:r>
              <a:rPr lang="en-US" altLang="ko-KR" sz="1000" dirty="0" smtClean="0"/>
              <a:t>- </a:t>
            </a:r>
            <a:r>
              <a:rPr lang="ko-KR" altLang="en-US" sz="1000" dirty="0" err="1" smtClean="0"/>
              <a:t>출금계좌</a:t>
            </a:r>
            <a:r>
              <a:rPr lang="ko-KR" altLang="en-US" sz="1000" dirty="0" smtClean="0"/>
              <a:t> 구분에 따라 후처리 가 다르게 적용됨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  - </a:t>
            </a:r>
            <a:r>
              <a:rPr lang="ko-KR" altLang="en-US" sz="1000" dirty="0" smtClean="0"/>
              <a:t>보조금예치계좌번호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지자체 담당자가 </a:t>
            </a:r>
            <a:r>
              <a:rPr lang="en-US" altLang="ko-KR" sz="1000" dirty="0" smtClean="0"/>
              <a:t>‘</a:t>
            </a:r>
            <a:r>
              <a:rPr lang="ko-KR" altLang="en-US" sz="1000" dirty="0" smtClean="0"/>
              <a:t>승인</a:t>
            </a:r>
            <a:r>
              <a:rPr lang="en-US" altLang="ko-KR" sz="1000" dirty="0" smtClean="0"/>
              <a:t>‘ 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처리 시 바로 </a:t>
            </a:r>
            <a:r>
              <a:rPr lang="ko-KR" altLang="en-US" sz="1000" dirty="0" err="1" smtClean="0"/>
              <a:t>반환이체</a:t>
            </a:r>
            <a:r>
              <a:rPr lang="ko-KR" altLang="en-US" sz="1000" dirty="0" smtClean="0"/>
              <a:t> 취소 처리됨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 smtClean="0"/>
              <a:t>  - </a:t>
            </a:r>
            <a:r>
              <a:rPr lang="ko-KR" altLang="en-US" sz="1000" dirty="0" smtClean="0"/>
              <a:t>보조사업자계좌번호 </a:t>
            </a:r>
            <a:r>
              <a:rPr lang="en-US" altLang="ko-KR" sz="1000" dirty="0" smtClean="0"/>
              <a:t>: </a:t>
            </a:r>
            <a:r>
              <a:rPr lang="ko-KR" altLang="en-US" sz="1000" dirty="0"/>
              <a:t>지자체 담당자가 </a:t>
            </a:r>
            <a:r>
              <a:rPr lang="en-US" altLang="ko-KR" sz="1000" dirty="0"/>
              <a:t>‘</a:t>
            </a:r>
            <a:r>
              <a:rPr lang="ko-KR" altLang="en-US" sz="1000" dirty="0"/>
              <a:t>승인</a:t>
            </a:r>
            <a:r>
              <a:rPr lang="en-US" altLang="ko-KR" sz="1000" dirty="0"/>
              <a:t>‘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처리 </a:t>
            </a:r>
            <a:r>
              <a:rPr lang="ko-KR" altLang="en-US" sz="1000" dirty="0"/>
              <a:t>시 </a:t>
            </a:r>
            <a:r>
              <a:rPr lang="ko-KR" altLang="en-US" sz="1000" dirty="0" err="1" smtClean="0"/>
              <a:t>반환이체</a:t>
            </a:r>
            <a:r>
              <a:rPr lang="ko-KR" altLang="en-US" sz="1000" dirty="0" smtClean="0"/>
              <a:t> 취소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준비상태가 되며 </a:t>
            </a:r>
            <a:r>
              <a:rPr lang="ko-KR" altLang="en-US" sz="1000" dirty="0" err="1" smtClean="0"/>
              <a:t>정산반환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err="1" smtClean="0"/>
              <a:t>취소이체</a:t>
            </a:r>
            <a:r>
              <a:rPr lang="en-US" altLang="ko-KR" sz="1000" dirty="0" smtClean="0"/>
              <a:t>(94047) </a:t>
            </a:r>
            <a:r>
              <a:rPr lang="ko-KR" altLang="en-US" sz="1000" dirty="0" smtClean="0"/>
              <a:t>화면에서 이체할 수 있음</a:t>
            </a:r>
            <a:endParaRPr lang="en-US" altLang="ko-KR" sz="1000" dirty="0"/>
          </a:p>
          <a:p>
            <a:endParaRPr lang="en-US" altLang="ko-KR" sz="1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878395" y="4123882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041121" y="4114357"/>
            <a:ext cx="406968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869245" y="4114357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4641495" y="4114357"/>
            <a:ext cx="892530" cy="552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38" y="733757"/>
            <a:ext cx="7980894" cy="551282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345240-3A5A-04C6-2610-01580CE41F25}"/>
              </a:ext>
            </a:extLst>
          </p:cNvPr>
          <p:cNvSpPr/>
          <p:nvPr/>
        </p:nvSpPr>
        <p:spPr>
          <a:xfrm>
            <a:off x="4487927" y="2496059"/>
            <a:ext cx="1132944" cy="10001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2058191" y="2496058"/>
            <a:ext cx="1160138" cy="10001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3151526" y="4021827"/>
            <a:ext cx="859220" cy="52328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689341" y="2496058"/>
            <a:ext cx="1166354" cy="10001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6624918" y="5952685"/>
            <a:ext cx="1954306" cy="3136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1B44928-4D52-4479-BCF7-2EF945189F83}"/>
              </a:ext>
            </a:extLst>
          </p:cNvPr>
          <p:cNvSpPr/>
          <p:nvPr/>
        </p:nvSpPr>
        <p:spPr>
          <a:xfrm>
            <a:off x="4554262" y="2468249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1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52BC9EB-A90C-4D9A-98CA-7429977DF2D4}"/>
              </a:ext>
            </a:extLst>
          </p:cNvPr>
          <p:cNvSpPr/>
          <p:nvPr/>
        </p:nvSpPr>
        <p:spPr>
          <a:xfrm>
            <a:off x="3799361" y="4085869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2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E0B3F51-E17C-4BF7-AB07-AD5304D6072A}"/>
              </a:ext>
            </a:extLst>
          </p:cNvPr>
          <p:cNvSpPr/>
          <p:nvPr/>
        </p:nvSpPr>
        <p:spPr>
          <a:xfrm>
            <a:off x="969019" y="2464517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atin typeface="+mn-ea"/>
              </a:rPr>
              <a:t>3</a:t>
            </a:r>
            <a:endParaRPr lang="ko-KR" altLang="en-US" sz="1400">
              <a:latin typeface="+mn-ea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B3C77D5-B807-47B9-A4D4-5A552897BFD8}"/>
              </a:ext>
            </a:extLst>
          </p:cNvPr>
          <p:cNvSpPr/>
          <p:nvPr/>
        </p:nvSpPr>
        <p:spPr>
          <a:xfrm>
            <a:off x="7922350" y="5721554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4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2EFCF9A-EF68-46EE-89B0-C459B8468046}"/>
              </a:ext>
            </a:extLst>
          </p:cNvPr>
          <p:cNvSpPr/>
          <p:nvPr/>
        </p:nvSpPr>
        <p:spPr>
          <a:xfrm>
            <a:off x="2960426" y="2442493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5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155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21512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3. 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정산반환취소 승인   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87132" y="710955"/>
            <a:ext cx="3187673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/>
              <a:t>1. </a:t>
            </a:r>
            <a:r>
              <a:rPr lang="ko-KR" altLang="en-US" sz="1000" dirty="0" smtClean="0"/>
              <a:t>정산반환취소 승인 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지자체 사업담당자</a:t>
            </a:r>
            <a:r>
              <a:rPr lang="en-US" altLang="ko-KR" sz="1000" dirty="0"/>
              <a:t>)</a:t>
            </a:r>
          </a:p>
          <a:p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ko-KR" altLang="en-US" sz="1000" dirty="0"/>
              <a:t>민간보조사업자가 보탬</a:t>
            </a:r>
            <a:r>
              <a:rPr lang="en-US" altLang="ko-KR" sz="1000" dirty="0"/>
              <a:t>e </a:t>
            </a:r>
            <a:r>
              <a:rPr lang="ko-KR" altLang="en-US" sz="1000" dirty="0"/>
              <a:t>로 </a:t>
            </a:r>
            <a:r>
              <a:rPr lang="ko-KR" altLang="en-US" sz="1000" dirty="0" err="1"/>
              <a:t>반환처리한</a:t>
            </a:r>
            <a:r>
              <a:rPr lang="ko-KR" altLang="en-US" sz="1000" dirty="0"/>
              <a:t> 금액을</a:t>
            </a:r>
            <a:endParaRPr lang="en-US" altLang="ko-KR" sz="1000" dirty="0"/>
          </a:p>
          <a:p>
            <a:r>
              <a:rPr lang="ko-KR" altLang="en-US" sz="1000" dirty="0" smtClean="0"/>
              <a:t>    취소 </a:t>
            </a:r>
            <a:r>
              <a:rPr lang="ko-KR" altLang="en-US" sz="1000" dirty="0"/>
              <a:t>하고자 </a:t>
            </a:r>
            <a:r>
              <a:rPr lang="ko-KR" altLang="en-US" sz="1000" dirty="0" err="1"/>
              <a:t>할때</a:t>
            </a:r>
            <a:r>
              <a:rPr lang="ko-KR" altLang="en-US" sz="1000" dirty="0"/>
              <a:t> </a:t>
            </a:r>
            <a:r>
              <a:rPr lang="ko-KR" altLang="en-US" sz="1000" dirty="0" err="1" smtClean="0"/>
              <a:t>취소처리에</a:t>
            </a:r>
            <a:r>
              <a:rPr lang="ko-KR" altLang="en-US" sz="1000" dirty="0" smtClean="0"/>
              <a:t> 대한 승인을 요청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하면 승인 또는 </a:t>
            </a:r>
            <a:r>
              <a:rPr lang="ko-KR" altLang="en-US" sz="1000" dirty="0" err="1" smtClean="0"/>
              <a:t>반려처리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하기위한</a:t>
            </a:r>
            <a:r>
              <a:rPr lang="ko-KR" altLang="en-US" sz="1000" dirty="0" smtClean="0"/>
              <a:t> 화면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ko-KR" altLang="en-US" sz="1000" dirty="0" err="1" smtClean="0"/>
              <a:t>요청건을</a:t>
            </a:r>
            <a:r>
              <a:rPr lang="ko-KR" altLang="en-US" sz="1000" dirty="0" smtClean="0"/>
              <a:t> 클릭하면 하단에 징수진행상태 </a:t>
            </a:r>
            <a:r>
              <a:rPr lang="ko-KR" altLang="en-US" sz="1000" dirty="0"/>
              <a:t>① 값이 </a:t>
            </a:r>
            <a:r>
              <a:rPr lang="en-US" altLang="ko-KR" sz="1000" dirty="0" smtClean="0"/>
              <a:t>  </a:t>
            </a:r>
            <a:endParaRPr lang="en-US" altLang="ko-KR" sz="1000" dirty="0"/>
          </a:p>
          <a:p>
            <a:r>
              <a:rPr lang="en-US" altLang="ko-KR" sz="1000" dirty="0"/>
              <a:t>    </a:t>
            </a:r>
            <a:r>
              <a:rPr lang="ko-KR" altLang="en-US" sz="1000" dirty="0" smtClean="0"/>
              <a:t>조회됨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err="1" smtClean="0"/>
              <a:t>징수상태가</a:t>
            </a:r>
            <a:r>
              <a:rPr lang="ko-KR" altLang="en-US" sz="1000" dirty="0" smtClean="0"/>
              <a:t> 진행중 이거나 완료인 것은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취소 불가능 하므로 승인할 수 없음</a:t>
            </a:r>
            <a:r>
              <a:rPr lang="en-US" altLang="ko-KR" sz="1000" dirty="0" smtClean="0"/>
              <a:t>.</a:t>
            </a:r>
          </a:p>
          <a:p>
            <a:r>
              <a:rPr lang="en-US" altLang="ko-KR" sz="1000" dirty="0" smtClean="0"/>
              <a:t> </a:t>
            </a:r>
            <a:endParaRPr lang="en-US" altLang="ko-KR" sz="1000" dirty="0"/>
          </a:p>
          <a:p>
            <a:r>
              <a:rPr lang="en-US" altLang="ko-KR" sz="1000" dirty="0"/>
              <a:t>2. </a:t>
            </a:r>
            <a:r>
              <a:rPr lang="ko-KR" altLang="en-US" sz="1000" dirty="0" smtClean="0"/>
              <a:t>반환취소요청 승인 </a:t>
            </a:r>
            <a:r>
              <a:rPr lang="en-US" altLang="ko-KR" sz="1000" dirty="0" smtClean="0"/>
              <a:t>/ </a:t>
            </a:r>
            <a:r>
              <a:rPr lang="ko-KR" altLang="en-US" sz="1000" dirty="0" smtClean="0"/>
              <a:t>반려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ko-KR" altLang="en-US" sz="1000" dirty="0" err="1"/>
              <a:t>반환취소</a:t>
            </a:r>
            <a:r>
              <a:rPr lang="ko-KR" altLang="en-US" sz="1000" dirty="0"/>
              <a:t> 하고자 하는 자료를 선택 </a:t>
            </a:r>
            <a:r>
              <a:rPr lang="ko-KR" altLang="en-US" sz="1000" dirty="0" smtClean="0"/>
              <a:t>② 한 </a:t>
            </a:r>
            <a:r>
              <a:rPr lang="ko-KR" altLang="en-US" sz="1000" dirty="0"/>
              <a:t>후</a:t>
            </a:r>
            <a:endParaRPr lang="en-US" altLang="ko-KR" sz="1000" dirty="0"/>
          </a:p>
          <a:p>
            <a:r>
              <a:rPr lang="en-US" altLang="ko-KR" sz="1000" dirty="0"/>
              <a:t>    [</a:t>
            </a:r>
            <a:r>
              <a:rPr lang="ko-KR" altLang="en-US" sz="1000" dirty="0" err="1"/>
              <a:t>반환취소</a:t>
            </a:r>
            <a:r>
              <a:rPr lang="ko-KR" altLang="en-US" sz="1000" dirty="0"/>
              <a:t> </a:t>
            </a:r>
            <a:r>
              <a:rPr lang="ko-KR" altLang="en-US" sz="1000" dirty="0" smtClean="0"/>
              <a:t>요청</a:t>
            </a:r>
            <a:r>
              <a:rPr lang="en-US" altLang="ko-KR" sz="1000" dirty="0" smtClean="0"/>
              <a:t>] </a:t>
            </a:r>
            <a:r>
              <a:rPr lang="ko-KR" altLang="en-US" sz="1000" dirty="0" smtClean="0"/>
              <a:t>또는 </a:t>
            </a:r>
            <a:r>
              <a:rPr lang="en-US" altLang="ko-KR" sz="1000" dirty="0" smtClean="0"/>
              <a:t>[</a:t>
            </a:r>
            <a:r>
              <a:rPr lang="ko-KR" altLang="en-US" sz="1000" dirty="0" smtClean="0"/>
              <a:t>반려</a:t>
            </a:r>
            <a:r>
              <a:rPr lang="en-US" altLang="ko-KR" sz="1000" dirty="0" smtClean="0"/>
              <a:t>] ③ </a:t>
            </a:r>
            <a:r>
              <a:rPr lang="ko-KR" altLang="en-US" sz="1000" dirty="0" smtClean="0"/>
              <a:t>버튼 </a:t>
            </a:r>
            <a:r>
              <a:rPr lang="ko-KR" altLang="en-US" sz="1000" dirty="0"/>
              <a:t>클릭</a:t>
            </a:r>
            <a:r>
              <a:rPr lang="en-US" altLang="ko-KR" sz="1000" dirty="0"/>
              <a:t> </a:t>
            </a:r>
          </a:p>
          <a:p>
            <a:r>
              <a:rPr lang="en-US" altLang="ko-KR" sz="1000" dirty="0" smtClean="0"/>
              <a:t> </a:t>
            </a:r>
            <a:endParaRPr lang="en-US" altLang="ko-KR" sz="1000" dirty="0"/>
          </a:p>
          <a:p>
            <a:r>
              <a:rPr lang="en-US" altLang="ko-KR" sz="1000" dirty="0"/>
              <a:t>3. </a:t>
            </a:r>
            <a:r>
              <a:rPr lang="ko-KR" altLang="en-US" sz="1000" dirty="0"/>
              <a:t>출금계좌구분</a:t>
            </a:r>
            <a:r>
              <a:rPr lang="ko-KR" altLang="en-US" sz="1000" dirty="0" smtClean="0"/>
              <a:t> </a:t>
            </a:r>
            <a:r>
              <a:rPr lang="ko-KR" altLang="en-US" sz="1000" dirty="0"/>
              <a:t>④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  </a:t>
            </a:r>
            <a:r>
              <a:rPr lang="en-US" altLang="ko-KR" sz="1000" dirty="0" smtClean="0"/>
              <a:t>- </a:t>
            </a:r>
            <a:r>
              <a:rPr lang="ko-KR" altLang="en-US" sz="1000" dirty="0" err="1"/>
              <a:t>출금계좌</a:t>
            </a:r>
            <a:r>
              <a:rPr lang="ko-KR" altLang="en-US" sz="1000" dirty="0"/>
              <a:t> 구분에 따라 후처리 가 다르게 적용됨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ko-KR" altLang="en-US" sz="1000" dirty="0"/>
              <a:t>보조금예치계좌번호 </a:t>
            </a:r>
            <a:r>
              <a:rPr lang="en-US" altLang="ko-KR" sz="1000" dirty="0"/>
              <a:t>: </a:t>
            </a:r>
            <a:r>
              <a:rPr lang="ko-KR" altLang="en-US" sz="1000" dirty="0" smtClean="0"/>
              <a:t> </a:t>
            </a:r>
            <a:r>
              <a:rPr lang="en-US" altLang="ko-KR" sz="1000" dirty="0"/>
              <a:t>‘</a:t>
            </a:r>
            <a:r>
              <a:rPr lang="ko-KR" altLang="en-US" sz="1000" dirty="0"/>
              <a:t>승인</a:t>
            </a:r>
            <a:r>
              <a:rPr lang="en-US" altLang="ko-KR" sz="1000" dirty="0"/>
              <a:t>‘ </a:t>
            </a:r>
            <a:r>
              <a:rPr lang="ko-KR" altLang="en-US" sz="1000" dirty="0" smtClean="0"/>
              <a:t>처리 </a:t>
            </a:r>
            <a:r>
              <a:rPr lang="ko-KR" altLang="en-US" sz="1000" dirty="0"/>
              <a:t>시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</a:t>
            </a:r>
            <a:r>
              <a:rPr lang="ko-KR" altLang="en-US" sz="1000" dirty="0" smtClean="0"/>
              <a:t>바로 </a:t>
            </a:r>
            <a:r>
              <a:rPr lang="en-US" altLang="ko-KR" sz="1000" dirty="0" smtClean="0"/>
              <a:t>'</a:t>
            </a:r>
            <a:r>
              <a:rPr lang="ko-KR" altLang="en-US" sz="1000" dirty="0" smtClean="0"/>
              <a:t>반환취소완료</a:t>
            </a:r>
            <a:r>
              <a:rPr lang="en-US" altLang="ko-KR" sz="1000" dirty="0" smtClean="0"/>
              <a:t>＇</a:t>
            </a:r>
            <a:r>
              <a:rPr lang="ko-KR" altLang="en-US" sz="1000" dirty="0" smtClean="0"/>
              <a:t> 처리됨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(</a:t>
            </a:r>
            <a:r>
              <a:rPr lang="ko-KR" altLang="en-US" sz="1000" dirty="0" smtClean="0"/>
              <a:t>실제 이체가 필요없이 </a:t>
            </a:r>
            <a:r>
              <a:rPr lang="ko-KR" altLang="en-US" sz="1000" dirty="0" err="1" smtClean="0"/>
              <a:t>상태값만</a:t>
            </a:r>
            <a:r>
              <a:rPr lang="ko-KR" altLang="en-US" sz="1000" dirty="0" smtClean="0"/>
              <a:t> 변경되므로</a:t>
            </a:r>
            <a:r>
              <a:rPr lang="en-US" altLang="ko-KR" sz="1000" dirty="0" smtClean="0"/>
              <a:t>)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ko-KR" altLang="en-US" sz="1000" dirty="0"/>
              <a:t>보조사업자계좌번호 </a:t>
            </a:r>
            <a:r>
              <a:rPr lang="en-US" altLang="ko-KR" sz="1000" dirty="0"/>
              <a:t>: </a:t>
            </a:r>
            <a:r>
              <a:rPr lang="en-US" altLang="ko-KR" sz="1000" dirty="0" smtClean="0"/>
              <a:t>‘</a:t>
            </a:r>
            <a:r>
              <a:rPr lang="ko-KR" altLang="en-US" sz="1000" dirty="0"/>
              <a:t>승인</a:t>
            </a:r>
            <a:r>
              <a:rPr lang="en-US" altLang="ko-KR" sz="1000" dirty="0"/>
              <a:t>‘ </a:t>
            </a:r>
            <a:r>
              <a:rPr lang="ko-KR" altLang="en-US" sz="1000" dirty="0" smtClean="0"/>
              <a:t>처리 </a:t>
            </a:r>
            <a:r>
              <a:rPr lang="ko-KR" altLang="en-US" sz="1000" dirty="0"/>
              <a:t>시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err="1" smtClean="0"/>
              <a:t>반환이체</a:t>
            </a:r>
            <a:r>
              <a:rPr lang="ko-KR" altLang="en-US" sz="1000" dirty="0" smtClean="0"/>
              <a:t> </a:t>
            </a:r>
            <a:r>
              <a:rPr lang="ko-KR" altLang="en-US" sz="1000" dirty="0"/>
              <a:t>취소</a:t>
            </a:r>
            <a:r>
              <a:rPr lang="en-US" altLang="ko-KR" sz="1000" dirty="0"/>
              <a:t> </a:t>
            </a:r>
            <a:r>
              <a:rPr lang="ko-KR" altLang="en-US" sz="1000" dirty="0"/>
              <a:t>준비상태가 되며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민간보조사업자가 정산반환취소이체</a:t>
            </a:r>
            <a:r>
              <a:rPr lang="en-US" altLang="ko-KR" sz="1000" dirty="0"/>
              <a:t>(94047)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화면에서 직접 </a:t>
            </a:r>
            <a:r>
              <a:rPr lang="ko-KR" altLang="en-US" sz="1000" dirty="0" err="1" smtClean="0"/>
              <a:t>이체처리를</a:t>
            </a:r>
            <a:r>
              <a:rPr lang="ko-KR" altLang="en-US" sz="1000" dirty="0" smtClean="0"/>
              <a:t> 통해 </a:t>
            </a:r>
            <a:r>
              <a:rPr lang="ko-KR" altLang="en-US" sz="1000" dirty="0" err="1" smtClean="0"/>
              <a:t>반환취소</a:t>
            </a:r>
            <a:r>
              <a:rPr lang="ko-KR" altLang="en-US" sz="1000" dirty="0" smtClean="0"/>
              <a:t> 완료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처리할 </a:t>
            </a:r>
            <a:r>
              <a:rPr lang="ko-KR" altLang="en-US" sz="1000" dirty="0"/>
              <a:t>수 있음</a:t>
            </a:r>
            <a:endParaRPr lang="en-US" altLang="ko-KR" sz="10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4641495" y="4114357"/>
            <a:ext cx="892530" cy="552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38" y="747031"/>
            <a:ext cx="7980894" cy="5448077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2254097" y="2978791"/>
            <a:ext cx="1160138" cy="10001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6268640" y="4369549"/>
            <a:ext cx="2310583" cy="52328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680376" y="2998082"/>
            <a:ext cx="832325" cy="10001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6795246" y="5889930"/>
            <a:ext cx="1783977" cy="3136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1B44928-4D52-4479-BCF7-2EF945189F83}"/>
              </a:ext>
            </a:extLst>
          </p:cNvPr>
          <p:cNvSpPr/>
          <p:nvPr/>
        </p:nvSpPr>
        <p:spPr>
          <a:xfrm>
            <a:off x="6623959" y="4140126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1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52BC9EB-A90C-4D9A-98CA-7429977DF2D4}"/>
              </a:ext>
            </a:extLst>
          </p:cNvPr>
          <p:cNvSpPr/>
          <p:nvPr/>
        </p:nvSpPr>
        <p:spPr>
          <a:xfrm>
            <a:off x="990845" y="3048418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2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E0B3F51-E17C-4BF7-AB07-AD5304D6072A}"/>
              </a:ext>
            </a:extLst>
          </p:cNvPr>
          <p:cNvSpPr/>
          <p:nvPr/>
        </p:nvSpPr>
        <p:spPr>
          <a:xfrm>
            <a:off x="8139528" y="5658830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atin typeface="+mn-ea"/>
              </a:rPr>
              <a:t>3</a:t>
            </a:r>
            <a:endParaRPr lang="ko-KR" altLang="en-US" sz="1400">
              <a:latin typeface="+mn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EB3C77D5-B807-47B9-A4D4-5A552897BFD8}"/>
              </a:ext>
            </a:extLst>
          </p:cNvPr>
          <p:cNvSpPr/>
          <p:nvPr/>
        </p:nvSpPr>
        <p:spPr>
          <a:xfrm>
            <a:off x="2584681" y="2998082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4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615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21512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 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정산반환취소 이체   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87132" y="710955"/>
            <a:ext cx="31876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/>
              <a:t>1. </a:t>
            </a:r>
            <a:r>
              <a:rPr lang="ko-KR" altLang="en-US" sz="1000" dirty="0" err="1"/>
              <a:t>정산반환</a:t>
            </a:r>
            <a:r>
              <a:rPr lang="ko-KR" altLang="en-US" sz="1000" dirty="0"/>
              <a:t> </a:t>
            </a:r>
            <a:r>
              <a:rPr lang="ko-KR" altLang="en-US" sz="1000" dirty="0" err="1" smtClean="0"/>
              <a:t>취소이</a:t>
            </a:r>
            <a:r>
              <a:rPr lang="ko-KR" altLang="en-US" sz="1000" dirty="0" err="1"/>
              <a:t>체</a:t>
            </a:r>
            <a:r>
              <a:rPr lang="ko-KR" altLang="en-US" sz="1000" dirty="0" smtClean="0"/>
              <a:t> </a:t>
            </a:r>
            <a:r>
              <a:rPr lang="en-US" altLang="ko-KR" sz="1000" dirty="0"/>
              <a:t>(</a:t>
            </a:r>
            <a:r>
              <a:rPr lang="ko-KR" altLang="en-US" sz="1000" dirty="0"/>
              <a:t>민간 </a:t>
            </a:r>
            <a:r>
              <a:rPr lang="ko-KR" altLang="en-US" sz="1000" dirty="0" err="1"/>
              <a:t>보조사업자</a:t>
            </a:r>
            <a:r>
              <a:rPr lang="en-US" altLang="ko-KR" sz="1000" dirty="0"/>
              <a:t>)</a:t>
            </a:r>
          </a:p>
          <a:p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ko-KR" altLang="en-US" sz="1000" dirty="0" err="1" smtClean="0"/>
              <a:t>반환취소</a:t>
            </a:r>
            <a:r>
              <a:rPr lang="ko-KR" altLang="en-US" sz="1000" dirty="0" smtClean="0"/>
              <a:t> 요청한 자료가 지자체 담당자로 부터 </a:t>
            </a:r>
            <a:r>
              <a:rPr lang="ko-KR" altLang="en-US" sz="1000" dirty="0" err="1" smtClean="0"/>
              <a:t>승인처리</a:t>
            </a:r>
            <a:r>
              <a:rPr lang="ko-KR" altLang="en-US" sz="1000" dirty="0" smtClean="0"/>
              <a:t> 되면 이체할 수 있는 상태가 됨</a:t>
            </a:r>
            <a:r>
              <a:rPr lang="en-US" altLang="ko-KR" sz="1000" dirty="0" smtClean="0"/>
              <a:t>.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ko-KR" altLang="en-US" sz="1000" dirty="0" smtClean="0"/>
              <a:t>이체 처리할 대상을 선택 </a:t>
            </a:r>
            <a:r>
              <a:rPr lang="ko-KR" altLang="en-US" sz="1000" dirty="0"/>
              <a:t>① </a:t>
            </a:r>
            <a:endParaRPr lang="en-US" altLang="ko-KR" sz="1000" dirty="0" smtClean="0"/>
          </a:p>
          <a:p>
            <a:r>
              <a:rPr lang="en-US" altLang="ko-KR" sz="1000" dirty="0" smtClean="0"/>
              <a:t>    </a:t>
            </a:r>
            <a:r>
              <a:rPr lang="ko-KR" altLang="en-US" sz="1000" dirty="0" smtClean="0"/>
              <a:t>이체비밀번호 및 인증서 인증 ② </a:t>
            </a:r>
            <a:r>
              <a:rPr lang="en-US" altLang="ko-KR" sz="1000" dirty="0" smtClean="0"/>
              <a:t>  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err="1" smtClean="0"/>
              <a:t>이체실행</a:t>
            </a:r>
            <a:r>
              <a:rPr lang="ko-KR" altLang="en-US" sz="1000" dirty="0" smtClean="0"/>
              <a:t> 처리 ③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en-US" altLang="ko-KR" sz="1000" dirty="0"/>
              <a:t>2. </a:t>
            </a:r>
            <a:r>
              <a:rPr lang="ko-KR" altLang="en-US" sz="1000" dirty="0" smtClean="0"/>
              <a:t>이체가 성공하면 반환했던 금액이 보탬</a:t>
            </a:r>
            <a:r>
              <a:rPr lang="en-US" altLang="ko-KR" sz="1000" dirty="0" smtClean="0"/>
              <a:t>e </a:t>
            </a:r>
            <a:r>
              <a:rPr lang="ko-KR" altLang="en-US" sz="1000" dirty="0" smtClean="0"/>
              <a:t>에서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smtClean="0"/>
              <a:t>보조사업자의 </a:t>
            </a:r>
            <a:r>
              <a:rPr lang="ko-KR" altLang="en-US" sz="1000" dirty="0" err="1" smtClean="0"/>
              <a:t>자부담</a:t>
            </a:r>
            <a:r>
              <a:rPr lang="ko-KR" altLang="en-US" sz="1000" dirty="0" smtClean="0"/>
              <a:t> 계좌로 이체 처리됨</a:t>
            </a:r>
            <a:r>
              <a:rPr lang="en-US" altLang="ko-KR" sz="1000" dirty="0" smtClean="0"/>
              <a:t>. </a:t>
            </a:r>
            <a:endParaRPr lang="en-US" altLang="ko-KR" sz="1000" dirty="0"/>
          </a:p>
          <a:p>
            <a:endParaRPr lang="en-US" altLang="ko-KR" sz="1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878395" y="4123882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041121" y="4114357"/>
            <a:ext cx="406968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3869245" y="4114357"/>
            <a:ext cx="369971" cy="764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92CCD4-1859-4702-B097-E26F01805876}"/>
              </a:ext>
            </a:extLst>
          </p:cNvPr>
          <p:cNvSpPr/>
          <p:nvPr/>
        </p:nvSpPr>
        <p:spPr>
          <a:xfrm>
            <a:off x="4641495" y="4114357"/>
            <a:ext cx="892530" cy="552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38" y="742723"/>
            <a:ext cx="7980894" cy="548114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4596685" y="3867524"/>
            <a:ext cx="3821174" cy="52328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647217" y="2450444"/>
            <a:ext cx="1351912" cy="4092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7862047" y="5907860"/>
            <a:ext cx="717176" cy="3136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1B44928-4D52-4479-BCF7-2EF945189F83}"/>
              </a:ext>
            </a:extLst>
          </p:cNvPr>
          <p:cNvSpPr/>
          <p:nvPr/>
        </p:nvSpPr>
        <p:spPr>
          <a:xfrm>
            <a:off x="957687" y="2477476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1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52BC9EB-A90C-4D9A-98CA-7429977DF2D4}"/>
              </a:ext>
            </a:extLst>
          </p:cNvPr>
          <p:cNvSpPr/>
          <p:nvPr/>
        </p:nvSpPr>
        <p:spPr>
          <a:xfrm>
            <a:off x="6176024" y="4123882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2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8E0B3F51-E17C-4BF7-AB07-AD5304D6072A}"/>
              </a:ext>
            </a:extLst>
          </p:cNvPr>
          <p:cNvSpPr/>
          <p:nvPr/>
        </p:nvSpPr>
        <p:spPr>
          <a:xfrm>
            <a:off x="8139528" y="5658830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atin typeface="+mn-ea"/>
              </a:rPr>
              <a:t>3</a:t>
            </a:r>
            <a:endParaRPr lang="ko-KR" altLang="en-US" sz="1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4494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91">
            <a:extLst>
              <a:ext uri="{FF2B5EF4-FFF2-40B4-BE49-F238E27FC236}">
                <a16:creationId xmlns:a16="http://schemas.microsoft.com/office/drawing/2014/main" id="{F0B3C4FB-55C5-48F7-BA1A-1FCBED74D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38" y="227818"/>
            <a:ext cx="25551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indent="0" latinLnBrk="0">
              <a:spcBef>
                <a:spcPct val="0"/>
              </a:spcBef>
              <a:buClr>
                <a:srgbClr val="0085CD"/>
              </a:buClr>
              <a:buSzPct val="120000"/>
              <a:defRPr kumimoji="0" sz="14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Medium" pitchFamily="18" charset="-127"/>
                <a:ea typeface="KoPub돋움체 Medium" pitchFamily="18" charset="-127"/>
                <a:cs typeface="Arial" charset="0"/>
              </a:defRPr>
            </a:lvl1pPr>
            <a:lvl2pPr marL="742950" indent="-28575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marL="11430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marL="16002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marL="2057400" indent="-228600" eaLnBrk="0" hangingPunct="0">
              <a:spcBef>
                <a:spcPct val="50000"/>
              </a:spcBef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100" baseline="-25000">
                <a:solidFill>
                  <a:schemeClr val="accent2"/>
                </a:solidFill>
                <a:latin typeface="나눔고딕 ExtraBold" pitchFamily="50" charset="-127"/>
                <a:ea typeface="나눔고딕 ExtraBold" pitchFamily="50" charset="-127"/>
              </a:defRPr>
            </a:lvl9pPr>
          </a:lstStyle>
          <a:p>
            <a:r>
              <a:rPr lang="en-US" altLang="ko-KR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 </a:t>
            </a:r>
            <a:r>
              <a:rPr lang="ko-KR" altLang="en-US" sz="1800" dirty="0" err="1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정산반환</a:t>
            </a:r>
            <a:r>
              <a:rPr lang="ko-KR" altLang="en-US" sz="1800" dirty="0" smtClean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취소 내역 확인 </a:t>
            </a:r>
            <a:endParaRPr lang="ko-KR" altLang="en-US" sz="1800" dirty="0">
              <a:ln>
                <a:solidFill>
                  <a:srgbClr val="D1D1D1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87132" y="710955"/>
            <a:ext cx="318767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/>
              <a:t>1. </a:t>
            </a:r>
            <a:r>
              <a:rPr lang="ko-KR" altLang="en-US" sz="1000" dirty="0" smtClean="0"/>
              <a:t>정산반환요청등록</a:t>
            </a:r>
            <a:r>
              <a:rPr lang="en-US" altLang="ko-KR" sz="1000" dirty="0" smtClean="0"/>
              <a:t>(94011)  </a:t>
            </a:r>
            <a:r>
              <a:rPr lang="ko-KR" altLang="en-US" sz="1000" dirty="0" smtClean="0"/>
              <a:t> </a:t>
            </a:r>
            <a:r>
              <a:rPr lang="en-US" altLang="ko-KR" sz="1000" dirty="0"/>
              <a:t>(</a:t>
            </a:r>
            <a:r>
              <a:rPr lang="ko-KR" altLang="en-US" sz="1000" dirty="0"/>
              <a:t>민간 </a:t>
            </a:r>
            <a:r>
              <a:rPr lang="ko-KR" altLang="en-US" sz="1000" dirty="0" err="1"/>
              <a:t>보조사업자</a:t>
            </a:r>
            <a:r>
              <a:rPr lang="en-US" altLang="ko-KR" sz="1000" dirty="0"/>
              <a:t>)</a:t>
            </a:r>
          </a:p>
          <a:p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ko-KR" altLang="en-US" sz="1000" dirty="0" smtClean="0"/>
              <a:t>반환진행상태 ① 에서 </a:t>
            </a:r>
            <a:r>
              <a:rPr lang="en-US" altLang="ko-KR" sz="1000" dirty="0" smtClean="0"/>
              <a:t>‘</a:t>
            </a:r>
            <a:r>
              <a:rPr lang="ko-KR" altLang="en-US" sz="1000" dirty="0" smtClean="0"/>
              <a:t>반환이체완료</a:t>
            </a:r>
            <a:r>
              <a:rPr lang="en-US" altLang="ko-KR" sz="1000" dirty="0" smtClean="0"/>
              <a:t>’</a:t>
            </a:r>
            <a:r>
              <a:rPr lang="ko-KR" altLang="en-US" sz="1000" dirty="0" smtClean="0"/>
              <a:t> 였던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err="1" smtClean="0"/>
              <a:t>반환금액이</a:t>
            </a:r>
            <a:r>
              <a:rPr lang="en-US" altLang="ko-KR" sz="1000" dirty="0" smtClean="0"/>
              <a:t> ‘</a:t>
            </a:r>
            <a:r>
              <a:rPr lang="ko-KR" altLang="en-US" sz="1000" dirty="0" err="1" smtClean="0"/>
              <a:t>반환등록</a:t>
            </a:r>
            <a:r>
              <a:rPr lang="en-US" altLang="ko-KR" sz="1000" dirty="0" smtClean="0"/>
              <a:t>’</a:t>
            </a:r>
            <a:r>
              <a:rPr lang="ko-KR" altLang="en-US" sz="1000" dirty="0" smtClean="0"/>
              <a:t> 상태로 변경된 것을 확인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</a:t>
            </a:r>
            <a:r>
              <a:rPr lang="ko-KR" altLang="en-US" sz="1000" dirty="0" smtClean="0"/>
              <a:t>할 수 있음</a:t>
            </a:r>
            <a:endParaRPr lang="en-US" altLang="ko-KR" sz="1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38" y="749535"/>
            <a:ext cx="7980894" cy="5441689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52EC8E-CB60-C758-692F-C45622F02B55}"/>
              </a:ext>
            </a:extLst>
          </p:cNvPr>
          <p:cNvSpPr/>
          <p:nvPr/>
        </p:nvSpPr>
        <p:spPr>
          <a:xfrm>
            <a:off x="3677287" y="2387691"/>
            <a:ext cx="984360" cy="100993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1B44928-4D52-4479-BCF7-2EF945189F83}"/>
              </a:ext>
            </a:extLst>
          </p:cNvPr>
          <p:cNvSpPr/>
          <p:nvPr/>
        </p:nvSpPr>
        <p:spPr>
          <a:xfrm>
            <a:off x="4050510" y="2118687"/>
            <a:ext cx="211385" cy="2113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1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2496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6931</TotalTime>
  <Words>598</Words>
  <Application>Microsoft Office PowerPoint</Application>
  <PresentationFormat>와이드스크린</PresentationFormat>
  <Paragraphs>186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KoPub돋움체 Bold</vt:lpstr>
      <vt:lpstr>KoPub돋움체 Light</vt:lpstr>
      <vt:lpstr>KoPub돋움체 Medium</vt:lpstr>
      <vt:lpstr>Rix모던고딕 EB</vt:lpstr>
      <vt:lpstr>굴림</vt:lpstr>
      <vt:lpstr>돋움</vt:lpstr>
      <vt:lpstr>맑은 고딕</vt:lpstr>
      <vt:lpstr>바탕체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Metanet</cp:lastModifiedBy>
  <cp:revision>454</cp:revision>
  <dcterms:created xsi:type="dcterms:W3CDTF">2024-05-01T04:36:42Z</dcterms:created>
  <dcterms:modified xsi:type="dcterms:W3CDTF">2025-11-12T01:57:16Z</dcterms:modified>
</cp:coreProperties>
</file>
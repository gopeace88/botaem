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81" r:id="rId2"/>
    <p:sldId id="309" r:id="rId3"/>
    <p:sldId id="310" r:id="rId4"/>
    <p:sldId id="299" r:id="rId5"/>
    <p:sldId id="300" r:id="rId6"/>
    <p:sldId id="301" r:id="rId7"/>
    <p:sldId id="302" r:id="rId8"/>
    <p:sldId id="303" r:id="rId9"/>
    <p:sldId id="304" r:id="rId10"/>
    <p:sldId id="321" r:id="rId11"/>
    <p:sldId id="305" r:id="rId12"/>
    <p:sldId id="32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6357" autoAdjust="0"/>
  </p:normalViewPr>
  <p:slideViewPr>
    <p:cSldViewPr snapToGrid="0">
      <p:cViewPr varScale="1">
        <p:scale>
          <a:sx n="101" d="100"/>
          <a:sy n="101" d="100"/>
        </p:scale>
        <p:origin x="1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C3F37-9A56-49E4-9335-D88AD65C63EE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1F4D-D6BA-4114-AD89-56C48743A3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09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0E805-45B6-4C5F-9678-2050CEC633B9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42C9C-4669-4C86-A195-448ADE8E9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6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18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383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5321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879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732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0317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320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4321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331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2232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291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703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596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229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216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2323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98350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4436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424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805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23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966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139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124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805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787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888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592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60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045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C161AD7-C609-4DCC-80C3-0D51F827EA92}"/>
              </a:ext>
            </a:extLst>
          </p:cNvPr>
          <p:cNvGrpSpPr/>
          <p:nvPr userDrawn="1"/>
        </p:nvGrpSpPr>
        <p:grpSpPr>
          <a:xfrm>
            <a:off x="335360" y="6407443"/>
            <a:ext cx="2481507" cy="331365"/>
            <a:chOff x="408700" y="643228"/>
            <a:chExt cx="3637191" cy="36060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C8C857F-307E-4B6A-ABC2-771156385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7394" y="643702"/>
              <a:ext cx="2128497" cy="29798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7AB6731-FBDC-4858-86F6-F4B4E0AB8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700" y="643228"/>
              <a:ext cx="1489864" cy="360605"/>
            </a:xfrm>
            <a:prstGeom prst="rect">
              <a:avLst/>
            </a:prstGeom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FB910C0-D315-4A96-B19A-3445A2A0806B}"/>
                </a:ext>
              </a:extLst>
            </p:cNvPr>
            <p:cNvCxnSpPr>
              <a:cxnSpLocks/>
            </p:cNvCxnSpPr>
            <p:nvPr/>
          </p:nvCxnSpPr>
          <p:spPr>
            <a:xfrm>
              <a:off x="1847927" y="735395"/>
              <a:ext cx="0" cy="1576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 userDrawn="1"/>
        </p:nvGrpSpPr>
        <p:grpSpPr>
          <a:xfrm>
            <a:off x="535066" y="653528"/>
            <a:ext cx="11115159" cy="111179"/>
            <a:chOff x="561814" y="758710"/>
            <a:chExt cx="8853119" cy="111179"/>
          </a:xfrm>
        </p:grpSpPr>
        <p:sp>
          <p:nvSpPr>
            <p:cNvPr id="9" name="직각 삼각형 8"/>
            <p:cNvSpPr/>
            <p:nvPr userDrawn="1"/>
          </p:nvSpPr>
          <p:spPr>
            <a:xfrm flipH="1" flipV="1">
              <a:off x="7085286" y="761505"/>
              <a:ext cx="2266135" cy="108384"/>
            </a:xfrm>
            <a:prstGeom prst="rtTriangle">
              <a:avLst/>
            </a:prstGeom>
            <a:gradFill>
              <a:gsLst>
                <a:gs pos="0">
                  <a:schemeClr val="bg1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9720"/>
              <a:endParaRPr lang="ko-KR" altLang="en-US" sz="1240" dirty="0">
                <a:solidFill>
                  <a:prstClr val="white"/>
                </a:solidFill>
                <a:ea typeface="KoPub돋움체 Medium" panose="02020603020101020101" pitchFamily="18" charset="-127"/>
              </a:endParaRPr>
            </a:p>
          </p:txBody>
        </p:sp>
        <p:cxnSp>
          <p:nvCxnSpPr>
            <p:cNvPr id="12" name="직선 연결선 11"/>
            <p:cNvCxnSpPr/>
            <p:nvPr userDrawn="1"/>
          </p:nvCxnSpPr>
          <p:spPr>
            <a:xfrm>
              <a:off x="885243" y="758710"/>
              <a:ext cx="8529690" cy="0"/>
            </a:xfrm>
            <a:prstGeom prst="line">
              <a:avLst/>
            </a:prstGeom>
            <a:ln w="2222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561814" y="758710"/>
              <a:ext cx="340758" cy="0"/>
            </a:xfrm>
            <a:prstGeom prst="line">
              <a:avLst/>
            </a:prstGeom>
            <a:ln w="25400" cap="rnd">
              <a:solidFill>
                <a:srgbClr val="0538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슬라이드 번호 개체 틀 18">
            <a:extLst>
              <a:ext uri="{FF2B5EF4-FFF2-40B4-BE49-F238E27FC236}">
                <a16:creationId xmlns:a16="http://schemas.microsoft.com/office/drawing/2014/main" id="{E040A672-9DFF-4728-9EA0-3B5C83ECE0B2}"/>
              </a:ext>
            </a:extLst>
          </p:cNvPr>
          <p:cNvSpPr txBox="1">
            <a:spLocks/>
          </p:cNvSpPr>
          <p:nvPr userDrawn="1"/>
        </p:nvSpPr>
        <p:spPr>
          <a:xfrm>
            <a:off x="4924079" y="6407443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Rix모던고딕 EB"/>
                <a:ea typeface="굴림"/>
                <a:cs typeface="+mn-cs"/>
              </a:defRPr>
            </a:lvl1pPr>
            <a:lvl2pPr marL="454025" indent="317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2pPr>
            <a:lvl3pPr marL="909638" indent="4763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3pPr>
            <a:lvl4pPr marL="1365250" indent="635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4pPr>
            <a:lvl5pPr marL="1819275" indent="952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9pPr>
          </a:lstStyle>
          <a:p>
            <a:pPr algn="ctr"/>
            <a:fld id="{B10A8F86-DD25-4E05-9C40-D4C7321258A7}" type="slidenum">
              <a:rPr lang="ko-KR" altLang="en-US" sz="900" smtClean="0"/>
              <a:pPr algn="ctr"/>
              <a:t>‹#›</a:t>
            </a:fld>
            <a:endParaRPr lang="ko-KR" altLang="en-US" sz="9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AB47C6-66F1-436B-A804-161650B940BF}"/>
              </a:ext>
            </a:extLst>
          </p:cNvPr>
          <p:cNvSpPr/>
          <p:nvPr userDrawn="1"/>
        </p:nvSpPr>
        <p:spPr>
          <a:xfrm>
            <a:off x="608037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7480DD-4B1E-4C67-8DFF-33CB582CC7BD}"/>
              </a:ext>
            </a:extLst>
          </p:cNvPr>
          <p:cNvSpPr/>
          <p:nvPr userDrawn="1"/>
        </p:nvSpPr>
        <p:spPr>
          <a:xfrm>
            <a:off x="645441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1992460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89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220C-7EDB-4925-88F5-72D283FB560B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45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sims.go.kr/lss.d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/>
          <p:cNvSpPr/>
          <p:nvPr/>
        </p:nvSpPr>
        <p:spPr>
          <a:xfrm>
            <a:off x="1243099" y="2101850"/>
            <a:ext cx="9713596" cy="218647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[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보탬</a:t>
            </a:r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e] </a:t>
            </a:r>
            <a:r>
              <a:rPr lang="ko-KR" altLang="en-US" sz="3600" b="1" dirty="0" err="1" smtClean="0">
                <a:solidFill>
                  <a:srgbClr val="002060"/>
                </a:solidFill>
                <a:latin typeface="+mj-lt"/>
              </a:rPr>
              <a:t>민간회계사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 검증보고서작성</a:t>
            </a:r>
            <a:endParaRPr lang="en-US" altLang="ko-KR" sz="3600" b="1" dirty="0" smtClean="0">
              <a:solidFill>
                <a:srgbClr val="002060"/>
              </a:solidFill>
              <a:latin typeface="+mj-lt"/>
            </a:endParaRPr>
          </a:p>
          <a:p>
            <a:pPr algn="ctr"/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안내 매뉴얼</a:t>
            </a:r>
            <a:endParaRPr lang="ko-KR" altLang="en-US" sz="3600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38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809625"/>
            <a:ext cx="11182350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[</a:t>
            </a:r>
            <a:r>
              <a:rPr lang="ko-KR" altLang="en-US" sz="1200" dirty="0"/>
              <a:t>지방자치단체 보조금 관리에 관한 법률</a:t>
            </a:r>
            <a:r>
              <a:rPr lang="en-US" altLang="ko-KR" sz="1200" dirty="0" smtClean="0"/>
              <a:t>]</a:t>
            </a:r>
          </a:p>
          <a:p>
            <a:endParaRPr lang="en-US" altLang="ko-KR" sz="1200" dirty="0" smtClean="0"/>
          </a:p>
          <a:p>
            <a:r>
              <a:rPr lang="ko-KR" altLang="en-US" sz="1050" dirty="0"/>
              <a:t>제</a:t>
            </a:r>
            <a:r>
              <a:rPr lang="en-US" altLang="ko-KR" sz="1050" dirty="0"/>
              <a:t>17</a:t>
            </a:r>
            <a:r>
              <a:rPr lang="ko-KR" altLang="en-US" sz="1050" dirty="0"/>
              <a:t>조</a:t>
            </a:r>
            <a:r>
              <a:rPr lang="en-US" altLang="ko-KR" sz="1050" dirty="0"/>
              <a:t>(</a:t>
            </a:r>
            <a:r>
              <a:rPr lang="ko-KR" altLang="en-US" sz="1050" dirty="0"/>
              <a:t>지방보조사업의 실적 보고</a:t>
            </a:r>
            <a:r>
              <a:rPr lang="en-US" altLang="ko-KR" sz="1050" dirty="0" smtClean="0"/>
              <a:t>)</a:t>
            </a:r>
          </a:p>
          <a:p>
            <a:r>
              <a:rPr lang="ko-KR" altLang="en-US" sz="1050" dirty="0"/>
              <a:t>② 지방보조사업에 대한 </a:t>
            </a:r>
            <a:r>
              <a:rPr lang="ko-KR" altLang="en-US" sz="1050" dirty="0">
                <a:solidFill>
                  <a:schemeClr val="accent1">
                    <a:lumMod val="75000"/>
                  </a:schemeClr>
                </a:solidFill>
              </a:rPr>
              <a:t>지방보조금의 총액이 </a:t>
            </a:r>
            <a:r>
              <a:rPr lang="en-US" altLang="ko-KR" sz="1050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ko-KR" altLang="en-US" sz="1050" dirty="0">
                <a:solidFill>
                  <a:schemeClr val="accent1">
                    <a:lumMod val="75000"/>
                  </a:schemeClr>
                </a:solidFill>
              </a:rPr>
              <a:t>억원 이상</a:t>
            </a:r>
            <a:r>
              <a:rPr lang="ko-KR" altLang="en-US" sz="1050" dirty="0"/>
              <a:t>인 지방보조사업자</a:t>
            </a:r>
            <a:r>
              <a:rPr lang="en-US" altLang="ko-KR" sz="1050" dirty="0"/>
              <a:t>(</a:t>
            </a:r>
            <a:r>
              <a:rPr lang="ko-KR" altLang="en-US" sz="1050" dirty="0"/>
              <a:t>지방보조사업자가 지방자치단체인 경우는 제외한다</a:t>
            </a:r>
            <a:r>
              <a:rPr lang="en-US" altLang="ko-KR" sz="1050" dirty="0"/>
              <a:t>)</a:t>
            </a:r>
            <a:r>
              <a:rPr lang="ko-KR" altLang="en-US" sz="1050" dirty="0"/>
              <a:t>는 </a:t>
            </a:r>
          </a:p>
          <a:p>
            <a:r>
              <a:rPr lang="ko-KR" altLang="en-US" sz="1050" dirty="0"/>
              <a:t>      「</a:t>
            </a:r>
            <a:r>
              <a:rPr lang="ko-KR" altLang="en-US" sz="1050" dirty="0">
                <a:solidFill>
                  <a:schemeClr val="accent1">
                    <a:lumMod val="75000"/>
                  </a:schemeClr>
                </a:solidFill>
              </a:rPr>
              <a:t>주식회사 등의 외부감사에 관한 법률」 제</a:t>
            </a:r>
            <a:r>
              <a:rPr lang="en-US" altLang="ko-KR" sz="105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ko-KR" altLang="en-US" sz="1050" dirty="0">
                <a:solidFill>
                  <a:schemeClr val="accent1">
                    <a:lumMod val="75000"/>
                  </a:schemeClr>
                </a:solidFill>
              </a:rPr>
              <a:t>조제</a:t>
            </a:r>
            <a:r>
              <a:rPr lang="en-US" altLang="ko-KR" sz="1050" dirty="0">
                <a:solidFill>
                  <a:schemeClr val="accent1">
                    <a:lumMod val="75000"/>
                  </a:schemeClr>
                </a:solidFill>
              </a:rPr>
              <a:t>7</a:t>
            </a:r>
            <a:r>
              <a:rPr lang="ko-KR" altLang="en-US" sz="1050" dirty="0">
                <a:solidFill>
                  <a:schemeClr val="accent1">
                    <a:lumMod val="75000"/>
                  </a:schemeClr>
                </a:solidFill>
              </a:rPr>
              <a:t>호 및 제</a:t>
            </a:r>
            <a:r>
              <a:rPr lang="en-US" altLang="ko-KR" sz="1050" dirty="0">
                <a:solidFill>
                  <a:schemeClr val="accent1">
                    <a:lumMod val="75000"/>
                  </a:schemeClr>
                </a:solidFill>
              </a:rPr>
              <a:t>9</a:t>
            </a:r>
            <a:r>
              <a:rPr lang="ko-KR" altLang="en-US" sz="1050" dirty="0">
                <a:solidFill>
                  <a:schemeClr val="accent1">
                    <a:lumMod val="75000"/>
                  </a:schemeClr>
                </a:solidFill>
              </a:rPr>
              <a:t>조</a:t>
            </a:r>
            <a:r>
              <a:rPr lang="ko-KR" altLang="en-US" sz="1050" dirty="0"/>
              <a:t>에 따른 감사인으로부터 정산보고서의 적정성에 대하여 검증을 받아야 한다</a:t>
            </a:r>
            <a:r>
              <a:rPr lang="en-US" altLang="ko-KR" sz="1050" dirty="0"/>
              <a:t>. </a:t>
            </a:r>
          </a:p>
          <a:p>
            <a:r>
              <a:rPr lang="en-US" altLang="ko-KR" sz="1050" dirty="0"/>
              <a:t>       </a:t>
            </a:r>
            <a:r>
              <a:rPr lang="ko-KR" altLang="en-US" sz="1050" dirty="0"/>
              <a:t>다만</a:t>
            </a:r>
            <a:r>
              <a:rPr lang="en-US" altLang="ko-KR" sz="1050" dirty="0"/>
              <a:t>, </a:t>
            </a:r>
            <a:r>
              <a:rPr lang="ko-KR" altLang="en-US" sz="1050" dirty="0"/>
              <a:t>「보조금 관리에 관한 법률」 제</a:t>
            </a:r>
            <a:r>
              <a:rPr lang="en-US" altLang="ko-KR" sz="1050" dirty="0"/>
              <a:t>27</a:t>
            </a:r>
            <a:r>
              <a:rPr lang="ko-KR" altLang="en-US" sz="1050" dirty="0"/>
              <a:t>조제</a:t>
            </a:r>
            <a:r>
              <a:rPr lang="en-US" altLang="ko-KR" sz="1050" dirty="0"/>
              <a:t>2</a:t>
            </a:r>
            <a:r>
              <a:rPr lang="ko-KR" altLang="en-US" sz="1050" dirty="0"/>
              <a:t>항 후단에 따라 해당 지방보조사업의 내용이 포함되어 있는 보조사업 또는 간접보조사업을 수행하는 자가 </a:t>
            </a:r>
          </a:p>
          <a:p>
            <a:r>
              <a:rPr lang="ko-KR" altLang="en-US" sz="1050" dirty="0" smtClean="0"/>
              <a:t>       </a:t>
            </a:r>
            <a:r>
              <a:rPr lang="ko-KR" altLang="en-US" sz="1050" dirty="0"/>
              <a:t>이미 정산보고서의 적정성에 대하여 검증을 받은 경우는 제외한다</a:t>
            </a:r>
            <a:r>
              <a:rPr lang="en-US" altLang="ko-KR" sz="1050" dirty="0"/>
              <a:t>. &lt;</a:t>
            </a:r>
            <a:r>
              <a:rPr lang="ko-KR" altLang="en-US" sz="1050" dirty="0"/>
              <a:t>개정 </a:t>
            </a:r>
            <a:r>
              <a:rPr lang="en-US" altLang="ko-KR" sz="1050" dirty="0"/>
              <a:t>2023. 4. 11</a:t>
            </a:r>
            <a:r>
              <a:rPr lang="en-US" altLang="ko-KR" sz="1050" dirty="0" smtClean="0"/>
              <a:t>.&gt;</a:t>
            </a:r>
          </a:p>
          <a:p>
            <a:endParaRPr lang="en-US" altLang="ko-KR" sz="1200" dirty="0" smtClean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smtClean="0"/>
              <a:t>[</a:t>
            </a:r>
            <a:r>
              <a:rPr lang="ko-KR" altLang="en-US" sz="1200" dirty="0"/>
              <a:t>주식회사 등의 외부감사에 관한 </a:t>
            </a:r>
            <a:r>
              <a:rPr lang="ko-KR" altLang="en-US" sz="1200" dirty="0" smtClean="0"/>
              <a:t>법률</a:t>
            </a:r>
            <a:r>
              <a:rPr lang="en-US" altLang="ko-KR" sz="1200" dirty="0" smtClean="0"/>
              <a:t>]</a:t>
            </a:r>
          </a:p>
          <a:p>
            <a:endParaRPr lang="en-US" altLang="ko-KR" sz="1200" dirty="0" smtClean="0"/>
          </a:p>
          <a:p>
            <a:r>
              <a:rPr lang="ko-KR" altLang="en-US" sz="1050" dirty="0"/>
              <a:t>제</a:t>
            </a:r>
            <a:r>
              <a:rPr lang="en-US" altLang="ko-KR" sz="1050" dirty="0"/>
              <a:t>2</a:t>
            </a:r>
            <a:r>
              <a:rPr lang="ko-KR" altLang="en-US" sz="1050" dirty="0"/>
              <a:t>조</a:t>
            </a:r>
            <a:r>
              <a:rPr lang="en-US" altLang="ko-KR" sz="1050" dirty="0"/>
              <a:t>(</a:t>
            </a:r>
            <a:r>
              <a:rPr lang="ko-KR" altLang="en-US" sz="1050" dirty="0"/>
              <a:t>정의</a:t>
            </a:r>
            <a:r>
              <a:rPr lang="en-US" altLang="ko-KR" sz="1050" dirty="0" smtClean="0"/>
              <a:t>)</a:t>
            </a:r>
          </a:p>
          <a:p>
            <a:r>
              <a:rPr lang="en-US" altLang="ko-KR" sz="1050" dirty="0"/>
              <a:t>7. “</a:t>
            </a:r>
            <a:r>
              <a:rPr lang="ko-KR" altLang="en-US" sz="1050" dirty="0" err="1"/>
              <a:t>감사인”이란</a:t>
            </a:r>
            <a:r>
              <a:rPr lang="ko-KR" altLang="en-US" sz="1050" dirty="0"/>
              <a:t> 다음 각 목의 어느 하나에 해당하는 자를 말한다</a:t>
            </a:r>
            <a:r>
              <a:rPr lang="en-US" altLang="ko-KR" sz="1050" dirty="0"/>
              <a:t>.</a:t>
            </a:r>
          </a:p>
          <a:p>
            <a:r>
              <a:rPr lang="ko-KR" altLang="en-US" sz="1050" dirty="0"/>
              <a:t>가</a:t>
            </a:r>
            <a:r>
              <a:rPr lang="en-US" altLang="ko-KR" sz="1050" dirty="0"/>
              <a:t>. </a:t>
            </a:r>
            <a:r>
              <a:rPr lang="ko-KR" altLang="en-US" sz="1050" u="sng" dirty="0"/>
              <a:t>「공인회계사법」</a:t>
            </a:r>
            <a:r>
              <a:rPr lang="ko-KR" altLang="en-US" sz="1050" dirty="0"/>
              <a:t> </a:t>
            </a:r>
            <a:r>
              <a:rPr lang="ko-KR" altLang="en-US" sz="1050" u="sng" dirty="0"/>
              <a:t>제</a:t>
            </a:r>
            <a:r>
              <a:rPr lang="en-US" altLang="ko-KR" sz="1050" u="sng" dirty="0"/>
              <a:t>23</a:t>
            </a:r>
            <a:r>
              <a:rPr lang="ko-KR" altLang="en-US" sz="1050" u="sng" dirty="0"/>
              <a:t>조</a:t>
            </a:r>
            <a:r>
              <a:rPr lang="ko-KR" altLang="en-US" sz="1050" dirty="0"/>
              <a:t>에 따른 회계법인</a:t>
            </a:r>
            <a:r>
              <a:rPr lang="en-US" altLang="ko-KR" sz="1050" dirty="0"/>
              <a:t>(</a:t>
            </a:r>
            <a:r>
              <a:rPr lang="ko-KR" altLang="en-US" sz="1050" dirty="0"/>
              <a:t>이하 “</a:t>
            </a:r>
            <a:r>
              <a:rPr lang="ko-KR" altLang="en-US" sz="1050" dirty="0" err="1"/>
              <a:t>회계법인”이라</a:t>
            </a:r>
            <a:r>
              <a:rPr lang="ko-KR" altLang="en-US" sz="1050" dirty="0"/>
              <a:t> 한다</a:t>
            </a:r>
            <a:r>
              <a:rPr lang="en-US" altLang="ko-KR" sz="1050" dirty="0"/>
              <a:t>)</a:t>
            </a:r>
          </a:p>
          <a:p>
            <a:r>
              <a:rPr lang="ko-KR" altLang="en-US" sz="1050" dirty="0"/>
              <a:t>나</a:t>
            </a:r>
            <a:r>
              <a:rPr lang="en-US" altLang="ko-KR" sz="1050" dirty="0"/>
              <a:t>. </a:t>
            </a:r>
            <a:r>
              <a:rPr lang="ko-KR" altLang="en-US" sz="1050" u="sng" dirty="0"/>
              <a:t>「공인회계사법」</a:t>
            </a:r>
            <a:r>
              <a:rPr lang="ko-KR" altLang="en-US" sz="1050" dirty="0"/>
              <a:t> </a:t>
            </a:r>
            <a:r>
              <a:rPr lang="ko-KR" altLang="en-US" sz="1050" u="sng" dirty="0"/>
              <a:t>제</a:t>
            </a:r>
            <a:r>
              <a:rPr lang="en-US" altLang="ko-KR" sz="1050" u="sng" dirty="0"/>
              <a:t>41</a:t>
            </a:r>
            <a:r>
              <a:rPr lang="ko-KR" altLang="en-US" sz="1050" u="sng" dirty="0"/>
              <a:t>조</a:t>
            </a:r>
            <a:r>
              <a:rPr lang="ko-KR" altLang="en-US" sz="1050" dirty="0"/>
              <a:t>에 따라 설립된 한국공인회계사회</a:t>
            </a:r>
            <a:r>
              <a:rPr lang="en-US" altLang="ko-KR" sz="1050" dirty="0"/>
              <a:t>(</a:t>
            </a:r>
            <a:r>
              <a:rPr lang="ko-KR" altLang="en-US" sz="1050" dirty="0"/>
              <a:t>이하 “</a:t>
            </a:r>
            <a:r>
              <a:rPr lang="ko-KR" altLang="en-US" sz="1050" dirty="0" err="1"/>
              <a:t>한국공인회계사회”라</a:t>
            </a:r>
            <a:r>
              <a:rPr lang="ko-KR" altLang="en-US" sz="1050" dirty="0"/>
              <a:t> 한다</a:t>
            </a:r>
            <a:r>
              <a:rPr lang="en-US" altLang="ko-KR" sz="1050" dirty="0"/>
              <a:t>)</a:t>
            </a:r>
            <a:r>
              <a:rPr lang="ko-KR" altLang="en-US" sz="1050" dirty="0"/>
              <a:t>에 </a:t>
            </a:r>
            <a:r>
              <a:rPr lang="ko-KR" altLang="en-US" sz="1050" u="sng" dirty="0" err="1"/>
              <a:t>총리령</a:t>
            </a:r>
            <a:r>
              <a:rPr lang="ko-KR" altLang="en-US" sz="1050" dirty="0" err="1"/>
              <a:t>으로</a:t>
            </a:r>
            <a:r>
              <a:rPr lang="ko-KR" altLang="en-US" sz="1050" dirty="0"/>
              <a:t> 정하는 바에 따라 등록을 한 </a:t>
            </a:r>
            <a:r>
              <a:rPr lang="ko-KR" altLang="en-US" sz="1050" dirty="0" smtClean="0"/>
              <a:t>감사반</a:t>
            </a:r>
            <a:r>
              <a:rPr lang="en-US" altLang="ko-KR" sz="1050" dirty="0"/>
              <a:t>(</a:t>
            </a:r>
            <a:r>
              <a:rPr lang="ko-KR" altLang="en-US" sz="1050" dirty="0"/>
              <a:t>이하 “</a:t>
            </a:r>
            <a:r>
              <a:rPr lang="ko-KR" altLang="en-US" sz="1050" dirty="0" err="1"/>
              <a:t>감사반”이라</a:t>
            </a:r>
            <a:r>
              <a:rPr lang="ko-KR" altLang="en-US" sz="1050" dirty="0"/>
              <a:t> 한다</a:t>
            </a:r>
            <a:r>
              <a:rPr lang="en-US" altLang="ko-KR" sz="1050" dirty="0" smtClean="0"/>
              <a:t>)</a:t>
            </a:r>
          </a:p>
          <a:p>
            <a:endParaRPr lang="en-US" altLang="ko-KR" sz="1050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b="1" dirty="0">
                <a:solidFill>
                  <a:srgbClr val="151594"/>
                </a:solidFill>
                <a:latin typeface="+mn-ea"/>
              </a:rPr>
              <a:t>제9조(감사인의 자격 제한 등) 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① 다음 각 호의 어느 하나에 해당하는 회사의 재무제표에 대한 감사는 회계법인인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감사인이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한다.</a:t>
            </a:r>
            <a:endParaRPr lang="ko-KR" altLang="ko-KR" sz="105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1. 주권상장법인. 다만, </a:t>
            </a:r>
            <a:r>
              <a:rPr lang="ko-KR" altLang="ko-KR" sz="1050" u="sng" dirty="0">
                <a:solidFill>
                  <a:srgbClr val="005A84"/>
                </a:solidFill>
                <a:latin typeface="+mn-ea"/>
              </a:rPr>
              <a:t>대통령령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으로 정하는 주권상장법인은 제외한다.</a:t>
            </a:r>
            <a:endParaRPr lang="ko-KR" altLang="ko-KR" sz="105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2. 대형비상장주식회사</a:t>
            </a:r>
            <a:endParaRPr lang="ko-KR" altLang="ko-KR" sz="105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3. </a:t>
            </a:r>
            <a:r>
              <a:rPr lang="ko-KR" altLang="ko-KR" sz="1050" u="sng" dirty="0">
                <a:solidFill>
                  <a:srgbClr val="086DFF"/>
                </a:solidFill>
                <a:latin typeface="+mn-ea"/>
              </a:rPr>
              <a:t>「금융산업의 구조개선에 관한 법률」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 </a:t>
            </a:r>
            <a:r>
              <a:rPr lang="ko-KR" altLang="ko-KR" sz="1050" u="sng" dirty="0">
                <a:solidFill>
                  <a:srgbClr val="0000CD"/>
                </a:solidFill>
                <a:latin typeface="+mn-ea"/>
              </a:rPr>
              <a:t>제2조</a:t>
            </a:r>
            <a:r>
              <a:rPr lang="ko-KR" altLang="ko-KR" sz="1050" u="sng" dirty="0">
                <a:solidFill>
                  <a:srgbClr val="000069"/>
                </a:solidFill>
                <a:latin typeface="+mn-ea"/>
              </a:rPr>
              <a:t>제1호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에 해당하는 금융기관, </a:t>
            </a:r>
            <a:r>
              <a:rPr lang="ko-KR" altLang="ko-KR" sz="1050" u="sng" dirty="0">
                <a:solidFill>
                  <a:srgbClr val="086DFF"/>
                </a:solidFill>
                <a:latin typeface="+mn-ea"/>
              </a:rPr>
              <a:t>「</a:t>
            </a:r>
            <a:r>
              <a:rPr lang="ko-KR" altLang="ko-KR" sz="1050" u="sng" dirty="0" err="1">
                <a:solidFill>
                  <a:srgbClr val="086DFF"/>
                </a:solidFill>
                <a:latin typeface="+mn-ea"/>
              </a:rPr>
              <a:t>농업협동조합법」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에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따른 농협은행 또는 </a:t>
            </a:r>
            <a:r>
              <a:rPr lang="ko-KR" altLang="ko-KR" sz="1050" u="sng" dirty="0" smtClean="0">
                <a:solidFill>
                  <a:srgbClr val="086DFF"/>
                </a:solidFill>
                <a:latin typeface="+mn-ea"/>
              </a:rPr>
              <a:t>「</a:t>
            </a:r>
            <a:r>
              <a:rPr lang="ko-KR" altLang="ko-KR" sz="1050" u="sng" dirty="0" err="1">
                <a:solidFill>
                  <a:srgbClr val="086DFF"/>
                </a:solidFill>
                <a:latin typeface="+mn-ea"/>
              </a:rPr>
              <a:t>수산업협동조합법」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에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따른 수협은행(이하 “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금융회사”라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한다)</a:t>
            </a:r>
            <a:endParaRPr lang="ko-KR" altLang="ko-KR" sz="105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② 금융위원회는 감사인의 형태와 그에 소속된 공인회계사의 수 등을 고려하여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감사인이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회계감사할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수 있는 회사의 규모 등을 </a:t>
            </a:r>
            <a:r>
              <a:rPr lang="ko-KR" altLang="ko-KR" sz="1050" u="sng" dirty="0" err="1" smtClean="0">
                <a:solidFill>
                  <a:srgbClr val="005A84"/>
                </a:solidFill>
                <a:latin typeface="+mn-ea"/>
              </a:rPr>
              <a:t>총리령</a:t>
            </a:r>
            <a:r>
              <a:rPr lang="ko-KR" altLang="ko-KR" sz="1050" dirty="0" err="1" smtClean="0">
                <a:solidFill>
                  <a:srgbClr val="444444"/>
                </a:solidFill>
                <a:latin typeface="+mn-ea"/>
              </a:rPr>
              <a:t>으로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정하는 바에 따라 제한할 수 있다.</a:t>
            </a:r>
            <a:endParaRPr lang="ko-KR" altLang="ko-KR" sz="105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③ 회계법인인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감사인은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 </a:t>
            </a:r>
            <a:r>
              <a:rPr lang="ko-KR" altLang="ko-KR" sz="1050" u="sng" dirty="0">
                <a:solidFill>
                  <a:srgbClr val="086DFF"/>
                </a:solidFill>
                <a:latin typeface="+mn-ea"/>
              </a:rPr>
              <a:t>「공인회계사법」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 </a:t>
            </a:r>
            <a:r>
              <a:rPr lang="ko-KR" altLang="ko-KR" sz="1050" u="sng" dirty="0">
                <a:solidFill>
                  <a:srgbClr val="0000CD"/>
                </a:solidFill>
                <a:latin typeface="+mn-ea"/>
              </a:rPr>
              <a:t>제33조</a:t>
            </a:r>
            <a:r>
              <a:rPr lang="ko-KR" altLang="ko-KR" sz="1050" u="sng" dirty="0">
                <a:solidFill>
                  <a:srgbClr val="5A5AFF"/>
                </a:solidFill>
                <a:latin typeface="+mn-ea"/>
              </a:rPr>
              <a:t>제1항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 각 호의 어느 하나에 해당하는 관계에 있는 회사의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감사인이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될 수 없으며, </a:t>
            </a:r>
            <a:endParaRPr lang="en-US" altLang="ko-KR" sz="1050" dirty="0" smtClean="0">
              <a:solidFill>
                <a:srgbClr val="444444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1050" dirty="0" smtClean="0">
                <a:solidFill>
                  <a:srgbClr val="444444"/>
                </a:solidFill>
                <a:latin typeface="+mn-ea"/>
              </a:rPr>
              <a:t>   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감사반인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감사인은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그에 소속된 공인회계사 중 1명 이상이 </a:t>
            </a:r>
            <a:r>
              <a:rPr lang="ko-KR" altLang="ko-KR" sz="1050" u="sng" dirty="0">
                <a:solidFill>
                  <a:srgbClr val="086DFF"/>
                </a:solidFill>
                <a:latin typeface="+mn-ea"/>
              </a:rPr>
              <a:t>같은 법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 </a:t>
            </a:r>
            <a:r>
              <a:rPr lang="ko-KR" altLang="ko-KR" sz="1050" u="sng" dirty="0">
                <a:solidFill>
                  <a:srgbClr val="0000CD"/>
                </a:solidFill>
                <a:latin typeface="+mn-ea"/>
              </a:rPr>
              <a:t>제21조</a:t>
            </a:r>
            <a:r>
              <a:rPr lang="ko-KR" altLang="ko-KR" sz="1050" u="sng" dirty="0">
                <a:solidFill>
                  <a:srgbClr val="5A5AFF"/>
                </a:solidFill>
                <a:latin typeface="+mn-ea"/>
              </a:rPr>
              <a:t>제1항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 각 호의 어느 하나에 해당하는 관계에 있는 회사의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감사인이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될 수 없다.</a:t>
            </a:r>
            <a:endParaRPr lang="ko-KR" altLang="ko-KR" sz="105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④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감사인에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소속되어 회계감사업무를 수행할 수 있는 공인회계사는 </a:t>
            </a:r>
            <a:r>
              <a:rPr lang="ko-KR" altLang="ko-KR" sz="1050" u="sng" dirty="0">
                <a:solidFill>
                  <a:srgbClr val="005A84"/>
                </a:solidFill>
                <a:latin typeface="+mn-ea"/>
              </a:rPr>
              <a:t>대통령령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으로 정하는 실무수습 등을 이수한 자이어야 한다.</a:t>
            </a:r>
            <a:endParaRPr lang="ko-KR" altLang="ko-KR" sz="105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⑤ 회계법인인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감사인은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동일한 이사(</a:t>
            </a:r>
            <a:r>
              <a:rPr lang="ko-KR" altLang="ko-KR" sz="1050" u="sng" dirty="0">
                <a:solidFill>
                  <a:srgbClr val="086DFF"/>
                </a:solidFill>
                <a:latin typeface="+mn-ea"/>
              </a:rPr>
              <a:t>「공인회계사법」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 </a:t>
            </a:r>
            <a:r>
              <a:rPr lang="ko-KR" altLang="ko-KR" sz="1050" u="sng" dirty="0">
                <a:solidFill>
                  <a:srgbClr val="0000CD"/>
                </a:solidFill>
                <a:latin typeface="+mn-ea"/>
              </a:rPr>
              <a:t>제26조</a:t>
            </a:r>
            <a:r>
              <a:rPr lang="ko-KR" altLang="ko-KR" sz="1050" u="sng" dirty="0">
                <a:solidFill>
                  <a:srgbClr val="5A5AFF"/>
                </a:solidFill>
                <a:latin typeface="+mn-ea"/>
              </a:rPr>
              <a:t>제1항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에 따른 이사를 말한다. 이하 이 조에서 같다)에게 </a:t>
            </a:r>
            <a:endParaRPr lang="en-US" altLang="ko-KR" sz="1050" dirty="0" smtClean="0">
              <a:solidFill>
                <a:srgbClr val="444444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 smtClean="0">
                <a:solidFill>
                  <a:srgbClr val="444444"/>
                </a:solidFill>
                <a:latin typeface="+mn-ea"/>
              </a:rPr>
              <a:t>   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회사의 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연속하는 6개 사업연도(주권상장법인인 회사, 대형비상장주식회사 또는 금융회사의 경우에는 4개 사업연도)에 대한 감사업무를 하게 할 수 없다. </a:t>
            </a:r>
            <a:endParaRPr lang="en-US" altLang="ko-KR" sz="1050" dirty="0" smtClean="0">
              <a:solidFill>
                <a:srgbClr val="444444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1050" dirty="0" smtClean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다만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, 주권상장법인인 회사, 대형비상장주식회사 또는 금융회사의 경우 연속하는 3개 사업연도에 대한 감사업무를 한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이사에게는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</a:t>
            </a:r>
            <a:endParaRPr lang="en-US" altLang="ko-KR" sz="1050" dirty="0" smtClean="0">
              <a:solidFill>
                <a:srgbClr val="444444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1050" dirty="0" smtClean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그 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다음 연속하는 3개 사업연도의 모든 기간 동안 해당 회사의 감사업무를 하게 할 수 없다.</a:t>
            </a:r>
            <a:endParaRPr lang="ko-KR" altLang="ko-KR" sz="105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⑥ 회계법인인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감사인은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 동일한 소속공인회계사(</a:t>
            </a:r>
            <a:r>
              <a:rPr lang="ko-KR" altLang="ko-KR" sz="1050" u="sng" dirty="0">
                <a:solidFill>
                  <a:srgbClr val="086DFF"/>
                </a:solidFill>
                <a:latin typeface="+mn-ea"/>
              </a:rPr>
              <a:t>「공인회계사법」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 </a:t>
            </a:r>
            <a:r>
              <a:rPr lang="ko-KR" altLang="ko-KR" sz="1050" u="sng" dirty="0">
                <a:solidFill>
                  <a:srgbClr val="0000CD"/>
                </a:solidFill>
                <a:latin typeface="+mn-ea"/>
              </a:rPr>
              <a:t>제26조</a:t>
            </a:r>
            <a:r>
              <a:rPr lang="ko-KR" altLang="ko-KR" sz="1050" u="sng" dirty="0">
                <a:solidFill>
                  <a:srgbClr val="5A5AFF"/>
                </a:solidFill>
                <a:latin typeface="+mn-ea"/>
              </a:rPr>
              <a:t>제3항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에 따른 소속공인회계사를 말한다)에게 주권상장법인인 회사의 </a:t>
            </a:r>
            <a:endParaRPr lang="en-US" altLang="ko-KR" sz="1050" dirty="0" smtClean="0">
              <a:solidFill>
                <a:srgbClr val="444444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1050" dirty="0" smtClean="0">
                <a:solidFill>
                  <a:srgbClr val="444444"/>
                </a:solidFill>
                <a:latin typeface="+mn-ea"/>
              </a:rPr>
              <a:t>   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연속하는 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3개 사업연도에 대한 감사업무를 수행하게 한 경우, 그 다음 사업연도에는 그 소속공인회계사의 3분의 2 이상을 교체하여야 한다. </a:t>
            </a:r>
            <a:r>
              <a:rPr lang="ko-KR" altLang="ko-KR" sz="1050" dirty="0">
                <a:solidFill>
                  <a:srgbClr val="024FCE"/>
                </a:solidFill>
                <a:latin typeface="+mn-ea"/>
              </a:rPr>
              <a:t>&lt;개정 2024. 1. 16.&gt;</a:t>
            </a:r>
            <a:endParaRPr lang="ko-KR" altLang="ko-KR" sz="105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⑦ 감사반인 </a:t>
            </a:r>
            <a:r>
              <a:rPr lang="ko-KR" altLang="ko-KR" sz="1050" dirty="0" err="1">
                <a:solidFill>
                  <a:srgbClr val="444444"/>
                </a:solidFill>
                <a:latin typeface="+mn-ea"/>
              </a:rPr>
              <a:t>감사인은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 </a:t>
            </a:r>
            <a:r>
              <a:rPr lang="ko-KR" altLang="ko-KR" sz="1050" u="sng" dirty="0">
                <a:solidFill>
                  <a:srgbClr val="005A84"/>
                </a:solidFill>
                <a:latin typeface="+mn-ea"/>
              </a:rPr>
              <a:t>대통령령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으로 정하는 주권상장법인인 회사의 연속하는 3개 사업연도에 대한 감사업무를 한 경우, 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그 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다음 사업연도에는 그 감사에 참여한 공인회계사의 </a:t>
            </a:r>
            <a:endParaRPr lang="en-US" altLang="ko-KR" sz="1050" dirty="0" smtClean="0">
              <a:solidFill>
                <a:srgbClr val="444444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50" dirty="0">
                <a:solidFill>
                  <a:srgbClr val="444444"/>
                </a:solidFill>
                <a:latin typeface="+mn-ea"/>
              </a:rPr>
              <a:t> </a:t>
            </a:r>
            <a:r>
              <a:rPr lang="en-US" altLang="ko-KR" sz="1050" dirty="0" smtClean="0">
                <a:solidFill>
                  <a:srgbClr val="444444"/>
                </a:solidFill>
                <a:latin typeface="+mn-ea"/>
              </a:rPr>
              <a:t>   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3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분의 2 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이상을 </a:t>
            </a:r>
            <a:r>
              <a:rPr lang="ko-KR" altLang="ko-KR" sz="1050" dirty="0">
                <a:solidFill>
                  <a:srgbClr val="444444"/>
                </a:solidFill>
                <a:latin typeface="+mn-ea"/>
              </a:rPr>
              <a:t>교체하여야 한다</a:t>
            </a:r>
            <a:r>
              <a:rPr lang="ko-KR" altLang="ko-KR" sz="1050" dirty="0" smtClean="0">
                <a:solidFill>
                  <a:srgbClr val="444444"/>
                </a:solidFill>
                <a:latin typeface="+mn-ea"/>
              </a:rPr>
              <a:t>.</a:t>
            </a:r>
            <a:endParaRPr lang="ko-KR" altLang="en-US" sz="105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875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 법령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76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7852696" y="931937"/>
            <a:ext cx="3897899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9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tabLst>
                <a:tab pos="88900" algn="l"/>
              </a:tabLst>
              <a:defRPr/>
            </a:pPr>
            <a:r>
              <a:rPr lang="en-US" altLang="ko-KR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&lt;</a:t>
            </a: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회원가입 및 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권한부여</a:t>
            </a:r>
            <a:r>
              <a:rPr lang="en-US" altLang="ko-KR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&gt;</a:t>
            </a:r>
          </a:p>
          <a:p>
            <a:pPr marL="88900" indent="-88900" defTabSz="91439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Font typeface="Arial" panose="020B0604020202020204" pitchFamily="34" charset="0"/>
              <a:buChar char="•"/>
              <a:tabLst>
                <a:tab pos="88900" algn="l"/>
              </a:tabLst>
              <a:defRPr/>
            </a:pP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권한코드</a:t>
            </a: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en-US" altLang="ko-KR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: SM021(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민간회계사</a:t>
            </a:r>
            <a:r>
              <a:rPr lang="en-US" altLang="ko-KR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) </a:t>
            </a:r>
          </a:p>
          <a:p>
            <a:pPr marL="88900" indent="-88900" defTabSz="91439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Font typeface="Arial" panose="020B0604020202020204" pitchFamily="34" charset="0"/>
              <a:buChar char="•"/>
              <a:tabLst>
                <a:tab pos="88900" algn="l"/>
              </a:tabLst>
              <a:defRPr/>
            </a:pP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권한부여</a:t>
            </a: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후 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검증해야할</a:t>
            </a: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수행사업</a:t>
            </a: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매핑처리</a:t>
            </a:r>
            <a:r>
              <a:rPr lang="en-US" altLang="ko-KR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en-US" altLang="ko-KR" sz="14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64" name="Rectangle 13"/>
          <p:cNvSpPr>
            <a:spLocks noChangeArrowheads="1"/>
          </p:cNvSpPr>
          <p:nvPr/>
        </p:nvSpPr>
        <p:spPr bwMode="auto">
          <a:xfrm>
            <a:off x="7852695" y="2922047"/>
            <a:ext cx="3897899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9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tabLst>
                <a:tab pos="88900" algn="l"/>
              </a:tabLst>
              <a:defRPr/>
            </a:pPr>
            <a:r>
              <a:rPr lang="en-US" altLang="ko-KR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&lt;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수행사업</a:t>
            </a: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집행검토</a:t>
            </a: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및 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검증보고서</a:t>
            </a: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작성</a:t>
            </a:r>
            <a:r>
              <a:rPr lang="en-US" altLang="ko-KR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&gt;</a:t>
            </a:r>
          </a:p>
          <a:p>
            <a:pPr marL="88900" indent="-88900" defTabSz="91439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Font typeface="Arial" panose="020B0604020202020204" pitchFamily="34" charset="0"/>
              <a:buChar char="•"/>
              <a:tabLst>
                <a:tab pos="88900" algn="l"/>
              </a:tabLst>
              <a:defRPr/>
            </a:pP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집행내역 검토</a:t>
            </a:r>
            <a:r>
              <a:rPr lang="en-US" altLang="ko-KR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</a:p>
          <a:p>
            <a:pPr marL="88900" indent="-88900" defTabSz="91439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Font typeface="Arial" panose="020B0604020202020204" pitchFamily="34" charset="0"/>
              <a:buChar char="•"/>
              <a:tabLst>
                <a:tab pos="88900" algn="l"/>
              </a:tabLst>
              <a:defRPr/>
            </a:pP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400" dirty="0" err="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검증보고서</a:t>
            </a:r>
            <a:r>
              <a:rPr lang="ko-KR" altLang="en-US" sz="140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Rix모던고딕 B" panose="02020603020101020101" pitchFamily="18" charset="-127"/>
                <a:ea typeface="Rix모던고딕 B" panose="02020603020101020101" pitchFamily="18" charset="-127"/>
              </a:rPr>
              <a:t> 제출</a:t>
            </a:r>
            <a:endParaRPr lang="en-US" altLang="ko-KR" sz="14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65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0772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업무 흐름도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679256" y="876860"/>
            <a:ext cx="6381761" cy="1713344"/>
            <a:chOff x="679256" y="876860"/>
            <a:chExt cx="6381761" cy="1713344"/>
          </a:xfrm>
        </p:grpSpPr>
        <p:grpSp>
          <p:nvGrpSpPr>
            <p:cNvPr id="2" name="그룹 1"/>
            <p:cNvGrpSpPr/>
            <p:nvPr/>
          </p:nvGrpSpPr>
          <p:grpSpPr>
            <a:xfrm>
              <a:off x="679256" y="914515"/>
              <a:ext cx="577081" cy="508401"/>
              <a:chOff x="6320825" y="6746042"/>
              <a:chExt cx="577201" cy="439579"/>
            </a:xfrm>
          </p:grpSpPr>
          <p:grpSp>
            <p:nvGrpSpPr>
              <p:cNvPr id="25" name="그룹 24"/>
              <p:cNvGrpSpPr>
                <a:grpSpLocks noChangeAspect="1"/>
              </p:cNvGrpSpPr>
              <p:nvPr/>
            </p:nvGrpSpPr>
            <p:grpSpPr>
              <a:xfrm>
                <a:off x="6436764" y="6746042"/>
                <a:ext cx="345253" cy="292846"/>
                <a:chOff x="10412365" y="9446105"/>
                <a:chExt cx="308197" cy="261417"/>
              </a:xfrm>
            </p:grpSpPr>
            <p:pic>
              <p:nvPicPr>
                <p:cNvPr id="27" name="Picture 24" descr="C:\Users\유나\Desktop\shutterstock_589527299 [Converted]dddd-05.pn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12365" y="9446105"/>
                  <a:ext cx="201903" cy="24464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" name="Picture 3" descr="C:\Users\son\Desktop\아이콘\Untitled-1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553363" y="9565720"/>
                  <a:ext cx="167199" cy="141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6" name="TextBox 10"/>
              <p:cNvSpPr txBox="1"/>
              <p:nvPr/>
            </p:nvSpPr>
            <p:spPr>
              <a:xfrm>
                <a:off x="6320825" y="7065871"/>
                <a:ext cx="577201" cy="1197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-170077" algn="ctr">
                  <a:buClr>
                    <a:srgbClr val="3271AA"/>
                  </a:buClr>
                  <a:buSzPct val="140000"/>
                  <a:tabLst>
                    <a:tab pos="5308205" algn="l"/>
                  </a:tabLst>
                  <a:defRPr/>
                </a:pPr>
                <a:r>
                  <a:rPr lang="ko-KR" altLang="en-US" sz="9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민간회계사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4782" y="968389"/>
              <a:ext cx="759593" cy="385922"/>
            </a:xfrm>
            <a:prstGeom prst="rect">
              <a:avLst/>
            </a:prstGeom>
          </p:spPr>
        </p:pic>
        <p:sp>
          <p:nvSpPr>
            <p:cNvPr id="4" name="오른쪽 화살표 3">
              <a:extLst>
                <a:ext uri="{FF2B5EF4-FFF2-40B4-BE49-F238E27FC236}">
                  <a16:creationId xmlns:a16="http://schemas.microsoft.com/office/drawing/2014/main" id="{CDE54C37-388B-A720-0FFA-D91D9F668343}"/>
                </a:ext>
              </a:extLst>
            </p:cNvPr>
            <p:cNvSpPr/>
            <p:nvPr/>
          </p:nvSpPr>
          <p:spPr bwMode="auto">
            <a:xfrm flipV="1">
              <a:off x="1476440" y="1089691"/>
              <a:ext cx="582288" cy="163519"/>
            </a:xfrm>
            <a:prstGeom prst="rightArrow">
              <a:avLst/>
            </a:prstGeom>
            <a:gradFill>
              <a:gsLst>
                <a:gs pos="3300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1080000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91422" tIns="45711" rIns="91422" bIns="45711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00" kern="0" dirty="0">
                <a:solidFill>
                  <a:sysClr val="window" lastClr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235670" y="996980"/>
              <a:ext cx="836701" cy="359947"/>
            </a:xfrm>
            <a:prstGeom prst="rect">
              <a:avLst/>
            </a:prstGeom>
            <a:solidFill>
              <a:srgbClr val="C9CDE3"/>
            </a:solidFill>
            <a:ln w="19050">
              <a:noFill/>
              <a:miter lim="800000"/>
            </a:ln>
            <a:effectLst/>
          </p:spPr>
          <p:txBody>
            <a:bodyPr vert="horz" wrap="square" lIns="35993" tIns="35993" rIns="35993" bIns="35993" numCol="1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59334"/>
              <a:r>
                <a: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itchFamily="2" charset="-127"/>
                  <a:ea typeface="나눔스퀘어 네오 Bold" pitchFamily="2" charset="-127"/>
                </a:rPr>
                <a:t>기관가입신청</a:t>
              </a:r>
            </a:p>
          </p:txBody>
        </p:sp>
        <p:sp>
          <p:nvSpPr>
            <p:cNvPr id="6" name="오른쪽 화살표 5">
              <a:extLst>
                <a:ext uri="{FF2B5EF4-FFF2-40B4-BE49-F238E27FC236}">
                  <a16:creationId xmlns:a16="http://schemas.microsoft.com/office/drawing/2014/main" id="{CDE54C37-388B-A720-0FFA-D91D9F668343}"/>
                </a:ext>
              </a:extLst>
            </p:cNvPr>
            <p:cNvSpPr/>
            <p:nvPr/>
          </p:nvSpPr>
          <p:spPr bwMode="auto">
            <a:xfrm flipV="1">
              <a:off x="3432173" y="1089691"/>
              <a:ext cx="582288" cy="163519"/>
            </a:xfrm>
            <a:prstGeom prst="rightArrow">
              <a:avLst/>
            </a:prstGeom>
            <a:gradFill>
              <a:gsLst>
                <a:gs pos="3300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1080000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91422" tIns="45711" rIns="91422" bIns="45711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00" kern="0" dirty="0">
                <a:solidFill>
                  <a:sysClr val="window" lastClr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7" name="TextBox 24"/>
            <p:cNvSpPr txBox="1"/>
            <p:nvPr/>
          </p:nvSpPr>
          <p:spPr>
            <a:xfrm>
              <a:off x="2543745" y="1431889"/>
              <a:ext cx="46166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-170077" algn="ctr">
                <a:buClr>
                  <a:srgbClr val="3271AA"/>
                </a:buClr>
                <a:buSzPct val="140000"/>
                <a:tabLst>
                  <a:tab pos="5308205" algn="l"/>
                </a:tabLst>
                <a:defRPr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회원가입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grpSp>
          <p:nvGrpSpPr>
            <p:cNvPr id="8" name="그룹 7"/>
            <p:cNvGrpSpPr/>
            <p:nvPr/>
          </p:nvGrpSpPr>
          <p:grpSpPr>
            <a:xfrm>
              <a:off x="6022271" y="1608404"/>
              <a:ext cx="1038746" cy="508401"/>
              <a:chOff x="6089945" y="6746042"/>
              <a:chExt cx="1038963" cy="439579"/>
            </a:xfrm>
          </p:grpSpPr>
          <p:grpSp>
            <p:nvGrpSpPr>
              <p:cNvPr id="21" name="그룹 20"/>
              <p:cNvGrpSpPr>
                <a:grpSpLocks noChangeAspect="1"/>
              </p:cNvGrpSpPr>
              <p:nvPr/>
            </p:nvGrpSpPr>
            <p:grpSpPr>
              <a:xfrm>
                <a:off x="6436764" y="6746042"/>
                <a:ext cx="345253" cy="292846"/>
                <a:chOff x="10412365" y="9446105"/>
                <a:chExt cx="308197" cy="261417"/>
              </a:xfrm>
            </p:grpSpPr>
            <p:pic>
              <p:nvPicPr>
                <p:cNvPr id="23" name="Picture 24" descr="C:\Users\유나\Desktop\shutterstock_589527299 [Converted]dddd-05.pn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12365" y="9446105"/>
                  <a:ext cx="201903" cy="24464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4" name="Picture 3" descr="C:\Users\son\Desktop\아이콘\Untitled-1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553363" y="9565720"/>
                  <a:ext cx="167199" cy="141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2" name="TextBox 27"/>
              <p:cNvSpPr txBox="1"/>
              <p:nvPr/>
            </p:nvSpPr>
            <p:spPr>
              <a:xfrm>
                <a:off x="6089945" y="7065871"/>
                <a:ext cx="1038963" cy="1197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-170077" algn="ctr">
                  <a:buClr>
                    <a:srgbClr val="3271AA"/>
                  </a:buClr>
                  <a:buSzPct val="140000"/>
                  <a:tabLst>
                    <a:tab pos="5308205" algn="l"/>
                  </a:tabLst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민간단체정보담당자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sp>
          <p:nvSpPr>
            <p:cNvPr id="9" name="오른쪽 화살표 8">
              <a:extLst>
                <a:ext uri="{FF2B5EF4-FFF2-40B4-BE49-F238E27FC236}">
                  <a16:creationId xmlns:a16="http://schemas.microsoft.com/office/drawing/2014/main" id="{CDE54C37-388B-A720-0FFA-D91D9F668343}"/>
                </a:ext>
              </a:extLst>
            </p:cNvPr>
            <p:cNvSpPr/>
            <p:nvPr/>
          </p:nvSpPr>
          <p:spPr bwMode="auto">
            <a:xfrm rot="10800000" flipV="1">
              <a:off x="5392294" y="1676517"/>
              <a:ext cx="582288" cy="163519"/>
            </a:xfrm>
            <a:prstGeom prst="rightArrow">
              <a:avLst/>
            </a:prstGeom>
            <a:gradFill>
              <a:gsLst>
                <a:gs pos="3300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1080000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91422" tIns="45711" rIns="91422" bIns="45711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00" kern="0" dirty="0">
                <a:solidFill>
                  <a:sysClr val="window" lastClr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cxnSp>
          <p:nvCxnSpPr>
            <p:cNvPr id="10" name="직선 화살표 연결선 9"/>
            <p:cNvCxnSpPr>
              <a:stCxn id="5" idx="2"/>
              <a:endCxn id="12" idx="0"/>
            </p:cNvCxnSpPr>
            <p:nvPr/>
          </p:nvCxnSpPr>
          <p:spPr>
            <a:xfrm flipH="1">
              <a:off x="4648819" y="1356927"/>
              <a:ext cx="5202" cy="2118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34"/>
            <p:cNvSpPr txBox="1"/>
            <p:nvPr/>
          </p:nvSpPr>
          <p:spPr>
            <a:xfrm>
              <a:off x="5161148" y="1555630"/>
              <a:ext cx="99225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-170077" algn="ctr">
                <a:buClr>
                  <a:srgbClr val="3271AA"/>
                </a:buClr>
                <a:buSzPct val="140000"/>
                <a:tabLst>
                  <a:tab pos="5308205" algn="l"/>
                </a:tabLst>
                <a:defRPr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가입승인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/</a:t>
              </a:r>
              <a:r>
                <a:rPr lang="ko-KR" altLang="en-US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권한부여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230468" y="1568778"/>
              <a:ext cx="836701" cy="359947"/>
            </a:xfrm>
            <a:prstGeom prst="rect">
              <a:avLst/>
            </a:prstGeom>
            <a:solidFill>
              <a:srgbClr val="C9CDE3"/>
            </a:solidFill>
            <a:ln w="19050">
              <a:noFill/>
              <a:miter lim="800000"/>
            </a:ln>
            <a:effectLst/>
          </p:spPr>
          <p:txBody>
            <a:bodyPr vert="horz" wrap="square" lIns="35993" tIns="35993" rIns="35993" bIns="35993" numCol="1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59334"/>
              <a:r>
                <a:rPr lang="ko-KR" altLang="en-US" sz="9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itchFamily="2" charset="-127"/>
                  <a:ea typeface="나눔스퀘어 네오 Bold" pitchFamily="2" charset="-127"/>
                </a:rPr>
                <a:t>가입확인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itchFamily="2" charset="-127"/>
                <a:ea typeface="나눔스퀘어 네오 Bold" pitchFamily="2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230468" y="2112001"/>
              <a:ext cx="836701" cy="359947"/>
            </a:xfrm>
            <a:prstGeom prst="rect">
              <a:avLst/>
            </a:prstGeom>
            <a:solidFill>
              <a:srgbClr val="C9CDE3"/>
            </a:solidFill>
            <a:ln w="19050">
              <a:noFill/>
              <a:miter lim="800000"/>
            </a:ln>
            <a:effectLst/>
          </p:spPr>
          <p:txBody>
            <a:bodyPr vert="horz" wrap="square" lIns="35993" tIns="35993" rIns="35993" bIns="35993" numCol="1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59334"/>
              <a:r>
                <a:rPr lang="ko-KR" altLang="en-US" sz="9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itchFamily="2" charset="-127"/>
                  <a:ea typeface="나눔스퀘어 네오 Bold" pitchFamily="2" charset="-127"/>
                </a:rPr>
                <a:t>수행사업</a:t>
              </a:r>
              <a:endParaRPr lang="en-US" altLang="ko-K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itchFamily="2" charset="-127"/>
                <a:ea typeface="나눔스퀘어 네오 Bold" pitchFamily="2" charset="-127"/>
              </a:endParaRPr>
            </a:p>
            <a:p>
              <a:pPr algn="ctr" defTabSz="1259334"/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itchFamily="2" charset="-127"/>
                  <a:ea typeface="나눔스퀘어 네오 Bold" pitchFamily="2" charset="-127"/>
                </a:rPr>
                <a:t>확인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itchFamily="2" charset="-127"/>
                <a:ea typeface="나눔스퀘어 네오 Bold" pitchFamily="2" charset="-127"/>
              </a:endParaRPr>
            </a:p>
          </p:txBody>
        </p:sp>
        <p:cxnSp>
          <p:nvCxnSpPr>
            <p:cNvPr id="14" name="직선 화살표 연결선 13"/>
            <p:cNvCxnSpPr>
              <a:stCxn id="12" idx="2"/>
              <a:endCxn id="13" idx="0"/>
            </p:cNvCxnSpPr>
            <p:nvPr/>
          </p:nvCxnSpPr>
          <p:spPr>
            <a:xfrm>
              <a:off x="4648819" y="1928725"/>
              <a:ext cx="0" cy="1832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오른쪽 화살표 14">
              <a:extLst>
                <a:ext uri="{FF2B5EF4-FFF2-40B4-BE49-F238E27FC236}">
                  <a16:creationId xmlns:a16="http://schemas.microsoft.com/office/drawing/2014/main" id="{CDE54C37-388B-A720-0FFA-D91D9F668343}"/>
                </a:ext>
              </a:extLst>
            </p:cNvPr>
            <p:cNvSpPr/>
            <p:nvPr/>
          </p:nvSpPr>
          <p:spPr bwMode="auto">
            <a:xfrm rot="9769553" flipV="1">
              <a:off x="5412582" y="2034362"/>
              <a:ext cx="582288" cy="163519"/>
            </a:xfrm>
            <a:prstGeom prst="rightArrow">
              <a:avLst/>
            </a:prstGeom>
            <a:gradFill>
              <a:gsLst>
                <a:gs pos="3300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10800000" scaled="0"/>
            </a:gradFill>
            <a:ln w="6350" cap="flat" cmpd="sng" algn="ctr">
              <a:noFill/>
              <a:prstDash val="solid"/>
            </a:ln>
            <a:effectLst/>
          </p:spPr>
          <p:txBody>
            <a:bodyPr lIns="91422" tIns="45711" rIns="91422" bIns="45711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00" kern="0" dirty="0">
                <a:solidFill>
                  <a:sysClr val="window" lastClr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16" name="TextBox 44"/>
            <p:cNvSpPr txBox="1"/>
            <p:nvPr/>
          </p:nvSpPr>
          <p:spPr>
            <a:xfrm>
              <a:off x="5287309" y="2313205"/>
              <a:ext cx="830356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-170077" algn="ctr">
                <a:buClr>
                  <a:srgbClr val="3271AA"/>
                </a:buClr>
                <a:buSzPct val="140000"/>
                <a:tabLst>
                  <a:tab pos="5308205" algn="l"/>
                </a:tabLst>
                <a:defRPr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수행사업매핑</a:t>
              </a:r>
              <a:endPara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  <a:p>
              <a:pPr marL="0" lvl="1" indent="-170077" algn="ctr">
                <a:buClr>
                  <a:srgbClr val="3271AA"/>
                </a:buClr>
                <a:buSzPct val="140000"/>
                <a:tabLst>
                  <a:tab pos="5308205" algn="l"/>
                </a:tabLst>
                <a:defRPr/>
              </a:pP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(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최종검토완료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)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cxnSp>
          <p:nvCxnSpPr>
            <p:cNvPr id="17" name="꺾인 연결선 16"/>
            <p:cNvCxnSpPr>
              <a:stCxn id="13" idx="1"/>
              <a:endCxn id="26" idx="2"/>
            </p:cNvCxnSpPr>
            <p:nvPr/>
          </p:nvCxnSpPr>
          <p:spPr>
            <a:xfrm rot="10800000">
              <a:off x="967798" y="1422917"/>
              <a:ext cx="3262671" cy="869059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04AA077C-A383-4DC2-89FC-FB01496A1A52}"/>
                </a:ext>
              </a:extLst>
            </p:cNvPr>
            <p:cNvSpPr/>
            <p:nvPr/>
          </p:nvSpPr>
          <p:spPr>
            <a:xfrm>
              <a:off x="5976802" y="876860"/>
              <a:ext cx="26321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|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387350" y="2894612"/>
            <a:ext cx="7165975" cy="3389577"/>
            <a:chOff x="387350" y="2894612"/>
            <a:chExt cx="7165975" cy="3389577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780BD8C3-C101-4FAA-A310-A1C923262A6B}"/>
                </a:ext>
              </a:extLst>
            </p:cNvPr>
            <p:cNvSpPr/>
            <p:nvPr/>
          </p:nvSpPr>
          <p:spPr>
            <a:xfrm>
              <a:off x="387350" y="3281685"/>
              <a:ext cx="7165975" cy="30025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prstClr val="black">
                    <a:lumMod val="75000"/>
                    <a:lumOff val="25000"/>
                  </a:prstClr>
                </a:buClr>
              </a:pPr>
              <a:endParaRPr lang="ko-KR" altLang="en-US" sz="1600" spc="-60" dirty="0">
                <a:ln w="9525">
                  <a:solidFill>
                    <a:srgbClr val="C9E7F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/>
                <a:ea typeface="KoPub돋움체 Bold"/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76C2326-7B32-49DB-BA7B-88BB90B981D9}"/>
                </a:ext>
              </a:extLst>
            </p:cNvPr>
            <p:cNvCxnSpPr>
              <a:cxnSpLocks/>
              <a:stCxn id="45" idx="2"/>
              <a:endCxn id="34" idx="0"/>
            </p:cNvCxnSpPr>
            <p:nvPr/>
          </p:nvCxnSpPr>
          <p:spPr>
            <a:xfrm>
              <a:off x="2515960" y="4123459"/>
              <a:ext cx="3462" cy="295357"/>
            </a:xfrm>
            <a:prstGeom prst="straightConnector1">
              <a:avLst/>
            </a:prstGeom>
            <a:ln>
              <a:solidFill>
                <a:srgbClr val="0A3B6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9A00A8B-6BF0-4950-9127-9BAFFB0A1397}"/>
                </a:ext>
              </a:extLst>
            </p:cNvPr>
            <p:cNvGrpSpPr/>
            <p:nvPr/>
          </p:nvGrpSpPr>
          <p:grpSpPr>
            <a:xfrm>
              <a:off x="1829919" y="3722384"/>
              <a:ext cx="1372081" cy="401075"/>
              <a:chOff x="774092" y="1933308"/>
              <a:chExt cx="1856226" cy="314117"/>
            </a:xfrm>
          </p:grpSpPr>
          <p:sp>
            <p:nvSpPr>
              <p:cNvPr id="45" name="모서리가 둥근 직사각형 44">
                <a:extLst>
                  <a:ext uri="{FF2B5EF4-FFF2-40B4-BE49-F238E27FC236}">
                    <a16:creationId xmlns:a16="http://schemas.microsoft.com/office/drawing/2014/main" id="{ABF03491-19EB-48A0-B973-2DC5DF26ED92}"/>
                  </a:ext>
                </a:extLst>
              </p:cNvPr>
              <p:cNvSpPr/>
              <p:nvPr/>
            </p:nvSpPr>
            <p:spPr>
              <a:xfrm>
                <a:off x="774092" y="1933308"/>
                <a:ext cx="1856226" cy="314117"/>
              </a:xfrm>
              <a:prstGeom prst="roundRect">
                <a:avLst>
                  <a:gd name="adj" fmla="val 10953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>
                <a:outerShdw dist="25400" dir="2700000" algn="tl" rotWithShape="0">
                  <a:prstClr val="black">
                    <a:alpha val="12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C7C37D0C-C83D-4EE4-91FB-F8B41FCFC2A5}"/>
                  </a:ext>
                </a:extLst>
              </p:cNvPr>
              <p:cNvSpPr/>
              <p:nvPr/>
            </p:nvSpPr>
            <p:spPr>
              <a:xfrm>
                <a:off x="952901" y="1981937"/>
                <a:ext cx="1549445" cy="222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>
                  <a:buClr>
                    <a:schemeClr val="accent1">
                      <a:lumMod val="50000"/>
                    </a:schemeClr>
                  </a:buClr>
                </a:pPr>
                <a:r>
                  <a:rPr lang="ko-KR" altLang="en-US" sz="1200" dirty="0">
                    <a:ln w="317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집행내역 </a:t>
                </a:r>
                <a:r>
                  <a:rPr lang="ko-KR" altLang="en-US" sz="1200" dirty="0" smtClean="0">
                    <a:ln w="317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검토</a:t>
                </a:r>
                <a:endParaRPr lang="en-US" altLang="ko-KR" sz="1200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7BACC33-FE5B-492C-A488-0B5FF56C9510}"/>
                  </a:ext>
                </a:extLst>
              </p:cNvPr>
              <p:cNvSpPr/>
              <p:nvPr/>
            </p:nvSpPr>
            <p:spPr>
              <a:xfrm>
                <a:off x="804095" y="1983349"/>
                <a:ext cx="45719" cy="22979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61E775CB-CF01-4DEC-88BC-02E017DC54B4}"/>
                </a:ext>
              </a:extLst>
            </p:cNvPr>
            <p:cNvCxnSpPr>
              <a:cxnSpLocks/>
              <a:stCxn id="34" idx="2"/>
              <a:endCxn id="81" idx="0"/>
            </p:cNvCxnSpPr>
            <p:nvPr/>
          </p:nvCxnSpPr>
          <p:spPr>
            <a:xfrm flipH="1">
              <a:off x="2515699" y="4902616"/>
              <a:ext cx="3723" cy="625270"/>
            </a:xfrm>
            <a:prstGeom prst="straightConnector1">
              <a:avLst/>
            </a:prstGeom>
            <a:ln>
              <a:solidFill>
                <a:srgbClr val="0A3B6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CDA5BE6-079B-4261-BFFF-776E900DBE7B}"/>
                </a:ext>
              </a:extLst>
            </p:cNvPr>
            <p:cNvSpPr/>
            <p:nvPr/>
          </p:nvSpPr>
          <p:spPr>
            <a:xfrm>
              <a:off x="3801512" y="3651406"/>
              <a:ext cx="556208" cy="556208"/>
            </a:xfrm>
            <a:prstGeom prst="ellipse">
              <a:avLst/>
            </a:prstGeom>
            <a:solidFill>
              <a:srgbClr val="0538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1100" spc="-60">
                  <a:ln w="9525">
                    <a:solidFill>
                      <a:srgbClr val="C9E7F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/>
                  <a:ea typeface="KoPub돋움체 Bold"/>
                </a:rPr>
                <a:t>재검토</a:t>
              </a:r>
              <a:endParaRPr lang="ko-KR" altLang="en-US" sz="1100" spc="-60" dirty="0">
                <a:ln w="9525">
                  <a:solidFill>
                    <a:srgbClr val="C9E7F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/>
                <a:ea typeface="KoPub돋움체 Bold"/>
              </a:endParaRPr>
            </a:p>
          </p:txBody>
        </p:sp>
        <p:cxnSp>
          <p:nvCxnSpPr>
            <p:cNvPr id="33" name="연결선: 꺾임 15">
              <a:extLst>
                <a:ext uri="{FF2B5EF4-FFF2-40B4-BE49-F238E27FC236}">
                  <a16:creationId xmlns:a16="http://schemas.microsoft.com/office/drawing/2014/main" id="{70894858-8742-445C-812D-6DA5B20D4466}"/>
                </a:ext>
              </a:extLst>
            </p:cNvPr>
            <p:cNvCxnSpPr>
              <a:cxnSpLocks/>
              <a:stCxn id="32" idx="2"/>
              <a:endCxn id="45" idx="3"/>
            </p:cNvCxnSpPr>
            <p:nvPr/>
          </p:nvCxnSpPr>
          <p:spPr>
            <a:xfrm rot="10800000">
              <a:off x="3202000" y="3922922"/>
              <a:ext cx="599512" cy="658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A3B6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순서도: 판단 33">
              <a:extLst>
                <a:ext uri="{FF2B5EF4-FFF2-40B4-BE49-F238E27FC236}">
                  <a16:creationId xmlns:a16="http://schemas.microsoft.com/office/drawing/2014/main" id="{DE4886FE-27AE-4401-82B5-5DA0EB18DA98}"/>
                </a:ext>
              </a:extLst>
            </p:cNvPr>
            <p:cNvSpPr/>
            <p:nvPr/>
          </p:nvSpPr>
          <p:spPr>
            <a:xfrm>
              <a:off x="2019419" y="4418816"/>
              <a:ext cx="1000006" cy="483800"/>
            </a:xfrm>
            <a:prstGeom prst="flowChartDecision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dist="25400" dir="2700000" algn="tl" rotWithShape="0">
                <a:prstClr val="black">
                  <a:alpha val="12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5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검토</a:t>
              </a:r>
              <a:endParaRPr lang="en-US" altLang="ko-KR" sz="1050" dirty="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5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상태</a:t>
              </a:r>
              <a:endParaRPr lang="ko-KR" alt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4EC7ECF-F1E9-4481-B8DC-8A4F2C9871AB}"/>
                </a:ext>
              </a:extLst>
            </p:cNvPr>
            <p:cNvSpPr/>
            <p:nvPr/>
          </p:nvSpPr>
          <p:spPr>
            <a:xfrm>
              <a:off x="3639669" y="4542762"/>
              <a:ext cx="670578" cy="227097"/>
            </a:xfrm>
            <a:prstGeom prst="rect">
              <a:avLst/>
            </a:prstGeom>
            <a:noFill/>
            <a:ln>
              <a:solidFill>
                <a:srgbClr val="8497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1000" spc="-60" dirty="0">
                  <a:ln w="9525">
                    <a:solidFill>
                      <a:srgbClr val="C9E7F7">
                        <a:alpha val="0"/>
                      </a:srgb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latin typeface="KoPub돋움체 Bold"/>
                  <a:ea typeface="KoPub돋움체 Bold"/>
                </a:rPr>
                <a:t>보완요청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2BF9BE5-17D7-49EF-BB2D-0BAAFF522571}"/>
                </a:ext>
              </a:extLst>
            </p:cNvPr>
            <p:cNvSpPr/>
            <p:nvPr/>
          </p:nvSpPr>
          <p:spPr>
            <a:xfrm>
              <a:off x="1729484" y="4999534"/>
              <a:ext cx="670578" cy="227097"/>
            </a:xfrm>
            <a:prstGeom prst="rect">
              <a:avLst/>
            </a:prstGeom>
            <a:noFill/>
            <a:ln>
              <a:solidFill>
                <a:srgbClr val="8497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1000" spc="-60" dirty="0">
                  <a:ln w="9525">
                    <a:solidFill>
                      <a:srgbClr val="C9E7F7">
                        <a:alpha val="0"/>
                      </a:srgb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latin typeface="KoPub돋움체 Bold"/>
                  <a:ea typeface="KoPub돋움체 Bold"/>
                </a:rPr>
                <a:t>검토완료</a:t>
              </a: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A9A00A8B-6BF0-4950-9127-9BAFFB0A1397}"/>
                </a:ext>
              </a:extLst>
            </p:cNvPr>
            <p:cNvGrpSpPr/>
            <p:nvPr/>
          </p:nvGrpSpPr>
          <p:grpSpPr>
            <a:xfrm>
              <a:off x="4927567" y="4460424"/>
              <a:ext cx="1372081" cy="401075"/>
              <a:chOff x="774092" y="1933308"/>
              <a:chExt cx="1856226" cy="314117"/>
            </a:xfrm>
          </p:grpSpPr>
          <p:sp>
            <p:nvSpPr>
              <p:cNvPr id="76" name="모서리가 둥근 직사각형 75">
                <a:extLst>
                  <a:ext uri="{FF2B5EF4-FFF2-40B4-BE49-F238E27FC236}">
                    <a16:creationId xmlns:a16="http://schemas.microsoft.com/office/drawing/2014/main" id="{ABF03491-19EB-48A0-B973-2DC5DF26ED92}"/>
                  </a:ext>
                </a:extLst>
              </p:cNvPr>
              <p:cNvSpPr/>
              <p:nvPr/>
            </p:nvSpPr>
            <p:spPr>
              <a:xfrm>
                <a:off x="774092" y="1933308"/>
                <a:ext cx="1856226" cy="314117"/>
              </a:xfrm>
              <a:prstGeom prst="roundRect">
                <a:avLst>
                  <a:gd name="adj" fmla="val 10953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>
                <a:outerShdw dist="25400" dir="2700000" algn="tl" rotWithShape="0">
                  <a:prstClr val="black">
                    <a:alpha val="12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C7C37D0C-C83D-4EE4-91FB-F8B41FCFC2A5}"/>
                  </a:ext>
                </a:extLst>
              </p:cNvPr>
              <p:cNvSpPr/>
              <p:nvPr/>
            </p:nvSpPr>
            <p:spPr>
              <a:xfrm>
                <a:off x="952901" y="1981937"/>
                <a:ext cx="1549445" cy="2222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>
                  <a:buClr>
                    <a:schemeClr val="accent1">
                      <a:lumMod val="50000"/>
                    </a:schemeClr>
                  </a:buClr>
                </a:pPr>
                <a:r>
                  <a:rPr lang="ko-KR" altLang="en-US" sz="1200" dirty="0">
                    <a:ln w="317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집행내역 </a:t>
                </a:r>
                <a:r>
                  <a:rPr lang="ko-KR" altLang="en-US" sz="1200" dirty="0" smtClean="0">
                    <a:ln w="317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보완</a:t>
                </a:r>
                <a:endParaRPr lang="en-US" altLang="ko-KR" sz="1200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77BACC33-FE5B-492C-A488-0B5FF56C9510}"/>
                  </a:ext>
                </a:extLst>
              </p:cNvPr>
              <p:cNvSpPr/>
              <p:nvPr/>
            </p:nvSpPr>
            <p:spPr>
              <a:xfrm>
                <a:off x="804095" y="1983349"/>
                <a:ext cx="45719" cy="22979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A9A00A8B-6BF0-4950-9127-9BAFFB0A1397}"/>
                </a:ext>
              </a:extLst>
            </p:cNvPr>
            <p:cNvGrpSpPr/>
            <p:nvPr/>
          </p:nvGrpSpPr>
          <p:grpSpPr>
            <a:xfrm>
              <a:off x="1810869" y="5527886"/>
              <a:ext cx="1372081" cy="461665"/>
              <a:chOff x="774092" y="1912272"/>
              <a:chExt cx="1856226" cy="361570"/>
            </a:xfrm>
          </p:grpSpPr>
          <p:sp>
            <p:nvSpPr>
              <p:cNvPr id="80" name="모서리가 둥근 직사각형 79">
                <a:extLst>
                  <a:ext uri="{FF2B5EF4-FFF2-40B4-BE49-F238E27FC236}">
                    <a16:creationId xmlns:a16="http://schemas.microsoft.com/office/drawing/2014/main" id="{ABF03491-19EB-48A0-B973-2DC5DF26ED92}"/>
                  </a:ext>
                </a:extLst>
              </p:cNvPr>
              <p:cNvSpPr/>
              <p:nvPr/>
            </p:nvSpPr>
            <p:spPr>
              <a:xfrm>
                <a:off x="774092" y="1933308"/>
                <a:ext cx="1856226" cy="314117"/>
              </a:xfrm>
              <a:prstGeom prst="roundRect">
                <a:avLst>
                  <a:gd name="adj" fmla="val 10953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>
                <a:outerShdw dist="25400" dir="2700000" algn="tl" rotWithShape="0">
                  <a:prstClr val="black">
                    <a:alpha val="12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C7C37D0C-C83D-4EE4-91FB-F8B41FCFC2A5}"/>
                  </a:ext>
                </a:extLst>
              </p:cNvPr>
              <p:cNvSpPr/>
              <p:nvPr/>
            </p:nvSpPr>
            <p:spPr>
              <a:xfrm>
                <a:off x="952901" y="1912272"/>
                <a:ext cx="1549445" cy="3615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>
                  <a:buClr>
                    <a:schemeClr val="accent1">
                      <a:lumMod val="50000"/>
                    </a:schemeClr>
                  </a:buClr>
                </a:pPr>
                <a:r>
                  <a:rPr lang="ko-KR" altLang="en-US" sz="1200" dirty="0" err="1" smtClean="0">
                    <a:ln w="317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검증보고서</a:t>
                </a:r>
                <a:r>
                  <a:rPr lang="ko-KR" altLang="en-US" sz="1200" dirty="0" smtClean="0">
                    <a:ln w="317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제출</a:t>
                </a:r>
                <a:endParaRPr lang="en-US" altLang="ko-KR" sz="1200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77BACC33-FE5B-492C-A488-0B5FF56C9510}"/>
                  </a:ext>
                </a:extLst>
              </p:cNvPr>
              <p:cNvSpPr/>
              <p:nvPr/>
            </p:nvSpPr>
            <p:spPr>
              <a:xfrm>
                <a:off x="804095" y="1983349"/>
                <a:ext cx="45719" cy="22979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cxnSp>
          <p:nvCxnSpPr>
            <p:cNvPr id="91" name="연결선: 꺾임 15">
              <a:extLst>
                <a:ext uri="{FF2B5EF4-FFF2-40B4-BE49-F238E27FC236}">
                  <a16:creationId xmlns:a16="http://schemas.microsoft.com/office/drawing/2014/main" id="{70894858-8742-445C-812D-6DA5B20D4466}"/>
                </a:ext>
              </a:extLst>
            </p:cNvPr>
            <p:cNvCxnSpPr>
              <a:cxnSpLocks/>
              <a:stCxn id="76" idx="0"/>
              <a:endCxn id="32" idx="6"/>
            </p:cNvCxnSpPr>
            <p:nvPr/>
          </p:nvCxnSpPr>
          <p:spPr>
            <a:xfrm rot="16200000" flipV="1">
              <a:off x="4720207" y="3567023"/>
              <a:ext cx="530914" cy="1255888"/>
            </a:xfrm>
            <a:prstGeom prst="bentConnector2">
              <a:avLst/>
            </a:prstGeom>
            <a:ln>
              <a:solidFill>
                <a:srgbClr val="0A3B6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61E775CB-CF01-4DEC-88BC-02E017DC54B4}"/>
                </a:ext>
              </a:extLst>
            </p:cNvPr>
            <p:cNvCxnSpPr>
              <a:cxnSpLocks/>
              <a:stCxn id="34" idx="3"/>
              <a:endCxn id="35" idx="1"/>
            </p:cNvCxnSpPr>
            <p:nvPr/>
          </p:nvCxnSpPr>
          <p:spPr>
            <a:xfrm flipV="1">
              <a:off x="3019425" y="4656311"/>
              <a:ext cx="620244" cy="4405"/>
            </a:xfrm>
            <a:prstGeom prst="straightConnector1">
              <a:avLst/>
            </a:prstGeom>
            <a:ln>
              <a:solidFill>
                <a:srgbClr val="0A3B6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61E775CB-CF01-4DEC-88BC-02E017DC54B4}"/>
                </a:ext>
              </a:extLst>
            </p:cNvPr>
            <p:cNvCxnSpPr>
              <a:cxnSpLocks/>
              <a:stCxn id="35" idx="3"/>
              <a:endCxn id="76" idx="1"/>
            </p:cNvCxnSpPr>
            <p:nvPr/>
          </p:nvCxnSpPr>
          <p:spPr>
            <a:xfrm>
              <a:off x="4310247" y="4656311"/>
              <a:ext cx="617320" cy="4651"/>
            </a:xfrm>
            <a:prstGeom prst="straightConnector1">
              <a:avLst/>
            </a:prstGeom>
            <a:ln>
              <a:solidFill>
                <a:srgbClr val="0A3B6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A9A00A8B-6BF0-4950-9127-9BAFFB0A1397}"/>
                </a:ext>
              </a:extLst>
            </p:cNvPr>
            <p:cNvGrpSpPr/>
            <p:nvPr/>
          </p:nvGrpSpPr>
          <p:grpSpPr>
            <a:xfrm>
              <a:off x="4927566" y="5523519"/>
              <a:ext cx="1372081" cy="461665"/>
              <a:chOff x="774092" y="1912272"/>
              <a:chExt cx="1856226" cy="361570"/>
            </a:xfrm>
          </p:grpSpPr>
          <p:sp>
            <p:nvSpPr>
              <p:cNvPr id="106" name="모서리가 둥근 직사각형 105">
                <a:extLst>
                  <a:ext uri="{FF2B5EF4-FFF2-40B4-BE49-F238E27FC236}">
                    <a16:creationId xmlns:a16="http://schemas.microsoft.com/office/drawing/2014/main" id="{ABF03491-19EB-48A0-B973-2DC5DF26ED92}"/>
                  </a:ext>
                </a:extLst>
              </p:cNvPr>
              <p:cNvSpPr/>
              <p:nvPr/>
            </p:nvSpPr>
            <p:spPr>
              <a:xfrm>
                <a:off x="774092" y="1933308"/>
                <a:ext cx="1856226" cy="314117"/>
              </a:xfrm>
              <a:prstGeom prst="roundRect">
                <a:avLst>
                  <a:gd name="adj" fmla="val 10953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>
                <a:outerShdw dist="25400" dir="2700000" algn="tl" rotWithShape="0">
                  <a:prstClr val="black">
                    <a:alpha val="12000"/>
                  </a:prst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C7C37D0C-C83D-4EE4-91FB-F8B41FCFC2A5}"/>
                  </a:ext>
                </a:extLst>
              </p:cNvPr>
              <p:cNvSpPr/>
              <p:nvPr/>
            </p:nvSpPr>
            <p:spPr>
              <a:xfrm>
                <a:off x="952901" y="1912272"/>
                <a:ext cx="1549445" cy="3615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>
                  <a:buClr>
                    <a:schemeClr val="accent1">
                      <a:lumMod val="50000"/>
                    </a:schemeClr>
                  </a:buClr>
                </a:pPr>
                <a:r>
                  <a:rPr lang="ko-KR" altLang="en-US" sz="1200" dirty="0" err="1" smtClean="0">
                    <a:ln w="317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실적보고서</a:t>
                </a:r>
                <a:r>
                  <a:rPr lang="ko-KR" altLang="en-US" sz="1200" dirty="0" smtClean="0">
                    <a:ln w="3175"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작성</a:t>
                </a:r>
                <a:endParaRPr lang="en-US" altLang="ko-KR" sz="1200" dirty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77BACC33-FE5B-492C-A488-0B5FF56C9510}"/>
                  </a:ext>
                </a:extLst>
              </p:cNvPr>
              <p:cNvSpPr/>
              <p:nvPr/>
            </p:nvSpPr>
            <p:spPr>
              <a:xfrm>
                <a:off x="804095" y="1983349"/>
                <a:ext cx="45719" cy="22979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61E775CB-CF01-4DEC-88BC-02E017DC54B4}"/>
                </a:ext>
              </a:extLst>
            </p:cNvPr>
            <p:cNvCxnSpPr>
              <a:cxnSpLocks/>
              <a:stCxn id="80" idx="3"/>
              <a:endCxn id="106" idx="1"/>
            </p:cNvCxnSpPr>
            <p:nvPr/>
          </p:nvCxnSpPr>
          <p:spPr>
            <a:xfrm flipV="1">
              <a:off x="3182950" y="5750916"/>
              <a:ext cx="1744616" cy="4367"/>
            </a:xfrm>
            <a:prstGeom prst="straightConnector1">
              <a:avLst/>
            </a:prstGeom>
            <a:ln>
              <a:solidFill>
                <a:srgbClr val="0A3B6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양쪽 모서리가 둥근 사각형 89">
              <a:extLst>
                <a:ext uri="{FF2B5EF4-FFF2-40B4-BE49-F238E27FC236}">
                  <a16:creationId xmlns:a16="http://schemas.microsoft.com/office/drawing/2014/main" id="{38D087A6-1031-4E65-BD49-BBFD9E1A8221}"/>
                </a:ext>
              </a:extLst>
            </p:cNvPr>
            <p:cNvSpPr/>
            <p:nvPr/>
          </p:nvSpPr>
          <p:spPr>
            <a:xfrm>
              <a:off x="387350" y="2894612"/>
              <a:ext cx="7165975" cy="391659"/>
            </a:xfrm>
            <a:prstGeom prst="round2SameRect">
              <a:avLst>
                <a:gd name="adj1" fmla="val 38004"/>
                <a:gd name="adj2" fmla="val 0"/>
              </a:avLst>
            </a:prstGeom>
            <a:solidFill>
              <a:srgbClr val="0538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buClr>
                  <a:prstClr val="black">
                    <a:lumMod val="75000"/>
                    <a:lumOff val="25000"/>
                  </a:prstClr>
                </a:buClr>
              </a:pPr>
              <a:endParaRPr lang="ko-KR" altLang="en-US" sz="1100" spc="-60">
                <a:ln w="9525">
                  <a:solidFill>
                    <a:srgbClr val="C9E7F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/>
                <a:ea typeface="KoPub돋움체 Bold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18BA5768-7336-4F36-A58B-C4CE47513A77}"/>
                </a:ext>
              </a:extLst>
            </p:cNvPr>
            <p:cNvSpPr/>
            <p:nvPr/>
          </p:nvSpPr>
          <p:spPr>
            <a:xfrm>
              <a:off x="1550893" y="2934260"/>
              <a:ext cx="97013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민간회계사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C1CF730C-D7EB-4F49-8554-B897439B6C9D}"/>
                </a:ext>
              </a:extLst>
            </p:cNvPr>
            <p:cNvSpPr/>
            <p:nvPr/>
          </p:nvSpPr>
          <p:spPr>
            <a:xfrm>
              <a:off x="5641558" y="2934260"/>
              <a:ext cx="10823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b="1" dirty="0" err="1" smtClean="0">
                  <a:solidFill>
                    <a:schemeClr val="bg1"/>
                  </a:solidFill>
                </a:rPr>
                <a:t>보조사업자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FB3CA58D-0DE1-4614-9A01-47D82B29F7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00" r="87013" b="81092"/>
            <a:stretch/>
          </p:blipFill>
          <p:spPr>
            <a:xfrm>
              <a:off x="1161196" y="2921903"/>
              <a:ext cx="282432" cy="312913"/>
            </a:xfrm>
            <a:prstGeom prst="rect">
              <a:avLst/>
            </a:pr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10D1E2D0-A013-4B0B-8100-B57F32B44A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852" t="29417" r="-553" b="52339"/>
            <a:stretch/>
          </p:blipFill>
          <p:spPr>
            <a:xfrm>
              <a:off x="5246422" y="2921903"/>
              <a:ext cx="346755" cy="316713"/>
            </a:xfrm>
            <a:prstGeom prst="rect">
              <a:avLst/>
            </a:prstGeom>
          </p:spPr>
        </p:pic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4AA077C-A383-4DC2-89FC-FB01496A1A52}"/>
                </a:ext>
              </a:extLst>
            </p:cNvPr>
            <p:cNvSpPr/>
            <p:nvPr/>
          </p:nvSpPr>
          <p:spPr>
            <a:xfrm>
              <a:off x="3949687" y="2946014"/>
              <a:ext cx="26321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|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D4EC7ECF-F1E9-4481-B8DC-8A4F2C9871AB}"/>
                </a:ext>
              </a:extLst>
            </p:cNvPr>
            <p:cNvSpPr/>
            <p:nvPr/>
          </p:nvSpPr>
          <p:spPr>
            <a:xfrm>
              <a:off x="3703560" y="5802152"/>
              <a:ext cx="670578" cy="227097"/>
            </a:xfrm>
            <a:prstGeom prst="rect">
              <a:avLst/>
            </a:prstGeom>
            <a:noFill/>
            <a:ln>
              <a:solidFill>
                <a:srgbClr val="8497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1000" spc="-60" dirty="0" err="1" smtClean="0">
                  <a:ln w="9525">
                    <a:solidFill>
                      <a:srgbClr val="C9E7F7">
                        <a:alpha val="0"/>
                      </a:srgb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latin typeface="KoPub돋움체 Bold"/>
                  <a:ea typeface="KoPub돋움체 Bold"/>
                </a:rPr>
                <a:t>자동첨부</a:t>
              </a:r>
              <a:endParaRPr lang="ko-KR" altLang="en-US" sz="1000" spc="-60" dirty="0">
                <a:ln w="9525">
                  <a:solidFill>
                    <a:srgbClr val="C9E7F7"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KoPub돋움체 Bold"/>
                <a:ea typeface="KoPub돋움체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1965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0772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회원가입 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/>
              <a:t>사용자 </a:t>
            </a:r>
            <a:r>
              <a:rPr lang="en-US" altLang="ko-KR" sz="1000" dirty="0" smtClean="0"/>
              <a:t>: </a:t>
            </a:r>
            <a:r>
              <a:rPr lang="ko-KR" altLang="en-US" sz="1000" dirty="0" err="1" smtClean="0"/>
              <a:t>민간회계사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1) </a:t>
            </a:r>
            <a:r>
              <a:rPr lang="ko-KR" altLang="en-US" sz="1000" dirty="0" smtClean="0"/>
              <a:t>민간회계사가 보탬</a:t>
            </a:r>
            <a:r>
              <a:rPr lang="en-US" altLang="ko-KR" sz="1000" dirty="0" smtClean="0"/>
              <a:t>e</a:t>
            </a:r>
            <a:r>
              <a:rPr lang="ko-KR" altLang="en-US" sz="1000" dirty="0" smtClean="0"/>
              <a:t>를 통해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작성을 위해서는 보탬</a:t>
            </a:r>
            <a:r>
              <a:rPr lang="en-US" altLang="ko-KR" sz="1000" dirty="0" smtClean="0"/>
              <a:t>e </a:t>
            </a:r>
            <a:r>
              <a:rPr lang="ko-KR" altLang="en-US" sz="1000" dirty="0" smtClean="0"/>
              <a:t>에 회원가입 을 통해 </a:t>
            </a:r>
            <a:r>
              <a:rPr lang="en-US" altLang="ko-KR" sz="1000" dirty="0" smtClean="0"/>
              <a:t>ID </a:t>
            </a:r>
            <a:r>
              <a:rPr lang="ko-KR" altLang="en-US" sz="1000" dirty="0" smtClean="0"/>
              <a:t>생성 및 </a:t>
            </a:r>
            <a:r>
              <a:rPr lang="ko-KR" altLang="en-US" sz="1000" dirty="0" err="1" smtClean="0"/>
              <a:t>로그인을</a:t>
            </a:r>
            <a:r>
              <a:rPr lang="ko-KR" altLang="en-US" sz="1000" dirty="0" smtClean="0"/>
              <a:t> 해야 합니다</a:t>
            </a:r>
            <a:r>
              <a:rPr lang="en-US" altLang="ko-KR" sz="1000" dirty="0" smtClean="0"/>
              <a:t>.</a:t>
            </a:r>
            <a:endParaRPr lang="en-US" altLang="ko-KR" sz="1000" dirty="0"/>
          </a:p>
          <a:p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smtClean="0">
                <a:latin typeface="+mn-ea"/>
              </a:rPr>
              <a:t>보탬</a:t>
            </a:r>
            <a:r>
              <a:rPr lang="en-US" altLang="ko-KR" sz="1000" dirty="0" smtClean="0">
                <a:latin typeface="+mn-ea"/>
              </a:rPr>
              <a:t>e </a:t>
            </a:r>
            <a:r>
              <a:rPr lang="ko-KR" altLang="en-US" sz="1000" dirty="0" smtClean="0">
                <a:latin typeface="+mn-ea"/>
              </a:rPr>
              <a:t>로그인 화면 접속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latin typeface="+mn-ea"/>
              </a:rPr>
              <a:t> </a:t>
            </a:r>
          </a:p>
          <a:p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</a:t>
            </a:r>
            <a:r>
              <a:rPr lang="en-US" altLang="ko-KR" sz="1000" dirty="0">
                <a:latin typeface="+mn-ea"/>
              </a:rPr>
              <a:t>-. </a:t>
            </a:r>
            <a:r>
              <a:rPr lang="en-US" altLang="ko-KR" sz="1000" dirty="0" smtClean="0">
                <a:latin typeface="+mn-ea"/>
                <a:hlinkClick r:id="rId3"/>
              </a:rPr>
              <a:t>https://www.losims.go.kr/lss.do</a:t>
            </a:r>
            <a:endParaRPr lang="en-US" altLang="ko-KR" sz="1000" dirty="0"/>
          </a:p>
          <a:p>
            <a:r>
              <a:rPr lang="en-US" altLang="ko-KR" sz="1000" dirty="0"/>
              <a:t>	</a:t>
            </a:r>
          </a:p>
          <a:p>
            <a:r>
              <a:rPr lang="en-US" altLang="ko-KR" sz="1000" dirty="0" smtClean="0"/>
              <a:t>3) </a:t>
            </a:r>
            <a:r>
              <a:rPr lang="ko-KR" altLang="en-US" sz="1000" dirty="0" smtClean="0"/>
              <a:t>보탬</a:t>
            </a:r>
            <a:r>
              <a:rPr lang="en-US" altLang="ko-KR" sz="1000" dirty="0" smtClean="0"/>
              <a:t>e</a:t>
            </a:r>
            <a:r>
              <a:rPr lang="ko-KR" altLang="en-US" sz="1000" dirty="0" smtClean="0"/>
              <a:t>에 회원가입 필요 ①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752475"/>
            <a:ext cx="8387107" cy="551497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538184" y="4533379"/>
            <a:ext cx="377538" cy="2554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4326799" y="4427686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55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8079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회원가입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민간회계사</a:t>
            </a:r>
            <a:endParaRPr lang="en-US" altLang="ko-KR" sz="1000" dirty="0"/>
          </a:p>
          <a:p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이용약관 동의절차 이후 회원가입 버튼 클릭</a:t>
            </a: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752475"/>
            <a:ext cx="8315326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6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23371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회원가입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회원정보 입력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민간회계사</a:t>
            </a:r>
            <a:endParaRPr lang="en-US" altLang="ko-KR" sz="1000" dirty="0"/>
          </a:p>
          <a:p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본인인증 절차 이후 회원정보 입력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smtClean="0"/>
              <a:t>회원정보 입력이 완료되면 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확인버튼 클릭</a:t>
            </a:r>
            <a:r>
              <a:rPr lang="en-US" altLang="ko-KR" sz="1000" dirty="0" smtClean="0"/>
              <a:t>)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소속기관 등록하는 화면으로 이동 됨</a:t>
            </a:r>
            <a:r>
              <a:rPr lang="en-US" altLang="ko-KR" sz="1000" dirty="0" smtClean="0"/>
              <a:t>.</a:t>
            </a: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18" y="762000"/>
            <a:ext cx="8340739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6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2791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기관 가입신청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민간회계사</a:t>
            </a:r>
            <a:endParaRPr lang="en-US" altLang="ko-KR" sz="1000" dirty="0"/>
          </a:p>
          <a:p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기관가입신청</a:t>
            </a:r>
            <a:endParaRPr lang="en-US" altLang="ko-KR" sz="1000" dirty="0" smtClean="0"/>
          </a:p>
          <a:p>
            <a:r>
              <a:rPr lang="ko-KR" altLang="en-US" sz="1000" dirty="0" smtClean="0"/>
              <a:t>  </a:t>
            </a:r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본인회사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회계법인</a:t>
            </a:r>
            <a:r>
              <a:rPr lang="en-US" altLang="ko-KR" sz="1000" dirty="0" smtClean="0"/>
              <a:t>)</a:t>
            </a:r>
            <a:r>
              <a:rPr lang="ko-KR" altLang="en-US" sz="1000" dirty="0" smtClean="0"/>
              <a:t>를 선택하는 것이 아님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-.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작성을 의뢰한 업체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민간보조사업자</a:t>
            </a:r>
            <a:r>
              <a:rPr lang="en-US" altLang="ko-KR" sz="1000" dirty="0" smtClean="0"/>
              <a:t>)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</a:t>
            </a:r>
            <a:r>
              <a:rPr lang="ko-KR" altLang="en-US" sz="1000" dirty="0" smtClean="0"/>
              <a:t>를 소속기관으로 가입신청 해야 함</a:t>
            </a:r>
            <a:r>
              <a:rPr lang="en-US" altLang="ko-KR" sz="1000" dirty="0" smtClean="0"/>
              <a:t>. 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2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기관가입신청 버튼을 통해 기관가입요청 ①</a:t>
            </a:r>
            <a:endParaRPr lang="en-US" altLang="ko-KR" sz="1000" dirty="0"/>
          </a:p>
          <a:p>
            <a:r>
              <a:rPr lang="en-US" altLang="ko-KR" sz="1000" dirty="0"/>
              <a:t>   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871880"/>
            <a:ext cx="8096190" cy="528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2118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기관가입신청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민간회계사</a:t>
            </a:r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1) </a:t>
            </a:r>
            <a:r>
              <a:rPr lang="en-US" altLang="ko-KR" sz="1000" dirty="0" smtClean="0"/>
              <a:t>[</a:t>
            </a:r>
            <a:r>
              <a:rPr lang="ko-KR" altLang="en-US" sz="1000" dirty="0" smtClean="0"/>
              <a:t>일반기관가입신청</a:t>
            </a:r>
            <a:r>
              <a:rPr lang="en-US" altLang="ko-KR" sz="1000" dirty="0" smtClean="0"/>
              <a:t>]</a:t>
            </a:r>
            <a:r>
              <a:rPr lang="ko-KR" altLang="en-US" sz="1000" dirty="0" smtClean="0"/>
              <a:t> 선택 ①</a:t>
            </a:r>
            <a:endParaRPr lang="en-US" altLang="ko-KR" sz="1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79" y="726710"/>
            <a:ext cx="8181541" cy="5480779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2497887" y="3255714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875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22858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기관가입신청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기관조회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민간회계사</a:t>
            </a:r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1) </a:t>
            </a:r>
            <a:r>
              <a:rPr lang="ko-KR" altLang="en-US" sz="1000" dirty="0" smtClean="0"/>
              <a:t>가입신청 하고자 하는 </a:t>
            </a:r>
            <a:r>
              <a:rPr lang="ko-KR" altLang="en-US" sz="1000" dirty="0" err="1" smtClean="0"/>
              <a:t>기관조회</a:t>
            </a:r>
            <a:endParaRPr lang="en-US" altLang="ko-KR" sz="1000" dirty="0"/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-. </a:t>
            </a:r>
            <a:r>
              <a:rPr lang="ko-KR" altLang="en-US" sz="1000" dirty="0" err="1"/>
              <a:t>본인회사</a:t>
            </a:r>
            <a:r>
              <a:rPr lang="en-US" altLang="ko-KR" sz="1000" dirty="0"/>
              <a:t>(</a:t>
            </a:r>
            <a:r>
              <a:rPr lang="ko-KR" altLang="en-US" sz="1000" dirty="0"/>
              <a:t>회계법인</a:t>
            </a:r>
            <a:r>
              <a:rPr lang="en-US" altLang="ko-KR" sz="1000" dirty="0"/>
              <a:t>)</a:t>
            </a:r>
            <a:r>
              <a:rPr lang="ko-KR" altLang="en-US" sz="1000" dirty="0"/>
              <a:t>를 선택하는 것이 아님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-. </a:t>
            </a:r>
            <a:r>
              <a:rPr lang="ko-KR" altLang="en-US" sz="1000" dirty="0" err="1"/>
              <a:t>검증보고서</a:t>
            </a:r>
            <a:r>
              <a:rPr lang="ko-KR" altLang="en-US" sz="1000" dirty="0"/>
              <a:t> 작성을 의뢰한 업체</a:t>
            </a:r>
            <a:r>
              <a:rPr lang="en-US" altLang="ko-KR" sz="1000" dirty="0"/>
              <a:t>(</a:t>
            </a:r>
            <a:r>
              <a:rPr lang="ko-KR" altLang="en-US" sz="1000" dirty="0"/>
              <a:t>민간보조사업자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를 소속기관으로 가입신청 해야 함</a:t>
            </a:r>
            <a:r>
              <a:rPr lang="en-US" altLang="ko-KR" sz="1000" dirty="0"/>
              <a:t>. </a:t>
            </a:r>
          </a:p>
          <a:p>
            <a:endParaRPr lang="en-US" altLang="ko-KR" sz="1000" dirty="0"/>
          </a:p>
          <a:p>
            <a:r>
              <a:rPr lang="en-US" altLang="ko-KR" sz="1000" dirty="0"/>
              <a:t>2) </a:t>
            </a:r>
            <a:r>
              <a:rPr lang="ko-KR" altLang="en-US" sz="1000" dirty="0" err="1" smtClean="0"/>
              <a:t>기관명</a:t>
            </a:r>
            <a:r>
              <a:rPr lang="ko-KR" altLang="en-US" sz="1000" dirty="0" smtClean="0"/>
              <a:t> 또는 사업자등록번호 를 이용하여 기관을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찾은 후 해당 기관을 선택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3) </a:t>
            </a:r>
            <a:r>
              <a:rPr lang="ko-KR" altLang="en-US" sz="1000" dirty="0" smtClean="0"/>
              <a:t>적용 ① 버튼 클릭</a:t>
            </a:r>
            <a:endParaRPr lang="en-US" altLang="ko-KR" sz="1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81" y="710709"/>
            <a:ext cx="8187638" cy="5474682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7157559" y="5771629"/>
            <a:ext cx="377538" cy="2554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7017171" y="5560244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697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25391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권한부여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권한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/>
              <a:t>사용자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민간단체 </a:t>
            </a:r>
            <a:r>
              <a:rPr lang="ko-KR" altLang="en-US" sz="1000" dirty="0" err="1" smtClean="0"/>
              <a:t>정보담당자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1) </a:t>
            </a:r>
            <a:r>
              <a:rPr lang="ko-KR" altLang="en-US" sz="1000" dirty="0" smtClean="0"/>
              <a:t>민간회계사에게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작성을 의뢰한 경우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-. </a:t>
            </a:r>
            <a:r>
              <a:rPr lang="ko-KR" altLang="en-US" sz="1000" dirty="0" smtClean="0"/>
              <a:t>민간회계사가 </a:t>
            </a:r>
            <a:r>
              <a:rPr lang="ko-KR" altLang="en-US" sz="1000" dirty="0" err="1" smtClean="0"/>
              <a:t>회원가입후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기관가입</a:t>
            </a:r>
            <a:r>
              <a:rPr lang="ko-KR" altLang="en-US" sz="1000" dirty="0" smtClean="0"/>
              <a:t> 신청을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</a:t>
            </a:r>
            <a:r>
              <a:rPr lang="ko-KR" altLang="en-US" sz="1000" dirty="0" smtClean="0"/>
              <a:t>하도록 한다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-. </a:t>
            </a:r>
            <a:r>
              <a:rPr lang="ko-KR" altLang="en-US" sz="1000" dirty="0" err="1" smtClean="0"/>
              <a:t>기관가입</a:t>
            </a:r>
            <a:r>
              <a:rPr lang="ko-KR" altLang="en-US" sz="1000" dirty="0" smtClean="0"/>
              <a:t> 신청을 승인 처리 후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</a:t>
            </a:r>
            <a:r>
              <a:rPr lang="ko-KR" altLang="en-US" sz="1000" dirty="0" smtClean="0"/>
              <a:t>권한 및 </a:t>
            </a:r>
            <a:r>
              <a:rPr lang="ko-KR" altLang="en-US" sz="1000" dirty="0" err="1" smtClean="0"/>
              <a:t>사업매핑</a:t>
            </a:r>
            <a:r>
              <a:rPr lang="ko-KR" altLang="en-US" sz="1000" dirty="0" smtClean="0"/>
              <a:t> 처리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err="1" smtClean="0"/>
              <a:t>권한부여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 smtClean="0"/>
              <a:t>   -. </a:t>
            </a:r>
            <a:r>
              <a:rPr lang="ko-KR" altLang="en-US" sz="1000" dirty="0" err="1" smtClean="0"/>
              <a:t>민간회계사</a:t>
            </a:r>
            <a:r>
              <a:rPr lang="ko-KR" altLang="en-US" sz="1000" dirty="0" smtClean="0"/>
              <a:t> 선택 후 </a:t>
            </a:r>
            <a:r>
              <a:rPr lang="ko-KR" altLang="en-US" sz="1000" dirty="0" err="1" smtClean="0"/>
              <a:t>권한추가</a:t>
            </a:r>
            <a:r>
              <a:rPr lang="ko-KR" altLang="en-US" sz="1000" dirty="0" smtClean="0"/>
              <a:t> 버튼을 통해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</a:t>
            </a:r>
            <a:r>
              <a:rPr lang="ko-KR" altLang="en-US" sz="1000" dirty="0" err="1" smtClean="0"/>
              <a:t>민간회계사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권한부여</a:t>
            </a:r>
            <a:endParaRPr lang="en-US" altLang="ko-KR" sz="1000" dirty="0" smtClean="0"/>
          </a:p>
          <a:p>
            <a:r>
              <a:rPr lang="en-US" altLang="ko-KR" sz="1000" dirty="0" smtClean="0"/>
              <a:t>  </a:t>
            </a:r>
            <a:endParaRPr lang="en-US" altLang="ko-KR" sz="1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77003"/>
            <a:ext cx="8169348" cy="545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5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2791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수행사업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매핑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/>
              <a:t>민간단체 </a:t>
            </a:r>
            <a:r>
              <a:rPr lang="ko-KR" altLang="en-US" sz="1000" dirty="0" err="1"/>
              <a:t>정보담당자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1) </a:t>
            </a:r>
            <a:r>
              <a:rPr lang="ko-KR" altLang="en-US" sz="1000" dirty="0"/>
              <a:t>민간회계사에게 </a:t>
            </a:r>
            <a:r>
              <a:rPr lang="ko-KR" altLang="en-US" sz="1000" dirty="0" err="1"/>
              <a:t>검증보고서</a:t>
            </a:r>
            <a:r>
              <a:rPr lang="ko-KR" altLang="en-US" sz="1000" dirty="0"/>
              <a:t> 작성을 의뢰한 경우</a:t>
            </a:r>
            <a:endParaRPr lang="en-US" altLang="ko-KR" sz="1000" dirty="0"/>
          </a:p>
          <a:p>
            <a:r>
              <a:rPr lang="en-US" altLang="ko-KR" sz="1000" dirty="0"/>
              <a:t>   -. </a:t>
            </a:r>
            <a:r>
              <a:rPr lang="ko-KR" altLang="en-US" sz="1000" dirty="0"/>
              <a:t>민간회계사가 </a:t>
            </a:r>
            <a:r>
              <a:rPr lang="ko-KR" altLang="en-US" sz="1000" dirty="0" err="1"/>
              <a:t>회원가입후</a:t>
            </a:r>
            <a:r>
              <a:rPr lang="ko-KR" altLang="en-US" sz="1000" dirty="0"/>
              <a:t> </a:t>
            </a:r>
            <a:r>
              <a:rPr lang="ko-KR" altLang="en-US" sz="1000" dirty="0" err="1"/>
              <a:t>기관가입</a:t>
            </a:r>
            <a:r>
              <a:rPr lang="ko-KR" altLang="en-US" sz="1000" dirty="0"/>
              <a:t> 신청을 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하도록 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 -. </a:t>
            </a:r>
            <a:r>
              <a:rPr lang="ko-KR" altLang="en-US" sz="1000" dirty="0" err="1"/>
              <a:t>기관가입</a:t>
            </a:r>
            <a:r>
              <a:rPr lang="ko-KR" altLang="en-US" sz="1000" dirty="0"/>
              <a:t> 신청을 승인 처리 후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권한 및 </a:t>
            </a:r>
            <a:r>
              <a:rPr lang="ko-KR" altLang="en-US" sz="1000" dirty="0" err="1"/>
              <a:t>사업매핑</a:t>
            </a:r>
            <a:r>
              <a:rPr lang="ko-KR" altLang="en-US" sz="1000" dirty="0"/>
              <a:t> 처리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2) </a:t>
            </a:r>
            <a:r>
              <a:rPr lang="ko-KR" altLang="en-US" sz="1000" dirty="0" err="1" smtClean="0"/>
              <a:t>민간회계사</a:t>
            </a:r>
            <a:r>
              <a:rPr lang="ko-KR" altLang="en-US" sz="1000" dirty="0" smtClean="0"/>
              <a:t> 권한을 가진 사람을 선택하면 ① 수행사업매핑 버튼이 활성화 됨 ②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75" y="738143"/>
            <a:ext cx="8254699" cy="54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5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2118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수행사업매핑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/>
              <a:t>민간단체 </a:t>
            </a:r>
            <a:r>
              <a:rPr lang="ko-KR" altLang="en-US" sz="1000" dirty="0" err="1"/>
              <a:t>정보담당자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1) </a:t>
            </a:r>
            <a:r>
              <a:rPr lang="ko-KR" altLang="en-US" sz="1000" dirty="0"/>
              <a:t>민간회계사에게 </a:t>
            </a:r>
            <a:r>
              <a:rPr lang="ko-KR" altLang="en-US" sz="1000" dirty="0" err="1"/>
              <a:t>검증보고서</a:t>
            </a:r>
            <a:r>
              <a:rPr lang="ko-KR" altLang="en-US" sz="1000" dirty="0"/>
              <a:t> 작성을 </a:t>
            </a:r>
            <a:r>
              <a:rPr lang="ko-KR" altLang="en-US" sz="1000" dirty="0" smtClean="0"/>
              <a:t>의뢰하고자 하는 사업을 지정한다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  -. </a:t>
            </a:r>
            <a:r>
              <a:rPr lang="ko-KR" altLang="en-US" sz="1000" dirty="0" err="1"/>
              <a:t>검증보고서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작성대상이</a:t>
            </a:r>
            <a:r>
              <a:rPr lang="ko-KR" altLang="en-US" sz="1000" dirty="0"/>
              <a:t> 필수인 사업은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지방보조금</a:t>
            </a:r>
            <a:r>
              <a:rPr lang="ko-KR" altLang="en-US" sz="1000" dirty="0" smtClean="0"/>
              <a:t> 금액이 </a:t>
            </a:r>
            <a:r>
              <a:rPr lang="en-US" altLang="ko-KR" sz="1000" dirty="0"/>
              <a:t>3</a:t>
            </a:r>
            <a:r>
              <a:rPr lang="ko-KR" altLang="en-US" sz="1000" dirty="0"/>
              <a:t>억원 이상인 사업이지만</a:t>
            </a:r>
            <a:endParaRPr lang="en-US" altLang="ko-KR" sz="1000" dirty="0"/>
          </a:p>
          <a:p>
            <a:r>
              <a:rPr lang="en-US" altLang="ko-KR" sz="1000" dirty="0" smtClean="0"/>
              <a:t>    3</a:t>
            </a:r>
            <a:r>
              <a:rPr lang="ko-KR" altLang="en-US" sz="1000" dirty="0"/>
              <a:t>억원 미만의 사업도 </a:t>
            </a:r>
            <a:r>
              <a:rPr lang="ko-KR" altLang="en-US" sz="1000" dirty="0" err="1"/>
              <a:t>검증보고서</a:t>
            </a:r>
            <a:r>
              <a:rPr lang="ko-KR" altLang="en-US" sz="1000" dirty="0"/>
              <a:t> 작성을 할 수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있다</a:t>
            </a:r>
            <a:r>
              <a:rPr lang="en-US" altLang="ko-KR" sz="1000" dirty="0"/>
              <a:t>. ①</a:t>
            </a:r>
          </a:p>
          <a:p>
            <a:endParaRPr lang="en-US" altLang="ko-KR" sz="1000" dirty="0" smtClean="0"/>
          </a:p>
          <a:p>
            <a:r>
              <a:rPr lang="en-US" altLang="ko-KR" sz="1000" dirty="0" smtClean="0"/>
              <a:t>  -. </a:t>
            </a:r>
            <a:r>
              <a:rPr lang="ko-KR" altLang="en-US" sz="1000" dirty="0" smtClean="0"/>
              <a:t>수행중인 사업을 조회 ②후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작성의뢰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</a:t>
            </a:r>
            <a:r>
              <a:rPr lang="ko-KR" altLang="en-US" sz="1000" dirty="0" smtClean="0"/>
              <a:t>하고자 하는 사업을 선택 후 저장</a:t>
            </a:r>
            <a:r>
              <a:rPr lang="en-US" altLang="ko-KR" sz="1000" dirty="0" smtClean="0"/>
              <a:t>.</a:t>
            </a:r>
            <a:endParaRPr lang="en-US" altLang="ko-KR" sz="1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11" y="722902"/>
            <a:ext cx="8205927" cy="54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6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88710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정산관리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민간회계사정산검토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검토대상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목록조회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(94040)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/>
              <a:t>사용자 </a:t>
            </a:r>
            <a:r>
              <a:rPr lang="en-US" altLang="ko-KR" sz="1000" dirty="0" smtClean="0"/>
              <a:t>: </a:t>
            </a:r>
            <a:r>
              <a:rPr lang="ko-KR" altLang="en-US" sz="1000" dirty="0" err="1" smtClean="0"/>
              <a:t>민간회계사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1) </a:t>
            </a:r>
            <a:r>
              <a:rPr lang="ko-KR" altLang="en-US" sz="1000" dirty="0" smtClean="0"/>
              <a:t>민간회계사는 보조사업자가 의뢰한 사업에 대해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err="1" smtClean="0"/>
              <a:t>매핑처리가</a:t>
            </a:r>
            <a:r>
              <a:rPr lang="ko-KR" altLang="en-US" sz="1000" dirty="0" smtClean="0"/>
              <a:t> 완료된 사업에 대해 검증보고서를 작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성할 수 있게 된다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smtClean="0"/>
              <a:t>검토대상 목록 조회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회계연도 선택 후</a:t>
            </a:r>
            <a:r>
              <a:rPr lang="ko-KR" altLang="en-US" sz="1000" dirty="0"/>
              <a:t>①  </a:t>
            </a:r>
            <a:r>
              <a:rPr lang="ko-KR" altLang="en-US" sz="1000" dirty="0" err="1"/>
              <a:t>조회버튼</a:t>
            </a:r>
            <a:r>
              <a:rPr lang="ko-KR" altLang="en-US" sz="1000" dirty="0"/>
              <a:t> ② 클릭 으로 </a:t>
            </a:r>
            <a:r>
              <a:rPr lang="ko-KR" altLang="en-US" sz="1000" dirty="0" smtClean="0"/>
              <a:t>조회</a:t>
            </a:r>
            <a:r>
              <a:rPr lang="en-US" altLang="ko-KR" sz="1000" dirty="0" smtClean="0"/>
              <a:t>          -. </a:t>
            </a:r>
            <a:r>
              <a:rPr lang="ko-KR" altLang="en-US" sz="1000" dirty="0" smtClean="0">
                <a:latin typeface="맑은 고딕" panose="020B0503020000020004" pitchFamily="50" charset="-127"/>
              </a:rPr>
              <a:t>민간공인회계사수행사업 담당자로</a:t>
            </a:r>
            <a:r>
              <a:rPr lang="ko-KR" altLang="en-US" sz="1000" dirty="0" smtClean="0"/>
              <a:t> 지정된 사업만 조회됨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조회된 </a:t>
            </a:r>
            <a:r>
              <a:rPr lang="ko-KR" altLang="en-US" sz="1000" dirty="0" err="1" smtClean="0"/>
              <a:t>수행사업의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[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진행상태</a:t>
            </a:r>
            <a:r>
              <a:rPr lang="en-US" altLang="ko-KR" sz="1000" dirty="0" smtClean="0"/>
              <a:t>] </a:t>
            </a:r>
            <a:r>
              <a:rPr lang="ko-KR" altLang="en-US" sz="1000" dirty="0" smtClean="0"/>
              <a:t>항목 클릭 시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집행내역 </a:t>
            </a:r>
            <a:r>
              <a:rPr lang="ko-KR" altLang="en-US" sz="1000" dirty="0" err="1" smtClean="0"/>
              <a:t>목록조회</a:t>
            </a:r>
            <a:r>
              <a:rPr lang="en-US" altLang="ko-KR" sz="1000" dirty="0" smtClean="0"/>
              <a:t>(</a:t>
            </a:r>
            <a:r>
              <a:rPr lang="ko-KR" altLang="en-US" sz="1000" dirty="0" err="1" smtClean="0"/>
              <a:t>민간회계사</a:t>
            </a:r>
            <a:r>
              <a:rPr lang="en-US" altLang="ko-KR" sz="1000" dirty="0" smtClean="0"/>
              <a:t>)’ </a:t>
            </a:r>
            <a:r>
              <a:rPr lang="ko-KR" altLang="en-US" sz="1000" dirty="0" smtClean="0"/>
              <a:t>화면 호출됨</a:t>
            </a:r>
            <a:endParaRPr lang="en-US" altLang="ko-KR" sz="10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38" y="832485"/>
            <a:ext cx="8357779" cy="539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1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89319"/>
            <a:ext cx="893994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정산관리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민간회계사정산검토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검토대상 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목록조회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(94040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</a:p>
          <a:p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            -&gt;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집행내역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목록조회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민간회계사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 smtClean="0"/>
              <a:t>1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집행내역 </a:t>
            </a:r>
            <a:r>
              <a:rPr lang="ko-KR" altLang="en-US" sz="1000" dirty="0"/>
              <a:t>목록 조회</a:t>
            </a:r>
            <a:endParaRPr lang="en-US" altLang="ko-KR" sz="1000" dirty="0"/>
          </a:p>
          <a:p>
            <a:r>
              <a:rPr lang="en-US" altLang="ko-KR" sz="1000" dirty="0"/>
              <a:t>-. </a:t>
            </a:r>
            <a:r>
              <a:rPr lang="ko-KR" altLang="en-US" sz="1000" dirty="0" smtClean="0"/>
              <a:t>선택한 사업의 집행내역 목록의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[</a:t>
            </a:r>
            <a:r>
              <a:rPr lang="ko-KR" altLang="en-US" sz="1000" dirty="0" err="1" smtClean="0"/>
              <a:t>검증검토</a:t>
            </a:r>
            <a:r>
              <a:rPr lang="ko-KR" altLang="en-US" sz="1000" dirty="0" smtClean="0"/>
              <a:t> 진행상태</a:t>
            </a:r>
            <a:r>
              <a:rPr lang="en-US" altLang="ko-KR" sz="1000" dirty="0" smtClean="0"/>
              <a:t>] </a:t>
            </a:r>
            <a:r>
              <a:rPr lang="ko-KR" altLang="en-US" sz="1000" dirty="0" smtClean="0"/>
              <a:t>항목 클릭 시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해당 </a:t>
            </a:r>
            <a:r>
              <a:rPr lang="ko-KR" altLang="en-US" sz="1000" dirty="0" err="1" smtClean="0"/>
              <a:t>집행상세</a:t>
            </a:r>
            <a:r>
              <a:rPr lang="ko-KR" altLang="en-US" sz="1000" dirty="0" smtClean="0"/>
              <a:t> 화면 호출 됨</a:t>
            </a:r>
            <a:endParaRPr lang="en-US" altLang="ko-KR" sz="1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8" y="898314"/>
            <a:ext cx="8241671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0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89319"/>
            <a:ext cx="893994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정산관리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민간회계사정산검토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검토대상 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목록조회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(94040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</a:p>
          <a:p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             -&gt;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집행내역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목록조회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-&gt;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검증검토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의견등록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민간회계사</a:t>
            </a:r>
            <a:endParaRPr lang="en-US" altLang="ko-KR" sz="1000" dirty="0"/>
          </a:p>
          <a:p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집행실적 상세정보 조회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선택한 </a:t>
            </a:r>
            <a:r>
              <a:rPr lang="ko-KR" altLang="en-US" sz="1000" dirty="0" err="1" smtClean="0"/>
              <a:t>집행실적의</a:t>
            </a:r>
            <a:r>
              <a:rPr lang="ko-KR" altLang="en-US" sz="1000" dirty="0" smtClean="0"/>
              <a:t> 거래처 정보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첨부파일정보 등 </a:t>
            </a:r>
            <a:r>
              <a:rPr lang="ko-KR" altLang="en-US" sz="1000" dirty="0" err="1" smtClean="0"/>
              <a:t>상세내역</a:t>
            </a:r>
            <a:r>
              <a:rPr lang="ko-KR" altLang="en-US" sz="1000" dirty="0" smtClean="0"/>
              <a:t> </a:t>
            </a:r>
            <a:r>
              <a:rPr lang="ko-KR" altLang="en-US" sz="1000" dirty="0"/>
              <a:t>①</a:t>
            </a:r>
            <a:r>
              <a:rPr lang="ko-KR" altLang="en-US" sz="1000" dirty="0" smtClean="0"/>
              <a:t> 조회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사업비의 세목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재원별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집행금액</a:t>
            </a:r>
            <a:r>
              <a:rPr lang="ko-KR" altLang="en-US" sz="1000" dirty="0" smtClean="0"/>
              <a:t> 정보</a:t>
            </a:r>
            <a:r>
              <a:rPr lang="ko-KR" altLang="en-US" sz="1000" dirty="0"/>
              <a:t> ②</a:t>
            </a:r>
            <a:r>
              <a:rPr lang="ko-KR" altLang="en-US" sz="1000" dirty="0" smtClean="0"/>
              <a:t> 조회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smtClean="0"/>
              <a:t>검증검토의견 및 </a:t>
            </a:r>
            <a:r>
              <a:rPr lang="ko-KR" altLang="en-US" sz="1000" dirty="0" err="1" smtClean="0"/>
              <a:t>상태값</a:t>
            </a:r>
            <a:r>
              <a:rPr lang="ko-KR" altLang="en-US" sz="1000" dirty="0" smtClean="0"/>
              <a:t> 입력 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/>
              <a:t>③ </a:t>
            </a:r>
            <a:r>
              <a:rPr lang="ko-KR" altLang="en-US" sz="1000" dirty="0" smtClean="0"/>
              <a:t> </a:t>
            </a:r>
            <a:endParaRPr lang="en-US" altLang="ko-KR" sz="1000" dirty="0"/>
          </a:p>
          <a:p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검토완료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정상적인 사업비 사용으로 인정</a:t>
            </a:r>
            <a:endParaRPr lang="en-US" altLang="ko-KR" sz="1000" dirty="0" smtClean="0"/>
          </a:p>
          <a:p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보안요청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: </a:t>
            </a:r>
            <a:r>
              <a:rPr lang="ko-KR" altLang="en-US" sz="1000" dirty="0" err="1" smtClean="0"/>
              <a:t>집행건이</a:t>
            </a:r>
            <a:r>
              <a:rPr lang="ko-KR" altLang="en-US" sz="1000" dirty="0" smtClean="0"/>
              <a:t> 사업지로 인정하기에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부족하므로 검증검토의견에 보완해야할 의견 입력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/>
              <a:t>검토진행상태 </a:t>
            </a:r>
            <a:r>
              <a:rPr lang="en-US" altLang="ko-KR" sz="1000" dirty="0"/>
              <a:t>‘</a:t>
            </a:r>
            <a:r>
              <a:rPr lang="ko-KR" altLang="en-US" sz="1000" dirty="0" err="1"/>
              <a:t>보안요청</a:t>
            </a:r>
            <a:r>
              <a:rPr lang="en-US" altLang="ko-KR" sz="1000" dirty="0"/>
              <a:t>＇</a:t>
            </a:r>
            <a:r>
              <a:rPr lang="ko-KR" altLang="en-US" sz="1000" dirty="0"/>
              <a:t>시 검토의견 필수 입력 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/>
              <a:t>④ </a:t>
            </a:r>
            <a:r>
              <a:rPr lang="ko-KR" altLang="en-US" sz="1000" dirty="0" smtClean="0"/>
              <a:t>불인정금액으로 판단되는 금액에 대해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</a:t>
            </a:r>
            <a:r>
              <a:rPr lang="ko-KR" altLang="en-US" sz="1000" dirty="0" smtClean="0"/>
              <a:t>직접 입력   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3) </a:t>
            </a:r>
            <a:r>
              <a:rPr lang="ko-KR" altLang="en-US" sz="1000" dirty="0" err="1" smtClean="0"/>
              <a:t>검증검토</a:t>
            </a:r>
            <a:r>
              <a:rPr lang="ko-KR" altLang="en-US" sz="1000" dirty="0" smtClean="0"/>
              <a:t> 의견 등록</a:t>
            </a:r>
            <a:endParaRPr lang="en-US" altLang="ko-KR" sz="1000" dirty="0" smtClean="0"/>
          </a:p>
          <a:p>
            <a:r>
              <a:rPr lang="en-US" altLang="ko-KR" sz="1000" dirty="0" smtClean="0"/>
              <a:t>-. ‘</a:t>
            </a:r>
            <a:r>
              <a:rPr lang="ko-KR" altLang="en-US" sz="1000" dirty="0" smtClean="0"/>
              <a:t>검증검토보고서</a:t>
            </a:r>
            <a:r>
              <a:rPr lang="en-US" altLang="ko-KR" sz="1000" dirty="0" smtClean="0"/>
              <a:t>’</a:t>
            </a:r>
            <a:r>
              <a:rPr lang="ko-KR" altLang="en-US" sz="1000" dirty="0" smtClean="0"/>
              <a:t> 이미 </a:t>
            </a:r>
            <a:r>
              <a:rPr lang="en-US" altLang="ko-KR" sz="1000" dirty="0"/>
              <a:t>[</a:t>
            </a:r>
            <a:r>
              <a:rPr lang="ko-KR" altLang="en-US" sz="1000" dirty="0" smtClean="0"/>
              <a:t>제출</a:t>
            </a:r>
            <a:r>
              <a:rPr lang="en-US" altLang="ko-KR" sz="1000" dirty="0"/>
              <a:t>]</a:t>
            </a:r>
            <a:r>
              <a:rPr lang="ko-KR" altLang="en-US" sz="1000" dirty="0" smtClean="0"/>
              <a:t>된 사업은 </a:t>
            </a:r>
            <a:r>
              <a:rPr lang="ko-KR" altLang="en-US" sz="1000" dirty="0" err="1" smtClean="0"/>
              <a:t>의견등록</a:t>
            </a:r>
            <a:r>
              <a:rPr lang="ko-KR" altLang="en-US" sz="1000" dirty="0" smtClean="0"/>
              <a:t> 불가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검증검토의견 입력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불인정금액</a:t>
            </a:r>
            <a:r>
              <a:rPr lang="ko-KR" altLang="en-US" sz="1000" dirty="0" smtClean="0"/>
              <a:t> 입력 후 저장 ⑤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4) </a:t>
            </a:r>
            <a:r>
              <a:rPr lang="ko-KR" altLang="en-US" sz="1000" dirty="0" smtClean="0"/>
              <a:t>이외 다른 </a:t>
            </a:r>
            <a:r>
              <a:rPr lang="ko-KR" altLang="en-US" sz="1000" dirty="0" err="1" smtClean="0"/>
              <a:t>집행실적에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조회 및 </a:t>
            </a:r>
            <a:r>
              <a:rPr lang="ko-KR" altLang="en-US" sz="1000" dirty="0" err="1" smtClean="0"/>
              <a:t>의견등록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여러건의</a:t>
            </a:r>
            <a:r>
              <a:rPr lang="ko-KR" altLang="en-US" sz="1000" dirty="0" smtClean="0"/>
              <a:t> 집행실적을 검토하는 경우 이전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다음 버튼⑥ 을 통해 </a:t>
            </a:r>
            <a:r>
              <a:rPr lang="ko-KR" altLang="en-US" sz="1000" dirty="0" err="1" smtClean="0"/>
              <a:t>집행건</a:t>
            </a:r>
            <a:r>
              <a:rPr lang="ko-KR" altLang="en-US" sz="1000" dirty="0" smtClean="0"/>
              <a:t> 조회 가능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5) </a:t>
            </a:r>
            <a:r>
              <a:rPr lang="ko-KR" altLang="en-US" sz="1000" dirty="0" smtClean="0"/>
              <a:t>중요재산정보 </a:t>
            </a:r>
            <a:r>
              <a:rPr lang="en-US" altLang="ko-KR" sz="1000" dirty="0" smtClean="0"/>
              <a:t>/ </a:t>
            </a:r>
            <a:r>
              <a:rPr lang="ko-KR" altLang="en-US" sz="1000" dirty="0" err="1" smtClean="0"/>
              <a:t>계약정보</a:t>
            </a:r>
            <a:r>
              <a:rPr lang="ko-KR" altLang="en-US" sz="1000" dirty="0" smtClean="0"/>
              <a:t> 조회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집행건이</a:t>
            </a:r>
            <a:r>
              <a:rPr lang="en-US" altLang="ko-KR" sz="1000" dirty="0"/>
              <a:t>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중요재산정보</a:t>
            </a:r>
            <a:r>
              <a:rPr lang="en-US" altLang="ko-KR" sz="1000" dirty="0" smtClean="0"/>
              <a:t>’/’</a:t>
            </a:r>
            <a:r>
              <a:rPr lang="ko-KR" altLang="en-US" sz="1000" dirty="0" err="1" smtClean="0"/>
              <a:t>계약정보</a:t>
            </a:r>
            <a:r>
              <a:rPr lang="en-US" altLang="ko-KR" sz="1000" dirty="0" smtClean="0"/>
              <a:t>‘ </a:t>
            </a:r>
            <a:r>
              <a:rPr lang="ko-KR" altLang="en-US" sz="1000" dirty="0" smtClean="0"/>
              <a:t>포함하고 있는 경우 해당 버튼 클릭⑦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⑧ 을 통해 상세정보 </a:t>
            </a:r>
            <a:r>
              <a:rPr lang="ko-KR" altLang="en-US" sz="1000" dirty="0" err="1" smtClean="0"/>
              <a:t>조회가능</a:t>
            </a:r>
            <a:endParaRPr lang="en-US" altLang="ko-KR" sz="10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9" y="916169"/>
            <a:ext cx="8206836" cy="518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6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88710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정산관리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민간회계사정산검토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검토대상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목록조회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(94040)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민간회계사</a:t>
            </a:r>
            <a:endParaRPr lang="en-US" altLang="ko-KR" sz="1000" dirty="0"/>
          </a:p>
          <a:p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검토대상 목록 조회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회계연도 선택 후</a:t>
            </a:r>
            <a:r>
              <a:rPr lang="ko-KR" altLang="en-US" sz="1000" dirty="0"/>
              <a:t>①  </a:t>
            </a:r>
            <a:r>
              <a:rPr lang="ko-KR" altLang="en-US" sz="1000" dirty="0" err="1"/>
              <a:t>조회버튼</a:t>
            </a:r>
            <a:r>
              <a:rPr lang="ko-KR" altLang="en-US" sz="1000" dirty="0"/>
              <a:t> ② 클릭 으로 </a:t>
            </a:r>
            <a:r>
              <a:rPr lang="ko-KR" altLang="en-US" sz="1000" dirty="0" smtClean="0"/>
              <a:t>조회</a:t>
            </a:r>
            <a:r>
              <a:rPr lang="en-US" altLang="ko-KR" sz="1000" dirty="0" smtClean="0"/>
              <a:t>          </a:t>
            </a:r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검증검토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의견등록</a:t>
            </a:r>
            <a:r>
              <a:rPr lang="ko-KR" altLang="en-US" sz="1000" dirty="0" smtClean="0"/>
              <a:t> 시 </a:t>
            </a:r>
            <a:r>
              <a:rPr lang="en-US" altLang="ko-KR" sz="1000" dirty="0" smtClean="0"/>
              <a:t>‘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진행상태</a:t>
            </a:r>
            <a:r>
              <a:rPr lang="en-US" altLang="ko-KR" sz="1000" dirty="0" smtClean="0"/>
              <a:t>‘</a:t>
            </a:r>
            <a:r>
              <a:rPr lang="ko-KR" altLang="en-US" sz="1000" dirty="0"/>
              <a:t>③ 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작성중</a:t>
            </a:r>
            <a:r>
              <a:rPr lang="ko-KR" altLang="en-US" sz="1000" dirty="0" smtClean="0"/>
              <a:t> 으로 변경됨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제출 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정산진행상태가 </a:t>
            </a:r>
            <a:r>
              <a:rPr lang="en-US" altLang="ko-KR" sz="1000" dirty="0" smtClean="0"/>
              <a:t>‘</a:t>
            </a:r>
            <a:r>
              <a:rPr lang="ko-KR" altLang="en-US" sz="1000" dirty="0" err="1" smtClean="0"/>
              <a:t>집행마감</a:t>
            </a:r>
            <a:r>
              <a:rPr lang="en-US" altLang="ko-KR" sz="1000" dirty="0" smtClean="0"/>
              <a:t>’,’</a:t>
            </a:r>
            <a:r>
              <a:rPr lang="ko-KR" altLang="en-US" sz="1000" dirty="0" err="1" smtClean="0"/>
              <a:t>정산마감</a:t>
            </a:r>
            <a:r>
              <a:rPr lang="en-US" altLang="ko-KR" sz="1000" dirty="0" smtClean="0"/>
              <a:t>＇</a:t>
            </a:r>
            <a:r>
              <a:rPr lang="ko-KR" altLang="en-US" sz="1000" dirty="0" smtClean="0"/>
              <a:t>인 상태에서만 가능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검증검토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미처리건</a:t>
            </a:r>
            <a:r>
              <a:rPr lang="ko-KR" altLang="en-US" sz="1000" dirty="0" smtClean="0"/>
              <a:t> 없이 모두 </a:t>
            </a:r>
            <a:r>
              <a:rPr lang="ko-KR" altLang="en-US" sz="1000" dirty="0" err="1" smtClean="0"/>
              <a:t>검증완료인</a:t>
            </a:r>
            <a:r>
              <a:rPr lang="ko-KR" altLang="en-US" sz="1000" dirty="0" smtClean="0"/>
              <a:t> 경우만 가능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실적보고서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제출</a:t>
            </a:r>
            <a:r>
              <a:rPr lang="en-US" altLang="ko-KR" sz="1000" dirty="0" smtClean="0"/>
              <a:t>‘ </a:t>
            </a:r>
            <a:r>
              <a:rPr lang="ko-KR" altLang="en-US" sz="1000" dirty="0" smtClean="0"/>
              <a:t>및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승인</a:t>
            </a:r>
            <a:r>
              <a:rPr lang="en-US" altLang="ko-KR" sz="1000" dirty="0" smtClean="0"/>
              <a:t>‘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이후에는 제출 불가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검증기관명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검증의견</a:t>
            </a:r>
            <a:r>
              <a:rPr lang="ko-KR" altLang="en-US" sz="1000" dirty="0" smtClean="0"/>
              <a:t> 필수 입력 </a:t>
            </a:r>
            <a:r>
              <a:rPr lang="ko-KR" altLang="en-US" sz="1000" dirty="0"/>
              <a:t>④</a:t>
            </a:r>
            <a:r>
              <a:rPr lang="ko-KR" altLang="en-US" sz="1000" dirty="0" smtClean="0"/>
              <a:t>  후 제출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⑤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3) </a:t>
            </a:r>
            <a:r>
              <a:rPr lang="ko-KR" altLang="en-US" sz="1000" dirty="0" err="1" smtClean="0"/>
              <a:t>제출취소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/>
              <a:t>실적보고서</a:t>
            </a:r>
            <a:r>
              <a:rPr lang="ko-KR" altLang="en-US" sz="1000" dirty="0"/>
              <a:t> </a:t>
            </a:r>
            <a:r>
              <a:rPr lang="en-US" altLang="ko-KR" sz="1000" dirty="0"/>
              <a:t>‘</a:t>
            </a:r>
            <a:r>
              <a:rPr lang="ko-KR" altLang="en-US" sz="1000" dirty="0"/>
              <a:t>제출</a:t>
            </a:r>
            <a:r>
              <a:rPr lang="en-US" altLang="ko-KR" sz="1000" dirty="0"/>
              <a:t>‘ </a:t>
            </a:r>
            <a:r>
              <a:rPr lang="ko-KR" altLang="en-US" sz="1000" dirty="0"/>
              <a:t>및 </a:t>
            </a:r>
            <a:r>
              <a:rPr lang="en-US" altLang="ko-KR" sz="1000" dirty="0"/>
              <a:t>‘</a:t>
            </a:r>
            <a:r>
              <a:rPr lang="ko-KR" altLang="en-US" sz="1000" dirty="0"/>
              <a:t>승인</a:t>
            </a:r>
            <a:r>
              <a:rPr lang="en-US" altLang="ko-KR" sz="1000" dirty="0"/>
              <a:t>‘</a:t>
            </a:r>
            <a:r>
              <a:rPr lang="ko-KR" altLang="en-US" sz="1000" dirty="0"/>
              <a:t> 이후에는 </a:t>
            </a:r>
            <a:r>
              <a:rPr lang="ko-KR" altLang="en-US" sz="1000" dirty="0" err="1" smtClean="0"/>
              <a:t>제출취소</a:t>
            </a:r>
            <a:r>
              <a:rPr lang="ko-KR" altLang="en-US" sz="1000" dirty="0"/>
              <a:t> ⑦</a:t>
            </a:r>
            <a:r>
              <a:rPr lang="ko-KR" altLang="en-US" sz="1000" dirty="0" smtClean="0"/>
              <a:t> 불가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4)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출력</a:t>
            </a:r>
            <a:endParaRPr lang="en-US" altLang="ko-KR" sz="1000" dirty="0" smtClean="0"/>
          </a:p>
          <a:p>
            <a:r>
              <a:rPr lang="en-US" altLang="ko-KR" sz="1000" dirty="0"/>
              <a:t>-. </a:t>
            </a:r>
            <a:r>
              <a:rPr lang="ko-KR" altLang="en-US" sz="1000" dirty="0" err="1"/>
              <a:t>제출완료인</a:t>
            </a:r>
            <a:r>
              <a:rPr lang="ko-KR" altLang="en-US" sz="1000" dirty="0"/>
              <a:t> 사업에 대해서만 </a:t>
            </a:r>
            <a:r>
              <a:rPr lang="ko-KR" altLang="en-US" sz="1000" dirty="0" err="1"/>
              <a:t>검증보고서</a:t>
            </a:r>
            <a:r>
              <a:rPr lang="ko-KR" altLang="en-US" sz="1000" dirty="0"/>
              <a:t> 출력 ⑥ 가능</a:t>
            </a:r>
            <a:endParaRPr lang="en-US" altLang="ko-KR" sz="1000" dirty="0"/>
          </a:p>
          <a:p>
            <a:endParaRPr lang="en-US" altLang="ko-KR" sz="1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8" y="893718"/>
            <a:ext cx="8154585" cy="528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76719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보조사업자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정산관리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민간회계사정산검토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검증검토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의견조회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(94041)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 smtClean="0"/>
              <a:t>보조사업자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1) </a:t>
            </a:r>
            <a:r>
              <a:rPr lang="ko-KR" altLang="en-US" sz="1000" dirty="0" smtClean="0"/>
              <a:t>보조사업 담당자는 민간회계사가 검토한 </a:t>
            </a:r>
            <a:r>
              <a:rPr lang="ko-KR" altLang="en-US" sz="1000" dirty="0" err="1" smtClean="0"/>
              <a:t>집행내역에</a:t>
            </a:r>
            <a:r>
              <a:rPr lang="ko-KR" altLang="en-US" sz="1000" dirty="0" smtClean="0"/>
              <a:t> 대해 검토의견을 조회 후 수정사항 발생시 수정할 수 있다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-. </a:t>
            </a:r>
            <a:r>
              <a:rPr lang="ko-KR" altLang="en-US" sz="1000" dirty="0" smtClean="0"/>
              <a:t>단 이미 </a:t>
            </a:r>
            <a:r>
              <a:rPr lang="ko-KR" altLang="en-US" sz="1000" dirty="0" err="1" smtClean="0"/>
              <a:t>집행마감</a:t>
            </a:r>
            <a:r>
              <a:rPr lang="ko-KR" altLang="en-US" sz="1000" dirty="0" smtClean="0"/>
              <a:t> 상태인 경우 해당 </a:t>
            </a:r>
            <a:r>
              <a:rPr lang="ko-KR" altLang="en-US" sz="1000" dirty="0" err="1" smtClean="0"/>
              <a:t>집행건을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수정하기 위해서는 </a:t>
            </a:r>
            <a:r>
              <a:rPr lang="ko-KR" altLang="en-US" sz="1000" dirty="0" err="1" smtClean="0"/>
              <a:t>집행마감을</a:t>
            </a:r>
            <a:r>
              <a:rPr lang="ko-KR" altLang="en-US" sz="1000" dirty="0" smtClean="0"/>
              <a:t> 취소처리 한 후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집행정보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수정가능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err="1"/>
              <a:t>검증검토</a:t>
            </a:r>
            <a:r>
              <a:rPr lang="ko-KR" altLang="en-US" sz="1000" dirty="0"/>
              <a:t> 의견 조회</a:t>
            </a:r>
            <a:endParaRPr lang="en-US" altLang="ko-KR" sz="1000" dirty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회계연도 선택 ①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수행사업</a:t>
            </a:r>
            <a:r>
              <a:rPr lang="ko-KR" altLang="en-US" sz="1000" dirty="0" smtClean="0"/>
              <a:t> 선택 </a:t>
            </a:r>
            <a:r>
              <a:rPr lang="ko-KR" altLang="en-US" sz="1000" dirty="0"/>
              <a:t>② </a:t>
            </a:r>
            <a:r>
              <a:rPr lang="ko-KR" altLang="en-US" sz="1000" dirty="0" smtClean="0"/>
              <a:t>으로 조회</a:t>
            </a:r>
            <a:r>
              <a:rPr lang="en-US" altLang="ko-KR" sz="1000" dirty="0" smtClean="0"/>
              <a:t> </a:t>
            </a:r>
            <a:r>
              <a:rPr lang="ko-KR" altLang="en-US" sz="1000" dirty="0"/>
              <a:t>③</a:t>
            </a:r>
            <a:r>
              <a:rPr lang="en-US" altLang="ko-KR" sz="1000" dirty="0" smtClean="0"/>
              <a:t>        -. </a:t>
            </a:r>
            <a:r>
              <a:rPr lang="ko-KR" altLang="en-US" sz="1000" dirty="0" smtClean="0"/>
              <a:t>조회된</a:t>
            </a:r>
            <a:r>
              <a:rPr lang="ko-KR" altLang="en-US" sz="1000" dirty="0" smtClean="0">
                <a:latin typeface="맑은 고딕" panose="020B0503020000020004" pitchFamily="50" charset="-127"/>
              </a:rPr>
              <a:t> </a:t>
            </a:r>
            <a:r>
              <a:rPr lang="ko-KR" altLang="en-US" sz="1000" dirty="0" err="1" smtClean="0">
                <a:latin typeface="맑은 고딕" panose="020B0503020000020004" pitchFamily="50" charset="-127"/>
              </a:rPr>
              <a:t>수행사업의</a:t>
            </a:r>
            <a:r>
              <a:rPr lang="ko-KR" altLang="en-US" sz="1000" dirty="0" smtClean="0">
                <a:latin typeface="맑은 고딕" panose="020B0503020000020004" pitchFamily="50" charset="-127"/>
              </a:rPr>
              <a:t> </a:t>
            </a:r>
            <a:r>
              <a:rPr lang="ko-KR" altLang="en-US" sz="1000" dirty="0" err="1" smtClean="0">
                <a:latin typeface="맑은 고딕" panose="020B0503020000020004" pitchFamily="50" charset="-127"/>
              </a:rPr>
              <a:t>검증검토</a:t>
            </a:r>
            <a:r>
              <a:rPr lang="ko-KR" altLang="en-US" sz="1000" dirty="0" smtClean="0">
                <a:latin typeface="맑은 고딕" panose="020B0503020000020004" pitchFamily="50" charset="-127"/>
              </a:rPr>
              <a:t> 집행내역목록 조회</a:t>
            </a:r>
            <a:endParaRPr lang="en-US" altLang="ko-KR" sz="1000" dirty="0" smtClean="0">
              <a:latin typeface="맑은 고딕" panose="020B0503020000020004" pitchFamily="50" charset="-127"/>
            </a:endParaRPr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조회된 </a:t>
            </a:r>
            <a:r>
              <a:rPr lang="ko-KR" altLang="en-US" sz="1000" dirty="0" err="1" smtClean="0"/>
              <a:t>수행사업의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[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진행상태</a:t>
            </a:r>
            <a:r>
              <a:rPr lang="en-US" altLang="ko-KR" sz="1000" dirty="0" smtClean="0"/>
              <a:t>] </a:t>
            </a:r>
            <a:r>
              <a:rPr lang="ko-KR" altLang="en-US" sz="1000" dirty="0" smtClean="0"/>
              <a:t>항목 클릭 시 </a:t>
            </a:r>
            <a:r>
              <a:rPr lang="en-US" altLang="ko-KR" sz="1000" dirty="0" smtClean="0"/>
              <a:t>‘</a:t>
            </a:r>
            <a:r>
              <a:rPr lang="ko-KR" altLang="en-US" sz="1000" dirty="0" err="1" smtClean="0"/>
              <a:t>검증검토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결과조회</a:t>
            </a:r>
            <a:r>
              <a:rPr lang="en-US" altLang="ko-KR" sz="1000" dirty="0" smtClean="0"/>
              <a:t>’ </a:t>
            </a:r>
            <a:r>
              <a:rPr lang="ko-KR" altLang="en-US" sz="1000" dirty="0" smtClean="0"/>
              <a:t>화면 호출됨</a:t>
            </a:r>
            <a:endParaRPr lang="en-US" altLang="ko-KR" sz="10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8" y="879566"/>
            <a:ext cx="8189419" cy="526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1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984083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보조사업자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정산관리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민간회계사정산검토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검증검토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의견조회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(94041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-&gt;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겸증검토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결과조회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보조사업자</a:t>
            </a:r>
            <a:endParaRPr lang="en-US" altLang="ko-KR" sz="1000" dirty="0"/>
          </a:p>
          <a:p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집행실적 상세정보 조회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선택한 </a:t>
            </a:r>
            <a:r>
              <a:rPr lang="ko-KR" altLang="en-US" sz="1000" dirty="0" err="1" smtClean="0"/>
              <a:t>집행실적의</a:t>
            </a:r>
            <a:r>
              <a:rPr lang="ko-KR" altLang="en-US" sz="1000" dirty="0" smtClean="0"/>
              <a:t> 거래처 정보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첨부파일정보 등 </a:t>
            </a:r>
            <a:r>
              <a:rPr lang="ko-KR" altLang="en-US" sz="1000" dirty="0" err="1" smtClean="0"/>
              <a:t>상세내역</a:t>
            </a:r>
            <a:r>
              <a:rPr lang="ko-KR" altLang="en-US" sz="1000" dirty="0" smtClean="0"/>
              <a:t> </a:t>
            </a:r>
            <a:r>
              <a:rPr lang="ko-KR" altLang="en-US" sz="1000" dirty="0"/>
              <a:t>①</a:t>
            </a:r>
            <a:r>
              <a:rPr lang="ko-KR" altLang="en-US" sz="1000" dirty="0" smtClean="0"/>
              <a:t> 조회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사업비의 세목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재원별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집행금액</a:t>
            </a:r>
            <a:r>
              <a:rPr lang="ko-KR" altLang="en-US" sz="1000" dirty="0" smtClean="0"/>
              <a:t> 정보</a:t>
            </a:r>
            <a:r>
              <a:rPr lang="ko-KR" altLang="en-US" sz="1000" dirty="0"/>
              <a:t> ②</a:t>
            </a:r>
            <a:r>
              <a:rPr lang="ko-KR" altLang="en-US" sz="1000" dirty="0" smtClean="0"/>
              <a:t> 조회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smtClean="0"/>
              <a:t>검증검토의견 및 </a:t>
            </a:r>
            <a:r>
              <a:rPr lang="ko-KR" altLang="en-US" sz="1000" dirty="0" err="1" smtClean="0"/>
              <a:t>상태값</a:t>
            </a:r>
            <a:r>
              <a:rPr lang="ko-KR" altLang="en-US" sz="1000" dirty="0" smtClean="0"/>
              <a:t> 입력 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/>
              <a:t>③ </a:t>
            </a:r>
            <a:r>
              <a:rPr lang="ko-KR" altLang="en-US" sz="1000" dirty="0" err="1" smtClean="0"/>
              <a:t>보안완료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: </a:t>
            </a:r>
            <a:r>
              <a:rPr lang="ko-KR" altLang="en-US" sz="1000" dirty="0" err="1" smtClean="0"/>
              <a:t>집행건이</a:t>
            </a:r>
            <a:r>
              <a:rPr lang="ko-KR" altLang="en-US" sz="1000" dirty="0" smtClean="0"/>
              <a:t> 사업지로 인정하기에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부족해 </a:t>
            </a:r>
            <a:r>
              <a:rPr lang="ko-KR" altLang="en-US" sz="1000" dirty="0" err="1" smtClean="0"/>
              <a:t>보안요청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집행내역에</a:t>
            </a:r>
            <a:r>
              <a:rPr lang="ko-KR" altLang="en-US" sz="1000" dirty="0" smtClean="0"/>
              <a:t> 대해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검증검토의견에 보완해야할 서류 및 의견  입력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3) </a:t>
            </a:r>
            <a:r>
              <a:rPr lang="ko-KR" altLang="en-US" sz="1000" dirty="0" err="1" smtClean="0"/>
              <a:t>검증검토</a:t>
            </a:r>
            <a:r>
              <a:rPr lang="ko-KR" altLang="en-US" sz="1000" dirty="0" smtClean="0"/>
              <a:t> 의견 등록</a:t>
            </a:r>
            <a:endParaRPr lang="en-US" altLang="ko-KR" sz="1000" dirty="0" smtClean="0"/>
          </a:p>
          <a:p>
            <a:r>
              <a:rPr lang="en-US" altLang="ko-KR" sz="1000" dirty="0" smtClean="0"/>
              <a:t>-. ‘</a:t>
            </a:r>
            <a:r>
              <a:rPr lang="ko-KR" altLang="en-US" sz="1000" dirty="0" smtClean="0"/>
              <a:t>검증검토보고서</a:t>
            </a:r>
            <a:r>
              <a:rPr lang="en-US" altLang="ko-KR" sz="1000" dirty="0" smtClean="0"/>
              <a:t>’</a:t>
            </a:r>
            <a:r>
              <a:rPr lang="ko-KR" altLang="en-US" sz="1000" dirty="0" smtClean="0"/>
              <a:t> 이미 </a:t>
            </a:r>
            <a:r>
              <a:rPr lang="en-US" altLang="ko-KR" sz="1000" dirty="0"/>
              <a:t>[</a:t>
            </a:r>
            <a:r>
              <a:rPr lang="ko-KR" altLang="en-US" sz="1000" dirty="0" smtClean="0"/>
              <a:t>제출</a:t>
            </a:r>
            <a:r>
              <a:rPr lang="en-US" altLang="ko-KR" sz="1000" dirty="0"/>
              <a:t>]</a:t>
            </a:r>
            <a:r>
              <a:rPr lang="ko-KR" altLang="en-US" sz="1000" dirty="0" smtClean="0"/>
              <a:t>된 사업은 의견 저장    ④ 불가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4) </a:t>
            </a:r>
            <a:r>
              <a:rPr lang="ko-KR" altLang="en-US" sz="1000" dirty="0" smtClean="0"/>
              <a:t>이외 다른 </a:t>
            </a:r>
            <a:r>
              <a:rPr lang="ko-KR" altLang="en-US" sz="1000" dirty="0" err="1" smtClean="0"/>
              <a:t>집행실적에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조회 및 </a:t>
            </a:r>
            <a:r>
              <a:rPr lang="ko-KR" altLang="en-US" sz="1000" dirty="0" err="1" smtClean="0"/>
              <a:t>의견등록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여러건의</a:t>
            </a:r>
            <a:r>
              <a:rPr lang="ko-KR" altLang="en-US" sz="1000" dirty="0" smtClean="0"/>
              <a:t> 집행실적을 검토하는 경우 이전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다음 버튼</a:t>
            </a:r>
            <a:r>
              <a:rPr lang="ko-KR" altLang="en-US" sz="1000" dirty="0"/>
              <a:t> ⑤</a:t>
            </a:r>
            <a:r>
              <a:rPr lang="ko-KR" altLang="en-US" sz="1000" dirty="0" smtClean="0"/>
              <a:t> 을 통해 </a:t>
            </a:r>
            <a:r>
              <a:rPr lang="ko-KR" altLang="en-US" sz="1000" dirty="0" err="1" smtClean="0"/>
              <a:t>집행건</a:t>
            </a:r>
            <a:r>
              <a:rPr lang="ko-KR" altLang="en-US" sz="1000" dirty="0" smtClean="0"/>
              <a:t> 조회 가능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5) </a:t>
            </a:r>
            <a:r>
              <a:rPr lang="ko-KR" altLang="en-US" sz="1000" dirty="0" smtClean="0"/>
              <a:t>중요재산정보 </a:t>
            </a:r>
            <a:r>
              <a:rPr lang="en-US" altLang="ko-KR" sz="1000" dirty="0" smtClean="0"/>
              <a:t>/ </a:t>
            </a:r>
            <a:r>
              <a:rPr lang="ko-KR" altLang="en-US" sz="1000" dirty="0" err="1" smtClean="0"/>
              <a:t>계약정보</a:t>
            </a:r>
            <a:r>
              <a:rPr lang="ko-KR" altLang="en-US" sz="1000" dirty="0" smtClean="0"/>
              <a:t> 조회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집행건이</a:t>
            </a:r>
            <a:r>
              <a:rPr lang="en-US" altLang="ko-KR" sz="1000" dirty="0"/>
              <a:t>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중요재산정보</a:t>
            </a:r>
            <a:r>
              <a:rPr lang="en-US" altLang="ko-KR" sz="1000" dirty="0" smtClean="0"/>
              <a:t>’/’</a:t>
            </a:r>
            <a:r>
              <a:rPr lang="ko-KR" altLang="en-US" sz="1000" dirty="0" err="1" smtClean="0"/>
              <a:t>계약정보</a:t>
            </a:r>
            <a:r>
              <a:rPr lang="en-US" altLang="ko-KR" sz="1000" dirty="0" smtClean="0"/>
              <a:t>‘ </a:t>
            </a:r>
            <a:r>
              <a:rPr lang="ko-KR" altLang="en-US" sz="1000" dirty="0" smtClean="0"/>
              <a:t>포함하고 있는 경우 해당 버튼 클릭 ⑥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⑦ 을 통해 상세정보 </a:t>
            </a:r>
            <a:r>
              <a:rPr lang="ko-KR" altLang="en-US" sz="1000" dirty="0" err="1" smtClean="0"/>
              <a:t>조회가능</a:t>
            </a:r>
            <a:endParaRPr lang="en-US" altLang="ko-KR" sz="10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8" y="904876"/>
            <a:ext cx="8145876" cy="529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8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76719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보조사업자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정산관리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민간회계사정산검토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검증검토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의견조회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(94041)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보조사업자</a:t>
            </a:r>
            <a:endParaRPr lang="en-US" altLang="ko-KR" sz="1000" dirty="0"/>
          </a:p>
          <a:p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1</a:t>
            </a:r>
            <a:r>
              <a:rPr lang="en-US" altLang="ko-KR" sz="1000" dirty="0"/>
              <a:t>) </a:t>
            </a:r>
            <a:r>
              <a:rPr lang="ko-KR" altLang="en-US" sz="1000" dirty="0" err="1" smtClean="0"/>
              <a:t>검증검토</a:t>
            </a:r>
            <a:r>
              <a:rPr lang="ko-KR" altLang="en-US" sz="1000" dirty="0" smtClean="0"/>
              <a:t> 의견 조회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회계연도 선택 ①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수행사업</a:t>
            </a:r>
            <a:r>
              <a:rPr lang="ko-KR" altLang="en-US" sz="1000" dirty="0" smtClean="0"/>
              <a:t> 선택 ② 으로 조회</a:t>
            </a:r>
            <a:r>
              <a:rPr lang="en-US" altLang="ko-KR" sz="1000" dirty="0" smtClean="0"/>
              <a:t> </a:t>
            </a:r>
            <a:r>
              <a:rPr lang="ko-KR" altLang="en-US" sz="1000" dirty="0"/>
              <a:t>③</a:t>
            </a:r>
            <a:r>
              <a:rPr lang="en-US" altLang="ko-KR" sz="1000" dirty="0" smtClean="0"/>
              <a:t>        -. </a:t>
            </a:r>
            <a:r>
              <a:rPr lang="ko-KR" altLang="en-US" sz="1000" dirty="0" smtClean="0"/>
              <a:t>민간회계사가 제출한 </a:t>
            </a:r>
            <a:r>
              <a:rPr lang="ko-KR" altLang="en-US" sz="1000" dirty="0" err="1" smtClean="0"/>
              <a:t>검증의견</a:t>
            </a:r>
            <a:r>
              <a:rPr lang="ko-KR" altLang="en-US" sz="1000" dirty="0"/>
              <a:t> ④ </a:t>
            </a:r>
            <a:r>
              <a:rPr lang="ko-KR" altLang="en-US" sz="1000" dirty="0" smtClean="0"/>
              <a:t>조회 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출력</a:t>
            </a:r>
            <a:endParaRPr lang="en-US" altLang="ko-KR" sz="1000" dirty="0" smtClean="0"/>
          </a:p>
          <a:p>
            <a:r>
              <a:rPr lang="en-US" altLang="ko-KR" sz="1000" dirty="0" smtClean="0"/>
              <a:t>-. </a:t>
            </a:r>
            <a:r>
              <a:rPr lang="ko-KR" altLang="en-US" sz="1000" dirty="0" smtClean="0"/>
              <a:t>해당 </a:t>
            </a:r>
            <a:r>
              <a:rPr lang="ko-KR" altLang="en-US" sz="1000" dirty="0" err="1" smtClean="0"/>
              <a:t>수행사업에</a:t>
            </a:r>
            <a:r>
              <a:rPr lang="ko-KR" altLang="en-US" sz="1000" dirty="0" smtClean="0"/>
              <a:t> 대한 검증검토보고서 </a:t>
            </a:r>
            <a:r>
              <a:rPr lang="ko-KR" altLang="en-US" sz="1000" dirty="0" err="1" smtClean="0"/>
              <a:t>민간회계사</a:t>
            </a:r>
            <a:r>
              <a:rPr lang="ko-KR" altLang="en-US" sz="1000" dirty="0" smtClean="0"/>
              <a:t> 감사로 제출된 경우에만 출력 </a:t>
            </a:r>
            <a:r>
              <a:rPr lang="ko-KR" altLang="en-US" sz="1000" dirty="0"/>
              <a:t>⑤ </a:t>
            </a:r>
            <a:r>
              <a:rPr lang="ko-KR" altLang="en-US" sz="1000" dirty="0" smtClean="0"/>
              <a:t>됨</a:t>
            </a:r>
            <a:endParaRPr lang="en-US" altLang="ko-KR" sz="10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8" y="919843"/>
            <a:ext cx="8111042" cy="525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4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84542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보조사업자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정산관리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실적보고서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실적보고서등록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(94008) -&gt;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실적보고서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상세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보조사업자</a:t>
            </a:r>
            <a:endParaRPr lang="en-US" altLang="ko-KR" sz="1000" dirty="0"/>
          </a:p>
          <a:p>
            <a:endParaRPr lang="en-US" altLang="ko-KR" sz="1000" dirty="0" smtClean="0"/>
          </a:p>
          <a:p>
            <a:pPr marL="228600" indent="-228600">
              <a:buAutoNum type="arabicParenR"/>
            </a:pPr>
            <a:endParaRPr lang="en-US" altLang="ko-KR" sz="1000" dirty="0"/>
          </a:p>
          <a:p>
            <a:pPr marL="228600" indent="-228600">
              <a:buAutoNum type="arabicParenR"/>
            </a:pPr>
            <a:r>
              <a:rPr lang="ko-KR" altLang="en-US" sz="1000" dirty="0" err="1" smtClean="0"/>
              <a:t>실적보고서</a:t>
            </a:r>
            <a:r>
              <a:rPr lang="ko-KR" altLang="en-US" sz="1000" dirty="0" smtClean="0"/>
              <a:t> 작성할 </a:t>
            </a:r>
            <a:r>
              <a:rPr lang="ko-KR" altLang="en-US" sz="1000" dirty="0" err="1" smtClean="0"/>
              <a:t>수행사업</a:t>
            </a:r>
            <a:r>
              <a:rPr lang="ko-KR" altLang="en-US" sz="1000" dirty="0" smtClean="0"/>
              <a:t> 조회 </a:t>
            </a:r>
            <a:endParaRPr lang="en-US" altLang="ko-KR" sz="1000" dirty="0" smtClean="0"/>
          </a:p>
          <a:p>
            <a:r>
              <a:rPr lang="en-US" altLang="ko-KR" sz="1000" dirty="0" smtClean="0"/>
              <a:t>  </a:t>
            </a:r>
          </a:p>
          <a:p>
            <a:r>
              <a:rPr lang="en-US" altLang="ko-KR" sz="1000" dirty="0" smtClean="0"/>
              <a:t>2</a:t>
            </a:r>
            <a:r>
              <a:rPr lang="en-US" altLang="ko-KR" sz="1000" dirty="0"/>
              <a:t>)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출력</a:t>
            </a:r>
            <a:endParaRPr lang="en-US" altLang="ko-KR" sz="1000" dirty="0" smtClean="0"/>
          </a:p>
          <a:p>
            <a:r>
              <a:rPr lang="en-US" altLang="ko-KR" sz="1000" dirty="0" smtClean="0"/>
              <a:t>-.  </a:t>
            </a:r>
            <a:r>
              <a:rPr lang="ko-KR" altLang="en-US" sz="1000" dirty="0"/>
              <a:t>검증결과 탭 ① 에서 </a:t>
            </a:r>
            <a:r>
              <a:rPr lang="ko-KR" altLang="en-US" sz="1000" dirty="0" smtClean="0"/>
              <a:t>보탬</a:t>
            </a:r>
            <a:r>
              <a:rPr lang="en-US" altLang="ko-KR" sz="1000" dirty="0" smtClean="0"/>
              <a:t>e </a:t>
            </a:r>
            <a:r>
              <a:rPr lang="ko-KR" altLang="en-US" sz="1000" dirty="0" smtClean="0"/>
              <a:t>통해서 </a:t>
            </a:r>
            <a:r>
              <a:rPr lang="ko-KR" altLang="en-US" sz="1000" dirty="0" err="1" smtClean="0"/>
              <a:t>민간회계사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감사 보고서 제출된 사업인 경우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출력버튼</a:t>
            </a:r>
            <a:r>
              <a:rPr lang="ko-KR" altLang="en-US" sz="1000" dirty="0" smtClean="0"/>
              <a:t> </a:t>
            </a:r>
            <a:r>
              <a:rPr lang="ko-KR" altLang="en-US" sz="1000" dirty="0"/>
              <a:t>② </a:t>
            </a:r>
            <a:r>
              <a:rPr lang="ko-KR" altLang="en-US" sz="1000" dirty="0" smtClean="0"/>
              <a:t>표출됨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(</a:t>
            </a:r>
            <a:r>
              <a:rPr lang="ko-KR" altLang="en-US" sz="1000" dirty="0" smtClean="0"/>
              <a:t>보고서 제출되지 않은  사업은 </a:t>
            </a:r>
            <a:r>
              <a:rPr lang="ko-KR" altLang="en-US" sz="1000" dirty="0" err="1" smtClean="0"/>
              <a:t>출력버튼</a:t>
            </a:r>
            <a:r>
              <a:rPr lang="ko-KR" altLang="en-US" sz="1000" dirty="0" smtClean="0"/>
              <a:t> 표출되지 않음 </a:t>
            </a:r>
            <a:r>
              <a:rPr lang="en-US" altLang="ko-KR" sz="1000" dirty="0" smtClean="0"/>
              <a:t>)</a:t>
            </a:r>
            <a:endParaRPr lang="en-US" altLang="ko-KR" sz="1000" dirty="0"/>
          </a:p>
          <a:p>
            <a:r>
              <a:rPr lang="en-US" altLang="ko-KR" sz="1000" dirty="0"/>
              <a:t>  </a:t>
            </a:r>
          </a:p>
          <a:p>
            <a:r>
              <a:rPr lang="en-US" altLang="ko-KR" sz="1000" dirty="0" smtClean="0"/>
              <a:t>3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검증결과 제출 반영</a:t>
            </a:r>
            <a:r>
              <a:rPr lang="en-US" altLang="ko-KR" sz="1000" dirty="0" smtClean="0"/>
              <a:t> </a:t>
            </a:r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출력 버튼 표출 되는 사업은 파일첨부 하지 않아도 검증결과 작성한 사업으로 적용됨</a:t>
            </a: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9" y="916713"/>
            <a:ext cx="8145876" cy="527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4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05929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지자체 사업담당자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정산관리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 err="1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실적보고서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실적보고서심사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지자체</a:t>
            </a:r>
            <a:r>
              <a:rPr lang="en-US" altLang="ko-KR" sz="180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)(94009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실적보고서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상세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920507" y="1263405"/>
            <a:ext cx="318767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사용자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자치단체 사업담당자</a:t>
            </a:r>
            <a:r>
              <a:rPr lang="en-US" altLang="ko-KR" sz="1000" dirty="0" smtClean="0"/>
              <a:t>.</a:t>
            </a:r>
            <a:endParaRPr lang="en-US" altLang="ko-KR" sz="1000" dirty="0"/>
          </a:p>
          <a:p>
            <a:endParaRPr lang="en-US" altLang="ko-KR" sz="1000" dirty="0" smtClean="0"/>
          </a:p>
          <a:p>
            <a:pPr marL="228600" indent="-228600">
              <a:buAutoNum type="arabicParenR"/>
            </a:pPr>
            <a:endParaRPr lang="en-US" altLang="ko-KR" sz="1000" dirty="0"/>
          </a:p>
          <a:p>
            <a:pPr marL="228600" indent="-228600">
              <a:buAutoNum type="arabicParenR"/>
            </a:pPr>
            <a:r>
              <a:rPr lang="ko-KR" altLang="en-US" sz="1000" dirty="0" err="1" smtClean="0"/>
              <a:t>실적보고서</a:t>
            </a:r>
            <a:r>
              <a:rPr lang="ko-KR" altLang="en-US" sz="1000" dirty="0" smtClean="0"/>
              <a:t> 작성할 </a:t>
            </a:r>
            <a:r>
              <a:rPr lang="ko-KR" altLang="en-US" sz="1000" dirty="0" err="1" smtClean="0"/>
              <a:t>수행사업</a:t>
            </a:r>
            <a:r>
              <a:rPr lang="ko-KR" altLang="en-US" sz="1000" dirty="0" smtClean="0"/>
              <a:t> 조회 </a:t>
            </a:r>
            <a:endParaRPr lang="en-US" altLang="ko-KR" sz="1000" dirty="0" smtClean="0"/>
          </a:p>
          <a:p>
            <a:r>
              <a:rPr lang="en-US" altLang="ko-KR" sz="1000" dirty="0" smtClean="0"/>
              <a:t>  </a:t>
            </a:r>
          </a:p>
          <a:p>
            <a:r>
              <a:rPr lang="en-US" altLang="ko-KR" sz="1000" dirty="0" smtClean="0"/>
              <a:t>2</a:t>
            </a:r>
            <a:r>
              <a:rPr lang="en-US" altLang="ko-KR" sz="1000" dirty="0"/>
              <a:t>)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출력</a:t>
            </a:r>
            <a:endParaRPr lang="en-US" altLang="ko-KR" sz="1000" dirty="0" smtClean="0"/>
          </a:p>
          <a:p>
            <a:r>
              <a:rPr lang="en-US" altLang="ko-KR" sz="1000" dirty="0" smtClean="0"/>
              <a:t>-.  </a:t>
            </a:r>
            <a:r>
              <a:rPr lang="ko-KR" altLang="en-US" sz="1000" dirty="0"/>
              <a:t>검증결과 탭 ① 에서 </a:t>
            </a:r>
            <a:r>
              <a:rPr lang="ko-KR" altLang="en-US" sz="1000" dirty="0" smtClean="0"/>
              <a:t>보탬</a:t>
            </a:r>
            <a:r>
              <a:rPr lang="en-US" altLang="ko-KR" sz="1000" dirty="0" smtClean="0"/>
              <a:t>e </a:t>
            </a:r>
            <a:r>
              <a:rPr lang="ko-KR" altLang="en-US" sz="1000" dirty="0" smtClean="0"/>
              <a:t>통해서 </a:t>
            </a:r>
            <a:r>
              <a:rPr lang="ko-KR" altLang="en-US" sz="1000" dirty="0" err="1" smtClean="0"/>
              <a:t>민간회계사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감사 보고서 제출된 사업인 경우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출력버튼</a:t>
            </a:r>
            <a:r>
              <a:rPr lang="ko-KR" altLang="en-US" sz="1000" dirty="0" smtClean="0"/>
              <a:t> </a:t>
            </a:r>
            <a:r>
              <a:rPr lang="ko-KR" altLang="en-US" sz="1000" dirty="0"/>
              <a:t>② </a:t>
            </a:r>
            <a:r>
              <a:rPr lang="ko-KR" altLang="en-US" sz="1000" dirty="0" smtClean="0"/>
              <a:t>표출됨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(</a:t>
            </a:r>
            <a:r>
              <a:rPr lang="ko-KR" altLang="en-US" sz="1000" dirty="0" smtClean="0"/>
              <a:t>보고서 제출되지 않은  사업은 </a:t>
            </a:r>
            <a:r>
              <a:rPr lang="ko-KR" altLang="en-US" sz="1000" dirty="0" err="1" smtClean="0"/>
              <a:t>출력버튼</a:t>
            </a:r>
            <a:r>
              <a:rPr lang="ko-KR" altLang="en-US" sz="1000" dirty="0" smtClean="0"/>
              <a:t> 표출되지 않음 </a:t>
            </a:r>
            <a:r>
              <a:rPr lang="en-US" altLang="ko-KR" sz="1000" dirty="0" smtClean="0"/>
              <a:t>)</a:t>
            </a:r>
            <a:endParaRPr lang="en-US" altLang="ko-KR" sz="1000" dirty="0"/>
          </a:p>
          <a:p>
            <a:r>
              <a:rPr lang="en-US" altLang="ko-KR" sz="1000" dirty="0"/>
              <a:t>  </a:t>
            </a:r>
          </a:p>
          <a:p>
            <a:r>
              <a:rPr lang="en-US" altLang="ko-KR" sz="1000" dirty="0" smtClean="0"/>
              <a:t>3</a:t>
            </a:r>
            <a:r>
              <a:rPr lang="en-US" altLang="ko-KR" sz="1000" dirty="0"/>
              <a:t>) </a:t>
            </a:r>
            <a:r>
              <a:rPr lang="ko-KR" altLang="en-US" sz="1000" dirty="0" smtClean="0"/>
              <a:t>검증결과 제출 반영</a:t>
            </a:r>
            <a:r>
              <a:rPr lang="en-US" altLang="ko-KR" sz="1000" dirty="0" smtClean="0"/>
              <a:t> </a:t>
            </a:r>
          </a:p>
          <a:p>
            <a:r>
              <a:rPr lang="en-US" altLang="ko-KR" sz="1000" dirty="0" smtClean="0"/>
              <a:t>-. </a:t>
            </a:r>
            <a:r>
              <a:rPr lang="ko-KR" altLang="en-US" sz="1000" dirty="0" err="1" smtClean="0"/>
              <a:t>검증보고서</a:t>
            </a:r>
            <a:r>
              <a:rPr lang="ko-KR" altLang="en-US" sz="1000" dirty="0" smtClean="0"/>
              <a:t> 출력 버튼 표출 되는 사업은 파일첨부 하지 않아도 검증결과 작성한 사업으로 적용됨</a:t>
            </a: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9" y="916713"/>
            <a:ext cx="8145876" cy="527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1852</Words>
  <Application>Microsoft Office PowerPoint</Application>
  <PresentationFormat>와이드스크린</PresentationFormat>
  <Paragraphs>312</Paragraphs>
  <Slides>21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KoPub돋움체 Bold</vt:lpstr>
      <vt:lpstr>KoPub돋움체 Light</vt:lpstr>
      <vt:lpstr>KoPub돋움체 Medium</vt:lpstr>
      <vt:lpstr>Rix모던고딕 B</vt:lpstr>
      <vt:lpstr>Rix모던고딕 EB</vt:lpstr>
      <vt:lpstr>굴림</vt:lpstr>
      <vt:lpstr>나눔스퀘어 네오 Bold</vt:lpstr>
      <vt:lpstr>나눔스퀘어 네오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Metanet</cp:lastModifiedBy>
  <cp:revision>227</cp:revision>
  <dcterms:created xsi:type="dcterms:W3CDTF">2024-05-01T04:36:42Z</dcterms:created>
  <dcterms:modified xsi:type="dcterms:W3CDTF">2024-09-24T10:01:22Z</dcterms:modified>
</cp:coreProperties>
</file>